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2BE035-1C53-2651-66C6-9C2CD1A55B8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A95E7D5C-06AD-AFF7-B300-B8A2F377D2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580D9D4-8564-0CBA-89B3-F61AAEE785BE}"/>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5" name="頁尾版面配置區 4">
            <a:extLst>
              <a:ext uri="{FF2B5EF4-FFF2-40B4-BE49-F238E27FC236}">
                <a16:creationId xmlns:a16="http://schemas.microsoft.com/office/drawing/2014/main" id="{8D93E3C8-E41E-A2F6-9F2D-89C1271469F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2834CC8-1686-7A4E-8B22-B0B0F24EFC7C}"/>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3487362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FC7DB-9F3C-3639-63A5-0871D33534E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1435F8A-AEFB-3469-97C3-A63144CEABB5}"/>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6BD2CB5-076F-1C19-DEFD-11F047CC4FD8}"/>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5" name="頁尾版面配置區 4">
            <a:extLst>
              <a:ext uri="{FF2B5EF4-FFF2-40B4-BE49-F238E27FC236}">
                <a16:creationId xmlns:a16="http://schemas.microsoft.com/office/drawing/2014/main" id="{B6B2FB0C-8FEB-8623-31D0-3B76D30CE70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4B8FAA6-112B-CF66-F602-AEC910D54265}"/>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2318276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969FF7-B910-74BB-51BE-0899DBF63A94}"/>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3FE8D9A-F8F2-4183-C7CD-A768D62BD0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AD487708-D3FF-5B07-7092-073C3C5C8247}"/>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5" name="頁尾版面配置區 4">
            <a:extLst>
              <a:ext uri="{FF2B5EF4-FFF2-40B4-BE49-F238E27FC236}">
                <a16:creationId xmlns:a16="http://schemas.microsoft.com/office/drawing/2014/main" id="{6CF03B70-7559-29C7-8862-DABBECA3B49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ABFF65B-3C97-2377-0DBA-BD627BDEDA70}"/>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1911544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7A5351-0936-86D3-D10B-DD3630E37C3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D8B9391E-F842-8BB1-A163-25A65FA5117C}"/>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5D684407-1AC8-293F-7D26-72F2FF047928}"/>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69F12D3-DFF2-6CEB-8EDB-A4293DD59CCA}"/>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6" name="頁尾版面配置區 5">
            <a:extLst>
              <a:ext uri="{FF2B5EF4-FFF2-40B4-BE49-F238E27FC236}">
                <a16:creationId xmlns:a16="http://schemas.microsoft.com/office/drawing/2014/main" id="{9EBEC9B4-59BE-D815-4414-9746F4BC3AB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DB0BE9D-430F-DAB9-1375-F415F17614BB}"/>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3401650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9B228-0044-30D3-15EB-FBF045C5B2CD}"/>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E72D97F6-5928-3670-FCCD-BFAB0979C8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C4A3CBBB-58A7-2D46-7F8A-3060B27616AF}"/>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AE291609-8EC5-6D0D-D473-AAE9A0DEDA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CC14276C-2FC2-3410-A688-7CCE57D7549C}"/>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4C2F117-AA0E-8D0F-9EF4-41C8A036E74F}"/>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8" name="頁尾版面配置區 7">
            <a:extLst>
              <a:ext uri="{FF2B5EF4-FFF2-40B4-BE49-F238E27FC236}">
                <a16:creationId xmlns:a16="http://schemas.microsoft.com/office/drawing/2014/main" id="{AD651FD2-510E-6D23-C11D-D42B164D97C3}"/>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B26B2F56-14C9-C5AC-7480-C4A59AFD71FA}"/>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4151035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537863-386E-4353-5FD4-F9F074EE8584}"/>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C23B2D74-7F84-8C2A-062F-D0479F68A73C}"/>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4" name="頁尾版面配置區 3">
            <a:extLst>
              <a:ext uri="{FF2B5EF4-FFF2-40B4-BE49-F238E27FC236}">
                <a16:creationId xmlns:a16="http://schemas.microsoft.com/office/drawing/2014/main" id="{604C5617-B5EC-A946-C37B-8A320CB9A237}"/>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1F606A0-EBB6-BF4A-2BCB-B090FBC45CB7}"/>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2700598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3BE3274B-0997-4B14-BC29-B90C212BA468}"/>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3" name="頁尾版面配置區 2">
            <a:extLst>
              <a:ext uri="{FF2B5EF4-FFF2-40B4-BE49-F238E27FC236}">
                <a16:creationId xmlns:a16="http://schemas.microsoft.com/office/drawing/2014/main" id="{11B8CBCF-EB0F-D92B-0E4A-8D66D8B51E0A}"/>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C8C651E-E038-47C9-289E-8EB8675F0179}"/>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3324789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252781-61BF-34A9-F545-0EEE0B13659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0DA88220-8194-B7EF-5A5C-90A307261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16B789E7-60B0-059E-7C36-A9B6EC99BC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104D92DF-0243-C912-3985-8D1B5D214F0D}"/>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6" name="頁尾版面配置區 5">
            <a:extLst>
              <a:ext uri="{FF2B5EF4-FFF2-40B4-BE49-F238E27FC236}">
                <a16:creationId xmlns:a16="http://schemas.microsoft.com/office/drawing/2014/main" id="{0C3130E7-87B3-8C32-FBEA-02836F5DE01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4E28A74-83D2-3B4C-3B7E-A492B8F2CA81}"/>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1590920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873E928-DDF9-2B0A-D27D-926A8BF4855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BE0FC20-2EB1-D1B4-2CCB-E624F81B17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2050D0A3-B85C-9979-BC02-94180FFCB5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DF3C26C4-4784-BBEA-35DB-C6B7FDC37AE5}"/>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6" name="頁尾版面配置區 5">
            <a:extLst>
              <a:ext uri="{FF2B5EF4-FFF2-40B4-BE49-F238E27FC236}">
                <a16:creationId xmlns:a16="http://schemas.microsoft.com/office/drawing/2014/main" id="{06DBB1C6-4C21-2EAC-F1FE-C38B8CB55D9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84CA710-16D9-55B2-38CD-0ABFECC7D67E}"/>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1855569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0FB60F-699A-0865-3E50-865F244B6991}"/>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5A8F9334-CC6D-8C36-D0E7-BFC2F205C74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1C2F59D-9941-B55B-2DE2-BA266F69CC43}"/>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5" name="頁尾版面配置區 4">
            <a:extLst>
              <a:ext uri="{FF2B5EF4-FFF2-40B4-BE49-F238E27FC236}">
                <a16:creationId xmlns:a16="http://schemas.microsoft.com/office/drawing/2014/main" id="{8F4CB099-280E-EF78-76C4-BE048B4F431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6886AA-3D2C-02EB-CAF3-2043F3E2DE25}"/>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277395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F4054FC-98C9-9A0E-38C3-8DBA5D2578B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54F8C473-7104-4922-87A2-31AE228B15E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7FF91AB-6BA8-A6FA-92EA-C44222147194}"/>
              </a:ext>
            </a:extLst>
          </p:cNvPr>
          <p:cNvSpPr>
            <a:spLocks noGrp="1"/>
          </p:cNvSpPr>
          <p:nvPr>
            <p:ph type="dt" sz="half" idx="10"/>
          </p:nvPr>
        </p:nvSpPr>
        <p:spPr/>
        <p:txBody>
          <a:bodyPr/>
          <a:lstStyle/>
          <a:p>
            <a:fld id="{8EEDD7F7-91AD-42ED-80B1-BC237DE4475D}" type="datetimeFigureOut">
              <a:rPr lang="zh-TW" altLang="en-US" smtClean="0"/>
              <a:t>2026/10/13</a:t>
            </a:fld>
            <a:endParaRPr lang="zh-TW" altLang="en-US"/>
          </a:p>
        </p:txBody>
      </p:sp>
      <p:sp>
        <p:nvSpPr>
          <p:cNvPr id="5" name="頁尾版面配置區 4">
            <a:extLst>
              <a:ext uri="{FF2B5EF4-FFF2-40B4-BE49-F238E27FC236}">
                <a16:creationId xmlns:a16="http://schemas.microsoft.com/office/drawing/2014/main" id="{BD074CF3-6E2F-6AAD-4193-4E8A3E73A13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CE88E4E-81C3-7E19-CC48-A12326B4DC4E}"/>
              </a:ext>
            </a:extLst>
          </p:cNvPr>
          <p:cNvSpPr>
            <a:spLocks noGrp="1"/>
          </p:cNvSpPr>
          <p:nvPr>
            <p:ph type="sldNum" sz="quarter" idx="12"/>
          </p:nvPr>
        </p:nvSpPr>
        <p:spPr/>
        <p:txBody>
          <a:body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2764082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64AFBD3A-9F51-0242-F3C4-E2F3F5C676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7DBAFBB-41DA-5AEE-9F97-794495A40C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CE5670E-FC04-D63C-A902-146564A28C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EDD7F7-91AD-42ED-80B1-BC237DE4475D}" type="datetimeFigureOut">
              <a:rPr lang="zh-TW" altLang="en-US" smtClean="0"/>
              <a:t>2026/10/13</a:t>
            </a:fld>
            <a:endParaRPr lang="zh-TW" altLang="en-US"/>
          </a:p>
        </p:txBody>
      </p:sp>
      <p:sp>
        <p:nvSpPr>
          <p:cNvPr id="5" name="頁尾版面配置區 4">
            <a:extLst>
              <a:ext uri="{FF2B5EF4-FFF2-40B4-BE49-F238E27FC236}">
                <a16:creationId xmlns:a16="http://schemas.microsoft.com/office/drawing/2014/main" id="{E715C835-868E-C21D-A814-8B7BB3FF7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832DF7CF-3C98-44A2-D656-C72C86EACA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53BE9C-651B-48ED-A414-F571E28485BA}" type="slidenum">
              <a:rPr lang="zh-TW" altLang="en-US" smtClean="0"/>
              <a:t>‹#›</a:t>
            </a:fld>
            <a:endParaRPr lang="zh-TW" altLang="en-US"/>
          </a:p>
        </p:txBody>
      </p:sp>
    </p:spTree>
    <p:extLst>
      <p:ext uri="{BB962C8B-B14F-4D97-AF65-F5344CB8AC3E}">
        <p14:creationId xmlns:p14="http://schemas.microsoft.com/office/powerpoint/2010/main" val="9486821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B0304B-EBBB-4E49-9683-4EAE4349DCE7}"/>
              </a:ext>
            </a:extLst>
          </p:cNvPr>
          <p:cNvSpPr/>
          <p:nvPr/>
        </p:nvSpPr>
        <p:spPr>
          <a:xfrm>
            <a:off x="0" y="0"/>
            <a:ext cx="12192000" cy="68580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1A2484E3-EDA2-70FC-3C65-55AFAE910656}"/>
              </a:ext>
            </a:extLst>
          </p:cNvPr>
          <p:cNvSpPr/>
          <p:nvPr/>
        </p:nvSpPr>
        <p:spPr>
          <a:xfrm>
            <a:off x="762000" y="698500"/>
            <a:ext cx="101600" cy="11430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文字方塊 3">
            <a:extLst>
              <a:ext uri="{FF2B5EF4-FFF2-40B4-BE49-F238E27FC236}">
                <a16:creationId xmlns:a16="http://schemas.microsoft.com/office/drawing/2014/main" id="{6A22C559-459E-F0D9-4548-1A44689F1429}"/>
              </a:ext>
            </a:extLst>
          </p:cNvPr>
          <p:cNvSpPr txBox="1"/>
          <p:nvPr/>
        </p:nvSpPr>
        <p:spPr>
          <a:xfrm>
            <a:off x="1079500" y="635000"/>
            <a:ext cx="10414000" cy="477054"/>
          </a:xfrm>
          <a:prstGeom prst="rect">
            <a:avLst/>
          </a:prstGeom>
          <a:noFill/>
        </p:spPr>
        <p:txBody>
          <a:bodyPr vert="horz" rtlCol="0">
            <a:spAutoFit/>
          </a:bodyPr>
          <a:lstStyle/>
          <a:p>
            <a:r>
              <a:rPr lang="zh-TW" altLang="en-US" sz="2500" b="1">
                <a:solidFill>
                  <a:srgbClr val="FFFFFF"/>
                </a:solidFill>
                <a:latin typeface="微軟正黑體" panose="020B0604030504040204" pitchFamily="34" charset="-120"/>
              </a:rPr>
              <a:t>中央研究院 關鍵議題研究中心 </a:t>
            </a:r>
            <a:r>
              <a:rPr lang="en-US" altLang="zh-TW" sz="2500" b="1">
                <a:solidFill>
                  <a:srgbClr val="FFFFFF"/>
                </a:solidFill>
                <a:latin typeface="微軟正黑體" panose="020B0604030504040204" pitchFamily="34" charset="-120"/>
              </a:rPr>
              <a:t>(RCCI)</a:t>
            </a:r>
            <a:endParaRPr lang="zh-TW" altLang="en-US" sz="2500" b="1">
              <a:solidFill>
                <a:srgbClr val="FFFFFF"/>
              </a:solidFill>
              <a:latin typeface="微軟正黑體" panose="020B0604030504040204" pitchFamily="34" charset="-120"/>
            </a:endParaRPr>
          </a:p>
        </p:txBody>
      </p:sp>
      <p:sp>
        <p:nvSpPr>
          <p:cNvPr id="5" name="文字方塊 4">
            <a:extLst>
              <a:ext uri="{FF2B5EF4-FFF2-40B4-BE49-F238E27FC236}">
                <a16:creationId xmlns:a16="http://schemas.microsoft.com/office/drawing/2014/main" id="{D0F96DAF-239A-5907-B1C4-52276101945D}"/>
              </a:ext>
            </a:extLst>
          </p:cNvPr>
          <p:cNvSpPr txBox="1"/>
          <p:nvPr/>
        </p:nvSpPr>
        <p:spPr>
          <a:xfrm>
            <a:off x="1079500" y="1270000"/>
            <a:ext cx="10414000" cy="384721"/>
          </a:xfrm>
          <a:prstGeom prst="rect">
            <a:avLst/>
          </a:prstGeom>
          <a:noFill/>
        </p:spPr>
        <p:txBody>
          <a:bodyPr vert="horz" rtlCol="0">
            <a:spAutoFit/>
          </a:bodyPr>
          <a:lstStyle/>
          <a:p>
            <a:r>
              <a:rPr lang="zh-TW" altLang="en-US" sz="1900">
                <a:solidFill>
                  <a:srgbClr val="BAE6FD"/>
                </a:solidFill>
                <a:latin typeface="微軟正黑體" panose="020B0604030504040204" pitchFamily="34" charset="-120"/>
              </a:rPr>
              <a:t>智財與技術成果專區 內容編輯與校對簡報</a:t>
            </a:r>
          </a:p>
        </p:txBody>
      </p:sp>
      <p:sp>
        <p:nvSpPr>
          <p:cNvPr id="6" name="矩形 5">
            <a:extLst>
              <a:ext uri="{FF2B5EF4-FFF2-40B4-BE49-F238E27FC236}">
                <a16:creationId xmlns:a16="http://schemas.microsoft.com/office/drawing/2014/main" id="{5CF7B2B2-21DD-6597-8703-C267DE44E220}"/>
              </a:ext>
            </a:extLst>
          </p:cNvPr>
          <p:cNvSpPr/>
          <p:nvPr/>
        </p:nvSpPr>
        <p:spPr>
          <a:xfrm>
            <a:off x="762000" y="2095500"/>
            <a:ext cx="10668000" cy="4191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317500" tIns="254000" rIns="317500" rtlCol="0" anchor="t"/>
          <a:lstStyle/>
          <a:p>
            <a:pPr algn="ctr"/>
            <a:r>
              <a:rPr lang="zh-TW" altLang="en-US" sz="1250">
                <a:solidFill>
                  <a:srgbClr val="1E293B"/>
                </a:solidFill>
                <a:latin typeface="微軟正黑體" panose="020B0604030504040204" pitchFamily="34" charset="-120"/>
              </a:rPr>
              <a:t>📌 如何使用本簡報修改網站內容？（推薦工作流程）</a:t>
            </a:r>
          </a:p>
          <a:p>
            <a:pPr algn="ctr"/>
            <a:endParaRPr lang="zh-TW" altLang="en-US" sz="1250">
              <a:solidFill>
                <a:srgbClr val="1E293B"/>
              </a:solidFill>
              <a:latin typeface="微軟正黑體" panose="020B0604030504040204" pitchFamily="34" charset="-120"/>
            </a:endParaRPr>
          </a:p>
          <a:p>
            <a:pPr algn="ctr"/>
            <a:r>
              <a:rPr lang="en-US" altLang="zh-TW" sz="1250">
                <a:solidFill>
                  <a:srgbClr val="1E293B"/>
                </a:solidFill>
                <a:latin typeface="微軟正黑體" panose="020B0604030504040204" pitchFamily="34" charset="-120"/>
              </a:rPr>
              <a:t>1. </a:t>
            </a:r>
            <a:r>
              <a:rPr lang="zh-TW" altLang="en-US" sz="1250">
                <a:solidFill>
                  <a:srgbClr val="1E293B"/>
                </a:solidFill>
                <a:latin typeface="微軟正黑體" panose="020B0604030504040204" pitchFamily="34" charset="-120"/>
              </a:rPr>
              <a:t>本簡報已將官網「智財與技術成果」主頁面及 </a:t>
            </a:r>
            <a:r>
              <a:rPr lang="en-US" altLang="zh-TW" sz="1250">
                <a:solidFill>
                  <a:srgbClr val="1E293B"/>
                </a:solidFill>
                <a:latin typeface="微軟正黑體" panose="020B0604030504040204" pitchFamily="34" charset="-120"/>
              </a:rPr>
              <a:t>9 </a:t>
            </a:r>
            <a:r>
              <a:rPr lang="zh-TW" altLang="en-US" sz="1250">
                <a:solidFill>
                  <a:srgbClr val="1E293B"/>
                </a:solidFill>
                <a:latin typeface="微軟正黑體" panose="020B0604030504040204" pitchFamily="34" charset="-120"/>
              </a:rPr>
              <a:t>大專利家族所有子頁的畫面、基本資訊、技術摘要與申請案明細完全對應至各頁投影片。</a:t>
            </a:r>
          </a:p>
          <a:p>
            <a:pPr algn="ctr"/>
            <a:r>
              <a:rPr lang="en-US" altLang="zh-TW" sz="1250">
                <a:solidFill>
                  <a:srgbClr val="1E293B"/>
                </a:solidFill>
                <a:latin typeface="微軟正黑體" panose="020B0604030504040204" pitchFamily="34" charset="-120"/>
              </a:rPr>
              <a:t>2. </a:t>
            </a:r>
            <a:r>
              <a:rPr lang="zh-TW" altLang="en-US" sz="1250">
                <a:solidFill>
                  <a:srgbClr val="1E293B"/>
                </a:solidFill>
                <a:latin typeface="微軟正黑體" panose="020B0604030504040204" pitchFamily="34" charset="-120"/>
              </a:rPr>
              <a:t>您可以在本 </a:t>
            </a:r>
            <a:r>
              <a:rPr lang="en-US" altLang="zh-TW" sz="1250">
                <a:solidFill>
                  <a:srgbClr val="1E293B"/>
                </a:solidFill>
                <a:latin typeface="微軟正黑體" panose="020B0604030504040204" pitchFamily="34" charset="-120"/>
              </a:rPr>
              <a:t>PPT </a:t>
            </a:r>
            <a:r>
              <a:rPr lang="zh-TW" altLang="en-US" sz="1250">
                <a:solidFill>
                  <a:srgbClr val="1E293B"/>
                </a:solidFill>
                <a:latin typeface="微軟正黑體" panose="020B0604030504040204" pitchFamily="34" charset="-120"/>
              </a:rPr>
              <a:t>中直接點選任何文字方塊、表格進行編輯（例如：修改技術摘要段落、填寫發明人、更新公開日或補上待填資料）。</a:t>
            </a:r>
          </a:p>
          <a:p>
            <a:pPr algn="ctr"/>
            <a:r>
              <a:rPr lang="en-US" altLang="zh-TW" sz="1250">
                <a:solidFill>
                  <a:srgbClr val="1E293B"/>
                </a:solidFill>
                <a:latin typeface="微軟正黑體" panose="020B0604030504040204" pitchFamily="34" charset="-120"/>
              </a:rPr>
              <a:t>3. </a:t>
            </a:r>
            <a:r>
              <a:rPr lang="zh-TW" altLang="en-US" sz="1250">
                <a:solidFill>
                  <a:srgbClr val="1E293B"/>
                </a:solidFill>
                <a:latin typeface="微軟正黑體" panose="020B0604030504040204" pitchFamily="34" charset="-120"/>
              </a:rPr>
              <a:t>編輯完成並存檔後，直接將這份 </a:t>
            </a:r>
            <a:r>
              <a:rPr lang="en-US" altLang="zh-TW" sz="1250">
                <a:solidFill>
                  <a:srgbClr val="1E293B"/>
                </a:solidFill>
                <a:latin typeface="微軟正黑體" panose="020B0604030504040204" pitchFamily="34" charset="-120"/>
              </a:rPr>
              <a:t>PPT </a:t>
            </a:r>
            <a:r>
              <a:rPr lang="zh-TW" altLang="en-US" sz="1250">
                <a:solidFill>
                  <a:srgbClr val="1E293B"/>
                </a:solidFill>
                <a:latin typeface="微軟正黑體" panose="020B0604030504040204" pitchFamily="34" charset="-120"/>
              </a:rPr>
              <a:t>檔案傳給我（</a:t>
            </a:r>
            <a:r>
              <a:rPr lang="en-US" altLang="zh-TW" sz="1250">
                <a:solidFill>
                  <a:srgbClr val="1E293B"/>
                </a:solidFill>
                <a:latin typeface="微軟正黑體" panose="020B0604030504040204" pitchFamily="34" charset="-120"/>
              </a:rPr>
              <a:t>Antigravity</a:t>
            </a:r>
            <a:r>
              <a:rPr lang="zh-TW" altLang="en-US" sz="1250">
                <a:solidFill>
                  <a:srgbClr val="1E293B"/>
                </a:solidFill>
                <a:latin typeface="微軟正黑體" panose="020B0604030504040204" pitchFamily="34" charset="-120"/>
              </a:rPr>
              <a:t>）。</a:t>
            </a:r>
          </a:p>
          <a:p>
            <a:pPr algn="ctr"/>
            <a:r>
              <a:rPr lang="en-US" altLang="zh-TW" sz="1250">
                <a:solidFill>
                  <a:srgbClr val="1E293B"/>
                </a:solidFill>
                <a:latin typeface="微軟正黑體" panose="020B0604030504040204" pitchFamily="34" charset="-120"/>
              </a:rPr>
              <a:t>4. </a:t>
            </a:r>
            <a:r>
              <a:rPr lang="zh-TW" altLang="en-US" sz="1250">
                <a:solidFill>
                  <a:srgbClr val="1E293B"/>
                </a:solidFill>
                <a:latin typeface="微軟正黑體" panose="020B0604030504040204" pitchFamily="34" charset="-120"/>
              </a:rPr>
              <a:t>我會自動讀取您在簡報中所修改的文字與欄位，一鍵更新至專案原始碼，並為您備妥要上傳至 </a:t>
            </a:r>
            <a:r>
              <a:rPr lang="en-US" altLang="zh-TW" sz="1250">
                <a:solidFill>
                  <a:srgbClr val="1E293B"/>
                </a:solidFill>
                <a:latin typeface="微軟正黑體" panose="020B0604030504040204" pitchFamily="34" charset="-120"/>
              </a:rPr>
              <a:t>GitHub </a:t>
            </a:r>
            <a:r>
              <a:rPr lang="zh-TW" altLang="en-US" sz="1250">
                <a:solidFill>
                  <a:srgbClr val="1E293B"/>
                </a:solidFill>
                <a:latin typeface="微軟正黑體" panose="020B0604030504040204" pitchFamily="34" charset="-120"/>
              </a:rPr>
              <a:t>的檔案清單！</a:t>
            </a:r>
          </a:p>
          <a:p>
            <a:pPr algn="ctr"/>
            <a:endParaRPr lang="zh-TW" altLang="en-US" sz="1250">
              <a:solidFill>
                <a:srgbClr val="1E293B"/>
              </a:solidFill>
              <a:latin typeface="微軟正黑體" panose="020B0604030504040204" pitchFamily="34" charset="-120"/>
            </a:endParaRPr>
          </a:p>
          <a:p>
            <a:pPr algn="ctr"/>
            <a:r>
              <a:rPr lang="en-US" altLang="zh-TW" sz="1250">
                <a:solidFill>
                  <a:srgbClr val="1E293B"/>
                </a:solidFill>
                <a:latin typeface="微軟正黑體" panose="020B0604030504040204" pitchFamily="34" charset="-120"/>
              </a:rPr>
              <a:t>※ </a:t>
            </a:r>
            <a:r>
              <a:rPr lang="zh-TW" altLang="en-US" sz="1250">
                <a:solidFill>
                  <a:srgbClr val="1E293B"/>
                </a:solidFill>
                <a:latin typeface="微軟正黑體" panose="020B0604030504040204" pitchFamily="34" charset="-120"/>
              </a:rPr>
              <a:t>本簡報收錄章節：</a:t>
            </a:r>
          </a:p>
          <a:p>
            <a:pPr algn="ctr"/>
            <a:r>
              <a:rPr lang="zh-TW" altLang="en-US" sz="1250">
                <a:solidFill>
                  <a:srgbClr val="1E293B"/>
                </a:solidFill>
                <a:latin typeface="微軟正黑體" panose="020B0604030504040204" pitchFamily="34" charset="-120"/>
              </a:rPr>
              <a:t>   </a:t>
            </a:r>
            <a:r>
              <a:rPr lang="en-US" altLang="zh-TW" sz="1250">
                <a:solidFill>
                  <a:srgbClr val="1E293B"/>
                </a:solidFill>
                <a:latin typeface="微軟正黑體" panose="020B0604030504040204" pitchFamily="34" charset="-120"/>
              </a:rPr>
              <a:t>• </a:t>
            </a:r>
            <a:r>
              <a:rPr lang="zh-TW" altLang="en-US" sz="1250">
                <a:solidFill>
                  <a:srgbClr val="1E293B"/>
                </a:solidFill>
                <a:latin typeface="微軟正黑體" panose="020B0604030504040204" pitchFamily="34" charset="-120"/>
              </a:rPr>
              <a:t>投影片 </a:t>
            </a:r>
            <a:r>
              <a:rPr lang="en-US" altLang="zh-TW" sz="1250">
                <a:solidFill>
                  <a:srgbClr val="1E293B"/>
                </a:solidFill>
                <a:latin typeface="微軟正黑體" panose="020B0604030504040204" pitchFamily="34" charset="-120"/>
              </a:rPr>
              <a:t>2</a:t>
            </a:r>
            <a:r>
              <a:rPr lang="zh-TW" altLang="en-US" sz="1250">
                <a:solidFill>
                  <a:srgbClr val="1E293B"/>
                </a:solidFill>
                <a:latin typeface="微軟正黑體" panose="020B0604030504040204" pitchFamily="34" charset="-120"/>
              </a:rPr>
              <a:t>：智財與技術成果主頁（</a:t>
            </a:r>
            <a:r>
              <a:rPr lang="en-US" altLang="zh-TW" sz="1250">
                <a:solidFill>
                  <a:srgbClr val="1E293B"/>
                </a:solidFill>
                <a:latin typeface="微軟正黑體" panose="020B0604030504040204" pitchFamily="34" charset="-120"/>
              </a:rPr>
              <a:t>9 </a:t>
            </a:r>
            <a:r>
              <a:rPr lang="zh-TW" altLang="en-US" sz="1250">
                <a:solidFill>
                  <a:srgbClr val="1E293B"/>
                </a:solidFill>
                <a:latin typeface="微軟正黑體" panose="020B0604030504040204" pitchFamily="34" charset="-120"/>
              </a:rPr>
              <a:t>大專利成果卡片清單概覽）</a:t>
            </a:r>
          </a:p>
          <a:p>
            <a:pPr algn="ctr"/>
            <a:r>
              <a:rPr lang="zh-TW" altLang="en-US" sz="1250">
                <a:solidFill>
                  <a:srgbClr val="1E293B"/>
                </a:solidFill>
                <a:latin typeface="微軟正黑體" panose="020B0604030504040204" pitchFamily="34" charset="-120"/>
              </a:rPr>
              <a:t>   </a:t>
            </a:r>
            <a:r>
              <a:rPr lang="en-US" altLang="zh-TW" sz="1250">
                <a:solidFill>
                  <a:srgbClr val="1E293B"/>
                </a:solidFill>
                <a:latin typeface="微軟正黑體" panose="020B0604030504040204" pitchFamily="34" charset="-120"/>
              </a:rPr>
              <a:t>• </a:t>
            </a:r>
            <a:r>
              <a:rPr lang="zh-TW" altLang="en-US" sz="1250">
                <a:solidFill>
                  <a:srgbClr val="1E293B"/>
                </a:solidFill>
                <a:latin typeface="微軟正黑體" panose="020B0604030504040204" pitchFamily="34" charset="-120"/>
              </a:rPr>
              <a:t>投影片 </a:t>
            </a:r>
            <a:r>
              <a:rPr lang="en-US" altLang="zh-TW" sz="1250">
                <a:solidFill>
                  <a:srgbClr val="1E293B"/>
                </a:solidFill>
                <a:latin typeface="微軟正黑體" panose="020B0604030504040204" pitchFamily="34" charset="-120"/>
              </a:rPr>
              <a:t>3</a:t>
            </a:r>
            <a:r>
              <a:rPr lang="zh-TW" altLang="en-US" sz="1250">
                <a:solidFill>
                  <a:srgbClr val="1E293B"/>
                </a:solidFill>
                <a:latin typeface="微軟正黑體" panose="020B0604030504040204" pitchFamily="34" charset="-120"/>
              </a:rPr>
              <a:t>～</a:t>
            </a:r>
            <a:r>
              <a:rPr lang="en-US" altLang="zh-TW" sz="1250">
                <a:solidFill>
                  <a:srgbClr val="1E293B"/>
                </a:solidFill>
                <a:latin typeface="微軟正黑體" panose="020B0604030504040204" pitchFamily="34" charset="-120"/>
              </a:rPr>
              <a:t>11</a:t>
            </a:r>
            <a:r>
              <a:rPr lang="zh-TW" altLang="en-US" sz="1250">
                <a:solidFill>
                  <a:srgbClr val="1E293B"/>
                </a:solidFill>
                <a:latin typeface="微軟正黑體" panose="020B0604030504040204" pitchFamily="34" charset="-120"/>
              </a:rPr>
              <a:t>：</a:t>
            </a:r>
            <a:r>
              <a:rPr lang="en-US" altLang="zh-TW" sz="1250">
                <a:solidFill>
                  <a:srgbClr val="1E293B"/>
                </a:solidFill>
                <a:latin typeface="微軟正黑體" panose="020B0604030504040204" pitchFamily="34" charset="-120"/>
              </a:rPr>
              <a:t>PF-001 </a:t>
            </a:r>
            <a:r>
              <a:rPr lang="zh-TW" altLang="en-US" sz="1250">
                <a:solidFill>
                  <a:srgbClr val="1E293B"/>
                </a:solidFill>
                <a:latin typeface="微軟正黑體" panose="020B0604030504040204" pitchFamily="34" charset="-120"/>
              </a:rPr>
              <a:t>至 </a:t>
            </a:r>
            <a:r>
              <a:rPr lang="en-US" altLang="zh-TW" sz="1250">
                <a:solidFill>
                  <a:srgbClr val="1E293B"/>
                </a:solidFill>
                <a:latin typeface="微軟正黑體" panose="020B0604030504040204" pitchFamily="34" charset="-120"/>
              </a:rPr>
              <a:t>PF-009 </a:t>
            </a:r>
            <a:r>
              <a:rPr lang="zh-TW" altLang="en-US" sz="1250">
                <a:solidFill>
                  <a:srgbClr val="1E293B"/>
                </a:solidFill>
                <a:latin typeface="微軟正黑體" panose="020B0604030504040204" pitchFamily="34" charset="-120"/>
              </a:rPr>
              <a:t>成果詳情專頁（包含發明人、摘要、各國申請佈局）</a:t>
            </a:r>
          </a:p>
          <a:p>
            <a:pPr algn="ctr"/>
            <a:r>
              <a:rPr lang="zh-TW" altLang="en-US" sz="1250">
                <a:solidFill>
                  <a:srgbClr val="1E293B"/>
                </a:solidFill>
                <a:latin typeface="微軟正黑體" panose="020B0604030504040204" pitchFamily="34" charset="-120"/>
              </a:rPr>
              <a:t>   </a:t>
            </a:r>
            <a:r>
              <a:rPr lang="en-US" altLang="zh-TW" sz="1250">
                <a:solidFill>
                  <a:srgbClr val="1E293B"/>
                </a:solidFill>
                <a:latin typeface="微軟正黑體" panose="020B0604030504040204" pitchFamily="34" charset="-120"/>
              </a:rPr>
              <a:t>• </a:t>
            </a:r>
            <a:r>
              <a:rPr lang="zh-TW" altLang="en-US" sz="1250">
                <a:solidFill>
                  <a:srgbClr val="1E293B"/>
                </a:solidFill>
                <a:latin typeface="微軟正黑體" panose="020B0604030504040204" pitchFamily="34" charset="-120"/>
              </a:rPr>
              <a:t>投影片 </a:t>
            </a:r>
            <a:r>
              <a:rPr lang="en-US" altLang="zh-TW" sz="1250">
                <a:solidFill>
                  <a:srgbClr val="1E293B"/>
                </a:solidFill>
                <a:latin typeface="微軟正黑體" panose="020B0604030504040204" pitchFamily="34" charset="-120"/>
              </a:rPr>
              <a:t>12</a:t>
            </a:r>
            <a:r>
              <a:rPr lang="zh-TW" altLang="en-US" sz="1250">
                <a:solidFill>
                  <a:srgbClr val="1E293B"/>
                </a:solidFill>
                <a:latin typeface="微軟正黑體" panose="020B0604030504040204" pitchFamily="34" charset="-120"/>
              </a:rPr>
              <a:t>：各國申請案件全域總表（</a:t>
            </a:r>
            <a:r>
              <a:rPr lang="en-US" altLang="zh-TW" sz="1250">
                <a:solidFill>
                  <a:srgbClr val="1E293B"/>
                </a:solidFill>
                <a:latin typeface="微軟正黑體" panose="020B0604030504040204" pitchFamily="34" charset="-120"/>
              </a:rPr>
              <a:t>26 </a:t>
            </a:r>
            <a:r>
              <a:rPr lang="zh-TW" altLang="en-US" sz="1250">
                <a:solidFill>
                  <a:srgbClr val="1E293B"/>
                </a:solidFill>
                <a:latin typeface="微軟正黑體" panose="020B0604030504040204" pitchFamily="34" charset="-120"/>
              </a:rPr>
              <a:t>筆完整資料庫）</a:t>
            </a:r>
          </a:p>
        </p:txBody>
      </p:sp>
    </p:spTree>
    <p:extLst>
      <p:ext uri="{BB962C8B-B14F-4D97-AF65-F5344CB8AC3E}">
        <p14:creationId xmlns:p14="http://schemas.microsoft.com/office/powerpoint/2010/main" val="2684789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9F12C53-91E8-F70C-A0DC-47AF66C93C3D}"/>
              </a:ext>
            </a:extLst>
          </p:cNvPr>
          <p:cNvSpPr/>
          <p:nvPr/>
        </p:nvSpPr>
        <p:spPr>
          <a:xfrm>
            <a:off x="0" y="0"/>
            <a:ext cx="12192000" cy="76200"/>
          </a:xfrm>
          <a:prstGeom prst="rect">
            <a:avLst/>
          </a:prstGeom>
          <a:solidFill>
            <a:srgbClr val="0E38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029DA5E4-B288-B4E7-C097-C819D9DE9150}"/>
              </a:ext>
            </a:extLst>
          </p:cNvPr>
          <p:cNvSpPr/>
          <p:nvPr/>
        </p:nvSpPr>
        <p:spPr>
          <a:xfrm>
            <a:off x="508000" y="254000"/>
            <a:ext cx="1206500" cy="304800"/>
          </a:xfrm>
          <a:prstGeom prst="rect">
            <a:avLst/>
          </a:prstGeom>
          <a:solidFill>
            <a:srgbClr val="0E38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專區主頁</a:t>
            </a:r>
          </a:p>
        </p:txBody>
      </p:sp>
      <p:sp>
        <p:nvSpPr>
          <p:cNvPr id="4" name="文字方塊 3">
            <a:extLst>
              <a:ext uri="{FF2B5EF4-FFF2-40B4-BE49-F238E27FC236}">
                <a16:creationId xmlns:a16="http://schemas.microsoft.com/office/drawing/2014/main" id="{916B5069-2031-A999-8EC4-0A5DACE39E86}"/>
              </a:ext>
            </a:extLst>
          </p:cNvPr>
          <p:cNvSpPr txBox="1"/>
          <p:nvPr/>
        </p:nvSpPr>
        <p:spPr>
          <a:xfrm>
            <a:off x="1841500" y="177800"/>
            <a:ext cx="9842500" cy="307777"/>
          </a:xfrm>
          <a:prstGeom prst="rect">
            <a:avLst/>
          </a:prstGeom>
          <a:noFill/>
        </p:spPr>
        <p:txBody>
          <a:bodyPr vert="horz" lIns="0" tIns="0" rtlCol="0">
            <a:spAutoFit/>
          </a:bodyPr>
          <a:lstStyle/>
          <a:p>
            <a:r>
              <a:rPr lang="zh-TW" altLang="en-US" sz="1700" b="1">
                <a:solidFill>
                  <a:srgbClr val="0F172A"/>
                </a:solidFill>
                <a:latin typeface="微軟正黑體" panose="020B0604030504040204" pitchFamily="34" charset="-120"/>
              </a:rPr>
              <a:t>智財與技術成果 </a:t>
            </a:r>
            <a:r>
              <a:rPr lang="en-US" altLang="zh-TW" sz="1700" b="1">
                <a:solidFill>
                  <a:srgbClr val="0F172A"/>
                </a:solidFill>
                <a:latin typeface="微軟正黑體" panose="020B0604030504040204" pitchFamily="34" charset="-120"/>
              </a:rPr>
              <a:t>(#patents) 9</a:t>
            </a:r>
            <a:r>
              <a:rPr lang="zh-TW" altLang="en-US" sz="1700" b="1">
                <a:solidFill>
                  <a:srgbClr val="0F172A"/>
                </a:solidFill>
                <a:latin typeface="微軟正黑體" panose="020B0604030504040204" pitchFamily="34" charset="-120"/>
              </a:rPr>
              <a:t>大專利成果總覽</a:t>
            </a:r>
          </a:p>
        </p:txBody>
      </p:sp>
      <p:sp>
        <p:nvSpPr>
          <p:cNvPr id="5" name="文字方塊 4">
            <a:extLst>
              <a:ext uri="{FF2B5EF4-FFF2-40B4-BE49-F238E27FC236}">
                <a16:creationId xmlns:a16="http://schemas.microsoft.com/office/drawing/2014/main" id="{E9EB6A3A-1652-0495-256F-34EF04610A11}"/>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從技術領域或關鍵字快速找到可合作的研發成果 ｜ 包含 </a:t>
            </a:r>
            <a:r>
              <a:rPr lang="en-US" altLang="zh-TW" sz="1100">
                <a:solidFill>
                  <a:srgbClr val="64748B"/>
                </a:solidFill>
                <a:latin typeface="微軟正黑體" panose="020B0604030504040204" pitchFamily="34" charset="-120"/>
              </a:rPr>
              <a:t>3 </a:t>
            </a:r>
            <a:r>
              <a:rPr lang="zh-TW" altLang="en-US" sz="1100">
                <a:solidFill>
                  <a:srgbClr val="64748B"/>
                </a:solidFill>
                <a:latin typeface="微軟正黑體" panose="020B0604030504040204" pitchFamily="34" charset="-120"/>
              </a:rPr>
              <a:t>大研究領域</a:t>
            </a:r>
          </a:p>
        </p:txBody>
      </p:sp>
      <p:sp>
        <p:nvSpPr>
          <p:cNvPr id="6" name="文字方塊 5">
            <a:extLst>
              <a:ext uri="{FF2B5EF4-FFF2-40B4-BE49-F238E27FC236}">
                <a16:creationId xmlns:a16="http://schemas.microsoft.com/office/drawing/2014/main" id="{66D08AFE-E414-A6B7-DDD1-C42465BD9F38}"/>
              </a:ext>
            </a:extLst>
          </p:cNvPr>
          <p:cNvSpPr txBox="1"/>
          <p:nvPr/>
        </p:nvSpPr>
        <p:spPr>
          <a:xfrm>
            <a:off x="508000" y="914400"/>
            <a:ext cx="11176000" cy="269304"/>
          </a:xfrm>
          <a:prstGeom prst="rect">
            <a:avLst/>
          </a:prstGeom>
          <a:noFill/>
        </p:spPr>
        <p:txBody>
          <a:bodyPr vert="horz" rtlCol="0">
            <a:spAutoFit/>
          </a:bodyPr>
          <a:lstStyle/>
          <a:p>
            <a:r>
              <a:rPr lang="zh-TW" altLang="en-US" sz="1150">
                <a:solidFill>
                  <a:srgbClr val="64748B"/>
                </a:solidFill>
                <a:latin typeface="微軟正黑體" panose="020B0604030504040204" pitchFamily="34" charset="-120"/>
              </a:rPr>
              <a:t>💡 說明：以下為目前收錄的 </a:t>
            </a:r>
            <a:r>
              <a:rPr lang="en-US" altLang="zh-TW" sz="1150">
                <a:solidFill>
                  <a:srgbClr val="64748B"/>
                </a:solidFill>
                <a:latin typeface="微軟正黑體" panose="020B0604030504040204" pitchFamily="34" charset="-120"/>
              </a:rPr>
              <a:t>9 </a:t>
            </a:r>
            <a:r>
              <a:rPr lang="zh-TW" altLang="en-US" sz="1150">
                <a:solidFill>
                  <a:srgbClr val="64748B"/>
                </a:solidFill>
                <a:latin typeface="微軟正黑體" panose="020B0604030504040204" pitchFamily="34" charset="-120"/>
              </a:rPr>
              <a:t>項專利家族。您可在後續各案子頁投影片中直接修改詳細摘要與基本資料：</a:t>
            </a:r>
          </a:p>
        </p:txBody>
      </p:sp>
      <p:graphicFrame>
        <p:nvGraphicFramePr>
          <p:cNvPr id="7" name="表格 6">
            <a:extLst>
              <a:ext uri="{FF2B5EF4-FFF2-40B4-BE49-F238E27FC236}">
                <a16:creationId xmlns:a16="http://schemas.microsoft.com/office/drawing/2014/main" id="{BA8C9BDA-28D8-7066-4BAC-4AB50A4DCDFC}"/>
              </a:ext>
            </a:extLst>
          </p:cNvPr>
          <p:cNvGraphicFramePr>
            <a:graphicFrameLocks noGrp="1"/>
          </p:cNvGraphicFramePr>
          <p:nvPr>
            <p:extLst>
              <p:ext uri="{D42A27DB-BD31-4B8C-83A1-F6EECF244321}">
                <p14:modId xmlns:p14="http://schemas.microsoft.com/office/powerpoint/2010/main" val="447421614"/>
              </p:ext>
            </p:extLst>
          </p:nvPr>
        </p:nvGraphicFramePr>
        <p:xfrm>
          <a:off x="508000" y="1270000"/>
          <a:ext cx="11176000" cy="5080000"/>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350551809"/>
                    </a:ext>
                  </a:extLst>
                </a:gridCol>
                <a:gridCol w="1206500">
                  <a:extLst>
                    <a:ext uri="{9D8B030D-6E8A-4147-A177-3AD203B41FA5}">
                      <a16:colId xmlns:a16="http://schemas.microsoft.com/office/drawing/2014/main" val="1547714269"/>
                    </a:ext>
                  </a:extLst>
                </a:gridCol>
                <a:gridCol w="889000">
                  <a:extLst>
                    <a:ext uri="{9D8B030D-6E8A-4147-A177-3AD203B41FA5}">
                      <a16:colId xmlns:a16="http://schemas.microsoft.com/office/drawing/2014/main" val="3358310005"/>
                    </a:ext>
                  </a:extLst>
                </a:gridCol>
                <a:gridCol w="5461000">
                  <a:extLst>
                    <a:ext uri="{9D8B030D-6E8A-4147-A177-3AD203B41FA5}">
                      <a16:colId xmlns:a16="http://schemas.microsoft.com/office/drawing/2014/main" val="586017635"/>
                    </a:ext>
                  </a:extLst>
                </a:gridCol>
                <a:gridCol w="1714500">
                  <a:extLst>
                    <a:ext uri="{9D8B030D-6E8A-4147-A177-3AD203B41FA5}">
                      <a16:colId xmlns:a16="http://schemas.microsoft.com/office/drawing/2014/main" val="3056898179"/>
                    </a:ext>
                  </a:extLst>
                </a:gridCol>
                <a:gridCol w="1016000">
                  <a:extLst>
                    <a:ext uri="{9D8B030D-6E8A-4147-A177-3AD203B41FA5}">
                      <a16:colId xmlns:a16="http://schemas.microsoft.com/office/drawing/2014/main" val="170981028"/>
                    </a:ext>
                  </a:extLst>
                </a:gridCol>
              </a:tblGrid>
              <a:tr h="508000">
                <a:tc>
                  <a:txBody>
                    <a:bodyPr/>
                    <a:lstStyle/>
                    <a:p>
                      <a:r>
                        <a:rPr lang="zh-TW" altLang="en-US" sz="1100" b="1">
                          <a:solidFill>
                            <a:srgbClr val="FFFFFF"/>
                          </a:solidFill>
                          <a:latin typeface="微軟正黑體" panose="020B0604030504040204" pitchFamily="34" charset="-120"/>
                        </a:rPr>
                        <a:t>家族編號</a:t>
                      </a:r>
                    </a:p>
                  </a:txBody>
                  <a:tcPr>
                    <a:solidFill>
                      <a:srgbClr val="0E387A"/>
                    </a:solidFill>
                  </a:tcPr>
                </a:tc>
                <a:tc>
                  <a:txBody>
                    <a:bodyPr/>
                    <a:lstStyle/>
                    <a:p>
                      <a:r>
                        <a:rPr lang="zh-TW" altLang="en-US" sz="1100" b="1">
                          <a:solidFill>
                            <a:srgbClr val="FFFFFF"/>
                          </a:solidFill>
                          <a:latin typeface="微軟正黑體" panose="020B0604030504040204" pitchFamily="34" charset="-120"/>
                        </a:rPr>
                        <a:t>主要案件編號</a:t>
                      </a:r>
                    </a:p>
                  </a:txBody>
                  <a:tcPr>
                    <a:solidFill>
                      <a:srgbClr val="0E387A"/>
                    </a:solidFill>
                  </a:tcPr>
                </a:tc>
                <a:tc>
                  <a:txBody>
                    <a:bodyPr/>
                    <a:lstStyle/>
                    <a:p>
                      <a:r>
                        <a:rPr lang="zh-TW" altLang="en-US" sz="1100" b="1">
                          <a:solidFill>
                            <a:srgbClr val="FFFFFF"/>
                          </a:solidFill>
                          <a:latin typeface="微軟正黑體" panose="020B0604030504040204" pitchFamily="34" charset="-120"/>
                        </a:rPr>
                        <a:t>領域</a:t>
                      </a:r>
                    </a:p>
                  </a:txBody>
                  <a:tcPr>
                    <a:solidFill>
                      <a:srgbClr val="0E387A"/>
                    </a:solidFill>
                  </a:tcPr>
                </a:tc>
                <a:tc>
                  <a:txBody>
                    <a:bodyPr/>
                    <a:lstStyle/>
                    <a:p>
                      <a:r>
                        <a:rPr lang="zh-TW" altLang="en-US" sz="1100" b="1">
                          <a:solidFill>
                            <a:srgbClr val="FFFFFF"/>
                          </a:solidFill>
                          <a:latin typeface="微軟正黑體" panose="020B0604030504040204" pitchFamily="34" charset="-120"/>
                        </a:rPr>
                        <a:t>專利技術名稱</a:t>
                      </a:r>
                    </a:p>
                  </a:txBody>
                  <a:tcPr>
                    <a:solidFill>
                      <a:srgbClr val="0E387A"/>
                    </a:solidFill>
                  </a:tcPr>
                </a:tc>
                <a:tc>
                  <a:txBody>
                    <a:bodyPr/>
                    <a:lstStyle/>
                    <a:p>
                      <a:r>
                        <a:rPr lang="zh-TW" altLang="en-US" sz="1100" b="1">
                          <a:solidFill>
                            <a:srgbClr val="FFFFFF"/>
                          </a:solidFill>
                          <a:latin typeface="微軟正黑體" panose="020B0604030504040204" pitchFamily="34" charset="-120"/>
                        </a:rPr>
                        <a:t>提申國家</a:t>
                      </a:r>
                    </a:p>
                  </a:txBody>
                  <a:tcPr>
                    <a:solidFill>
                      <a:srgbClr val="0E387A"/>
                    </a:solidFill>
                  </a:tcPr>
                </a:tc>
                <a:tc>
                  <a:txBody>
                    <a:bodyPr/>
                    <a:lstStyle/>
                    <a:p>
                      <a:r>
                        <a:rPr lang="zh-TW" altLang="en-US" sz="1100" b="1">
                          <a:solidFill>
                            <a:srgbClr val="FFFFFF"/>
                          </a:solidFill>
                          <a:latin typeface="微軟正黑體" panose="020B0604030504040204" pitchFamily="34" charset="-120"/>
                        </a:rPr>
                        <a:t>法律狀態</a:t>
                      </a:r>
                    </a:p>
                  </a:txBody>
                  <a:tcPr>
                    <a:solidFill>
                      <a:srgbClr val="0E387A"/>
                    </a:solidFill>
                  </a:tcPr>
                </a:tc>
                <a:extLst>
                  <a:ext uri="{0D108BD9-81ED-4DB2-BD59-A6C34878D82A}">
                    <a16:rowId xmlns:a16="http://schemas.microsoft.com/office/drawing/2014/main" val="1554854924"/>
                  </a:ext>
                </a:extLst>
              </a:tr>
              <a:tr h="508000">
                <a:tc>
                  <a:txBody>
                    <a:bodyPr/>
                    <a:lstStyle/>
                    <a:p>
                      <a:r>
                        <a:rPr lang="en-US" altLang="zh-TW" sz="1000">
                          <a:solidFill>
                            <a:srgbClr val="1E293B"/>
                          </a:solidFill>
                          <a:latin typeface="微軟正黑體" panose="020B0604030504040204" pitchFamily="34" charset="-120"/>
                        </a:rPr>
                        <a:t>PF-001</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en-US" altLang="zh-TW" sz="1000">
                          <a:solidFill>
                            <a:srgbClr val="1E293B"/>
                          </a:solidFill>
                          <a:latin typeface="微軟正黑體" panose="020B0604030504040204" pitchFamily="34" charset="-120"/>
                        </a:rPr>
                        <a:t>34A-1131114</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zh-TW" altLang="en-US" sz="1000">
                          <a:solidFill>
                            <a:srgbClr val="1E293B"/>
                          </a:solidFill>
                          <a:latin typeface="微軟正黑體" panose="020B0604030504040204" pitchFamily="34" charset="-120"/>
                        </a:rPr>
                        <a:t>量子科技</a:t>
                      </a:r>
                    </a:p>
                  </a:txBody>
                  <a:tcPr>
                    <a:solidFill>
                      <a:srgbClr val="FFFFFF"/>
                    </a:solidFill>
                  </a:tcPr>
                </a:tc>
                <a:tc>
                  <a:txBody>
                    <a:bodyPr/>
                    <a:lstStyle/>
                    <a:p>
                      <a:r>
                        <a:rPr lang="zh-TW" altLang="en-US" sz="1000">
                          <a:solidFill>
                            <a:srgbClr val="1E293B"/>
                          </a:solidFill>
                          <a:latin typeface="微軟正黑體" panose="020B0604030504040204" pitchFamily="34" charset="-120"/>
                        </a:rPr>
                        <a:t>高品質超導金屬材料蝕刻與氧化製程</a:t>
                      </a:r>
                    </a:p>
                  </a:txBody>
                  <a:tcPr>
                    <a:solidFill>
                      <a:srgbClr val="FFFFFF"/>
                    </a:solidFill>
                  </a:tcPr>
                </a:tc>
                <a:tc>
                  <a:txBody>
                    <a:bodyPr/>
                    <a:lstStyle/>
                    <a:p>
                      <a:r>
                        <a:rPr lang="en-US" altLang="zh-TW" sz="1000">
                          <a:solidFill>
                            <a:srgbClr val="1E293B"/>
                          </a:solidFill>
                          <a:latin typeface="微軟正黑體" panose="020B0604030504040204" pitchFamily="34" charset="-120"/>
                        </a:rPr>
                        <a:t>US (2</a:t>
                      </a:r>
                      <a:r>
                        <a:rPr lang="zh-TW" altLang="en-US" sz="1000">
                          <a:solidFill>
                            <a:srgbClr val="1E293B"/>
                          </a:solidFill>
                          <a:latin typeface="微軟正黑體" panose="020B0604030504040204" pitchFamily="34" charset="-120"/>
                        </a:rPr>
                        <a:t>案</a:t>
                      </a:r>
                      <a:r>
                        <a:rPr lang="en-US" altLang="zh-TW" sz="1000">
                          <a:solidFill>
                            <a:srgbClr val="1E293B"/>
                          </a:solidFill>
                          <a:latin typeface="微軟正黑體" panose="020B0604030504040204" pitchFamily="34" charset="-120"/>
                        </a:rPr>
                        <a:t>)</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zh-TW" altLang="en-US" sz="1000">
                          <a:solidFill>
                            <a:srgbClr val="1E293B"/>
                          </a:solidFill>
                          <a:latin typeface="微軟正黑體" panose="020B0604030504040204" pitchFamily="34" charset="-120"/>
                        </a:rPr>
                        <a:t>申請中</a:t>
                      </a:r>
                    </a:p>
                  </a:txBody>
                  <a:tcPr>
                    <a:solidFill>
                      <a:srgbClr val="FFFFFF"/>
                    </a:solidFill>
                  </a:tcPr>
                </a:tc>
                <a:extLst>
                  <a:ext uri="{0D108BD9-81ED-4DB2-BD59-A6C34878D82A}">
                    <a16:rowId xmlns:a16="http://schemas.microsoft.com/office/drawing/2014/main" val="2723076938"/>
                  </a:ext>
                </a:extLst>
              </a:tr>
              <a:tr h="508000">
                <a:tc>
                  <a:txBody>
                    <a:bodyPr/>
                    <a:lstStyle/>
                    <a:p>
                      <a:r>
                        <a:rPr lang="en-US" altLang="zh-TW" sz="1000">
                          <a:solidFill>
                            <a:srgbClr val="1E293B"/>
                          </a:solidFill>
                          <a:latin typeface="微軟正黑體" panose="020B0604030504040204" pitchFamily="34" charset="-120"/>
                        </a:rPr>
                        <a:t>PF-002</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en-US" altLang="zh-TW" sz="1000">
                          <a:solidFill>
                            <a:srgbClr val="1E293B"/>
                          </a:solidFill>
                          <a:latin typeface="微軟正黑體" panose="020B0604030504040204" pitchFamily="34" charset="-120"/>
                        </a:rPr>
                        <a:t>34A-1140709</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zh-TW" altLang="en-US" sz="1000">
                          <a:solidFill>
                            <a:srgbClr val="1E293B"/>
                          </a:solidFill>
                          <a:latin typeface="微軟正黑體" panose="020B0604030504040204" pitchFamily="34" charset="-120"/>
                        </a:rPr>
                        <a:t>太陽能</a:t>
                      </a:r>
                    </a:p>
                  </a:txBody>
                  <a:tcPr>
                    <a:solidFill>
                      <a:srgbClr val="F1F5F9"/>
                    </a:solidFill>
                  </a:tcPr>
                </a:tc>
                <a:tc>
                  <a:txBody>
                    <a:bodyPr/>
                    <a:lstStyle/>
                    <a:p>
                      <a:r>
                        <a:rPr lang="zh-TW" altLang="en-US" sz="1000">
                          <a:solidFill>
                            <a:srgbClr val="1E293B"/>
                          </a:solidFill>
                          <a:latin typeface="微軟正黑體" panose="020B0604030504040204" pitchFamily="34" charset="-120"/>
                        </a:rPr>
                        <a:t>一種適用太陽電池穩定度量測之外包裝真空盒</a:t>
                      </a:r>
                    </a:p>
                  </a:txBody>
                  <a:tcPr>
                    <a:solidFill>
                      <a:srgbClr val="F1F5F9"/>
                    </a:solidFill>
                  </a:tcPr>
                </a:tc>
                <a:tc>
                  <a:txBody>
                    <a:bodyPr/>
                    <a:lstStyle/>
                    <a:p>
                      <a:r>
                        <a:rPr lang="en-US" altLang="zh-TW" sz="1000">
                          <a:solidFill>
                            <a:srgbClr val="1E293B"/>
                          </a:solidFill>
                          <a:latin typeface="微軟正黑體" panose="020B0604030504040204" pitchFamily="34" charset="-120"/>
                        </a:rPr>
                        <a:t>US</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zh-TW" altLang="en-US" sz="1000">
                          <a:solidFill>
                            <a:srgbClr val="1E293B"/>
                          </a:solidFill>
                          <a:latin typeface="微軟正黑體" panose="020B0604030504040204" pitchFamily="34" charset="-120"/>
                        </a:rPr>
                        <a:t>申請中</a:t>
                      </a:r>
                    </a:p>
                  </a:txBody>
                  <a:tcPr>
                    <a:solidFill>
                      <a:srgbClr val="F1F5F9"/>
                    </a:solidFill>
                  </a:tcPr>
                </a:tc>
                <a:extLst>
                  <a:ext uri="{0D108BD9-81ED-4DB2-BD59-A6C34878D82A}">
                    <a16:rowId xmlns:a16="http://schemas.microsoft.com/office/drawing/2014/main" val="3480992002"/>
                  </a:ext>
                </a:extLst>
              </a:tr>
              <a:tr h="508000">
                <a:tc>
                  <a:txBody>
                    <a:bodyPr/>
                    <a:lstStyle/>
                    <a:p>
                      <a:r>
                        <a:rPr lang="en-US" altLang="zh-TW" sz="1000">
                          <a:solidFill>
                            <a:srgbClr val="1E293B"/>
                          </a:solidFill>
                          <a:latin typeface="微軟正黑體" panose="020B0604030504040204" pitchFamily="34" charset="-120"/>
                        </a:rPr>
                        <a:t>PF-003</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en-US" altLang="zh-TW" sz="1000">
                          <a:solidFill>
                            <a:srgbClr val="1E293B"/>
                          </a:solidFill>
                          <a:latin typeface="微軟正黑體" panose="020B0604030504040204" pitchFamily="34" charset="-120"/>
                        </a:rPr>
                        <a:t>34A-1150223</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zh-TW" altLang="en-US" sz="1000">
                          <a:solidFill>
                            <a:srgbClr val="1E293B"/>
                          </a:solidFill>
                          <a:latin typeface="微軟正黑體" panose="020B0604030504040204" pitchFamily="34" charset="-120"/>
                        </a:rPr>
                        <a:t>太陽能</a:t>
                      </a:r>
                    </a:p>
                  </a:txBody>
                  <a:tcPr>
                    <a:solidFill>
                      <a:srgbClr val="FFFFFF"/>
                    </a:solidFill>
                  </a:tcPr>
                </a:tc>
                <a:tc>
                  <a:txBody>
                    <a:bodyPr/>
                    <a:lstStyle/>
                    <a:p>
                      <a:r>
                        <a:rPr lang="en-US" altLang="zh-TW" sz="1000">
                          <a:solidFill>
                            <a:srgbClr val="1E293B"/>
                          </a:solidFill>
                          <a:latin typeface="微軟正黑體" panose="020B0604030504040204" pitchFamily="34" charset="-120"/>
                        </a:rPr>
                        <a:t>TOPCon</a:t>
                      </a:r>
                      <a:r>
                        <a:rPr lang="zh-TW" altLang="en-US" sz="1000">
                          <a:solidFill>
                            <a:srgbClr val="1E293B"/>
                          </a:solidFill>
                          <a:latin typeface="微軟正黑體" panose="020B0604030504040204" pitchFamily="34" charset="-120"/>
                        </a:rPr>
                        <a:t>表面改質方法以利鈣鈦礦疊層設計</a:t>
                      </a:r>
                    </a:p>
                  </a:txBody>
                  <a:tcPr>
                    <a:solidFill>
                      <a:srgbClr val="FFFFFF"/>
                    </a:solidFill>
                  </a:tcPr>
                </a:tc>
                <a:tc>
                  <a:txBody>
                    <a:bodyPr/>
                    <a:lstStyle/>
                    <a:p>
                      <a:r>
                        <a:rPr lang="en-US" altLang="zh-TW" sz="1000">
                          <a:solidFill>
                            <a:srgbClr val="1E293B"/>
                          </a:solidFill>
                          <a:latin typeface="微軟正黑體" panose="020B0604030504040204" pitchFamily="34" charset="-120"/>
                        </a:rPr>
                        <a:t>US, TW, CN (4</a:t>
                      </a:r>
                      <a:r>
                        <a:rPr lang="zh-TW" altLang="en-US" sz="1000">
                          <a:solidFill>
                            <a:srgbClr val="1E293B"/>
                          </a:solidFill>
                          <a:latin typeface="微軟正黑體" panose="020B0604030504040204" pitchFamily="34" charset="-120"/>
                        </a:rPr>
                        <a:t>案</a:t>
                      </a:r>
                      <a:r>
                        <a:rPr lang="en-US" altLang="zh-TW" sz="1000">
                          <a:solidFill>
                            <a:srgbClr val="1E293B"/>
                          </a:solidFill>
                          <a:latin typeface="微軟正黑體" panose="020B0604030504040204" pitchFamily="34" charset="-120"/>
                        </a:rPr>
                        <a:t>)</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zh-TW" altLang="en-US" sz="1000">
                          <a:solidFill>
                            <a:srgbClr val="1E293B"/>
                          </a:solidFill>
                          <a:latin typeface="微軟正黑體" panose="020B0604030504040204" pitchFamily="34" charset="-120"/>
                        </a:rPr>
                        <a:t>申請中</a:t>
                      </a:r>
                    </a:p>
                  </a:txBody>
                  <a:tcPr>
                    <a:solidFill>
                      <a:srgbClr val="FFFFFF"/>
                    </a:solidFill>
                  </a:tcPr>
                </a:tc>
                <a:extLst>
                  <a:ext uri="{0D108BD9-81ED-4DB2-BD59-A6C34878D82A}">
                    <a16:rowId xmlns:a16="http://schemas.microsoft.com/office/drawing/2014/main" val="1481520540"/>
                  </a:ext>
                </a:extLst>
              </a:tr>
              <a:tr h="508000">
                <a:tc>
                  <a:txBody>
                    <a:bodyPr/>
                    <a:lstStyle/>
                    <a:p>
                      <a:r>
                        <a:rPr lang="en-US" altLang="zh-TW" sz="1000">
                          <a:solidFill>
                            <a:srgbClr val="1E293B"/>
                          </a:solidFill>
                          <a:latin typeface="微軟正黑體" panose="020B0604030504040204" pitchFamily="34" charset="-120"/>
                        </a:rPr>
                        <a:t>PF-004</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en-US" altLang="zh-TW" sz="1000">
                          <a:solidFill>
                            <a:srgbClr val="1E293B"/>
                          </a:solidFill>
                          <a:latin typeface="微軟正黑體" panose="020B0604030504040204" pitchFamily="34" charset="-120"/>
                        </a:rPr>
                        <a:t>34A-1150304</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zh-TW" altLang="en-US" sz="1000">
                          <a:solidFill>
                            <a:srgbClr val="1E293B"/>
                          </a:solidFill>
                          <a:latin typeface="微軟正黑體" panose="020B0604030504040204" pitchFamily="34" charset="-120"/>
                        </a:rPr>
                        <a:t>太陽能</a:t>
                      </a:r>
                    </a:p>
                  </a:txBody>
                  <a:tcPr>
                    <a:solidFill>
                      <a:srgbClr val="F1F5F9"/>
                    </a:solidFill>
                  </a:tcPr>
                </a:tc>
                <a:tc>
                  <a:txBody>
                    <a:bodyPr/>
                    <a:lstStyle/>
                    <a:p>
                      <a:r>
                        <a:rPr lang="zh-TW" altLang="en-US" sz="1000">
                          <a:solidFill>
                            <a:srgbClr val="1E293B"/>
                          </a:solidFill>
                          <a:latin typeface="微軟正黑體" panose="020B0604030504040204" pitchFamily="34" charset="-120"/>
                        </a:rPr>
                        <a:t>具分子內非共價交互作用之自組裝電洞選擇材料及其在鈣鈦礦太陽能電池之應用</a:t>
                      </a:r>
                    </a:p>
                  </a:txBody>
                  <a:tcPr>
                    <a:solidFill>
                      <a:srgbClr val="F1F5F9"/>
                    </a:solidFill>
                  </a:tcPr>
                </a:tc>
                <a:tc>
                  <a:txBody>
                    <a:bodyPr/>
                    <a:lstStyle/>
                    <a:p>
                      <a:r>
                        <a:rPr lang="en-US" altLang="zh-TW" sz="1000">
                          <a:solidFill>
                            <a:srgbClr val="1E293B"/>
                          </a:solidFill>
                          <a:latin typeface="微軟正黑體" panose="020B0604030504040204" pitchFamily="34" charset="-120"/>
                        </a:rPr>
                        <a:t>US</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zh-TW" altLang="en-US" sz="1000">
                          <a:solidFill>
                            <a:srgbClr val="1E293B"/>
                          </a:solidFill>
                          <a:latin typeface="微軟正黑體" panose="020B0604030504040204" pitchFamily="34" charset="-120"/>
                        </a:rPr>
                        <a:t>申請中</a:t>
                      </a:r>
                    </a:p>
                  </a:txBody>
                  <a:tcPr>
                    <a:solidFill>
                      <a:srgbClr val="F1F5F9"/>
                    </a:solidFill>
                  </a:tcPr>
                </a:tc>
                <a:extLst>
                  <a:ext uri="{0D108BD9-81ED-4DB2-BD59-A6C34878D82A}">
                    <a16:rowId xmlns:a16="http://schemas.microsoft.com/office/drawing/2014/main" val="2829483444"/>
                  </a:ext>
                </a:extLst>
              </a:tr>
              <a:tr h="508000">
                <a:tc>
                  <a:txBody>
                    <a:bodyPr/>
                    <a:lstStyle/>
                    <a:p>
                      <a:r>
                        <a:rPr lang="en-US" altLang="zh-TW" sz="1000">
                          <a:solidFill>
                            <a:srgbClr val="1E293B"/>
                          </a:solidFill>
                          <a:latin typeface="微軟正黑體" panose="020B0604030504040204" pitchFamily="34" charset="-120"/>
                        </a:rPr>
                        <a:t>PF-005</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en-US" altLang="zh-TW" sz="1000">
                          <a:solidFill>
                            <a:srgbClr val="1E293B"/>
                          </a:solidFill>
                          <a:latin typeface="微軟正黑體" panose="020B0604030504040204" pitchFamily="34" charset="-120"/>
                        </a:rPr>
                        <a:t>34A-1150305</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zh-TW" altLang="en-US" sz="1000">
                          <a:solidFill>
                            <a:srgbClr val="1E293B"/>
                          </a:solidFill>
                          <a:latin typeface="微軟正黑體" panose="020B0604030504040204" pitchFamily="34" charset="-120"/>
                        </a:rPr>
                        <a:t>太陽能</a:t>
                      </a:r>
                    </a:p>
                  </a:txBody>
                  <a:tcPr>
                    <a:solidFill>
                      <a:srgbClr val="FFFFFF"/>
                    </a:solidFill>
                  </a:tcPr>
                </a:tc>
                <a:tc>
                  <a:txBody>
                    <a:bodyPr/>
                    <a:lstStyle/>
                    <a:p>
                      <a:r>
                        <a:rPr lang="zh-TW" altLang="en-US" sz="1000">
                          <a:solidFill>
                            <a:srgbClr val="1E293B"/>
                          </a:solidFill>
                          <a:latin typeface="微軟正黑體" panose="020B0604030504040204" pitchFamily="34" charset="-120"/>
                        </a:rPr>
                        <a:t>應用於疊層光伏元件之複合蒸鍍－溶液法鈣鈦礦製程技術</a:t>
                      </a:r>
                    </a:p>
                  </a:txBody>
                  <a:tcPr>
                    <a:solidFill>
                      <a:srgbClr val="FFFFFF"/>
                    </a:solidFill>
                  </a:tcPr>
                </a:tc>
                <a:tc>
                  <a:txBody>
                    <a:bodyPr/>
                    <a:lstStyle/>
                    <a:p>
                      <a:r>
                        <a:rPr lang="en-US" altLang="zh-TW" sz="1000">
                          <a:solidFill>
                            <a:srgbClr val="1E293B"/>
                          </a:solidFill>
                          <a:latin typeface="微軟正黑體" panose="020B0604030504040204" pitchFamily="34" charset="-120"/>
                        </a:rPr>
                        <a:t>US, TW, CN (3</a:t>
                      </a:r>
                      <a:r>
                        <a:rPr lang="zh-TW" altLang="en-US" sz="1000">
                          <a:solidFill>
                            <a:srgbClr val="1E293B"/>
                          </a:solidFill>
                          <a:latin typeface="微軟正黑體" panose="020B0604030504040204" pitchFamily="34" charset="-120"/>
                        </a:rPr>
                        <a:t>案</a:t>
                      </a:r>
                      <a:r>
                        <a:rPr lang="en-US" altLang="zh-TW" sz="1000">
                          <a:solidFill>
                            <a:srgbClr val="1E293B"/>
                          </a:solidFill>
                          <a:latin typeface="微軟正黑體" panose="020B0604030504040204" pitchFamily="34" charset="-120"/>
                        </a:rPr>
                        <a:t>)</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zh-TW" altLang="en-US" sz="1000">
                          <a:solidFill>
                            <a:srgbClr val="1E293B"/>
                          </a:solidFill>
                          <a:latin typeface="微軟正黑體" panose="020B0604030504040204" pitchFamily="34" charset="-120"/>
                        </a:rPr>
                        <a:t>申請中</a:t>
                      </a:r>
                    </a:p>
                  </a:txBody>
                  <a:tcPr>
                    <a:solidFill>
                      <a:srgbClr val="FFFFFF"/>
                    </a:solidFill>
                  </a:tcPr>
                </a:tc>
                <a:extLst>
                  <a:ext uri="{0D108BD9-81ED-4DB2-BD59-A6C34878D82A}">
                    <a16:rowId xmlns:a16="http://schemas.microsoft.com/office/drawing/2014/main" val="3465646509"/>
                  </a:ext>
                </a:extLst>
              </a:tr>
              <a:tr h="508000">
                <a:tc>
                  <a:txBody>
                    <a:bodyPr/>
                    <a:lstStyle/>
                    <a:p>
                      <a:r>
                        <a:rPr lang="en-US" altLang="zh-TW" sz="1000">
                          <a:solidFill>
                            <a:srgbClr val="1E293B"/>
                          </a:solidFill>
                          <a:latin typeface="微軟正黑體" panose="020B0604030504040204" pitchFamily="34" charset="-120"/>
                        </a:rPr>
                        <a:t>PF-006</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en-US" altLang="zh-TW" sz="1000">
                          <a:solidFill>
                            <a:srgbClr val="1E293B"/>
                          </a:solidFill>
                          <a:latin typeface="微軟正黑體" panose="020B0604030504040204" pitchFamily="34" charset="-120"/>
                        </a:rPr>
                        <a:t>34A-1150325</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zh-TW" altLang="en-US" sz="1000">
                          <a:solidFill>
                            <a:srgbClr val="1E293B"/>
                          </a:solidFill>
                          <a:latin typeface="微軟正黑體" panose="020B0604030504040204" pitchFamily="34" charset="-120"/>
                        </a:rPr>
                        <a:t>太陽能</a:t>
                      </a:r>
                    </a:p>
                  </a:txBody>
                  <a:tcPr>
                    <a:solidFill>
                      <a:srgbClr val="F1F5F9"/>
                    </a:solidFill>
                  </a:tcPr>
                </a:tc>
                <a:tc>
                  <a:txBody>
                    <a:bodyPr/>
                    <a:lstStyle/>
                    <a:p>
                      <a:r>
                        <a:rPr lang="zh-TW" altLang="en-US" sz="1000">
                          <a:solidFill>
                            <a:srgbClr val="1E293B"/>
                          </a:solidFill>
                          <a:latin typeface="微軟正黑體" panose="020B0604030504040204" pitchFamily="34" charset="-120"/>
                        </a:rPr>
                        <a:t>一種用於鈣鈦礦太陽能電池之氧化錫緩衝層及其優化製程</a:t>
                      </a:r>
                    </a:p>
                  </a:txBody>
                  <a:tcPr>
                    <a:solidFill>
                      <a:srgbClr val="F1F5F9"/>
                    </a:solidFill>
                  </a:tcPr>
                </a:tc>
                <a:tc>
                  <a:txBody>
                    <a:bodyPr/>
                    <a:lstStyle/>
                    <a:p>
                      <a:r>
                        <a:rPr lang="en-US" altLang="zh-TW" sz="1000">
                          <a:solidFill>
                            <a:srgbClr val="1E293B"/>
                          </a:solidFill>
                          <a:latin typeface="微軟正黑體" panose="020B0604030504040204" pitchFamily="34" charset="-120"/>
                        </a:rPr>
                        <a:t>US</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zh-TW" altLang="en-US" sz="1000">
                          <a:solidFill>
                            <a:srgbClr val="1E293B"/>
                          </a:solidFill>
                          <a:latin typeface="微軟正黑體" panose="020B0604030504040204" pitchFamily="34" charset="-120"/>
                        </a:rPr>
                        <a:t>申請中</a:t>
                      </a:r>
                    </a:p>
                  </a:txBody>
                  <a:tcPr>
                    <a:solidFill>
                      <a:srgbClr val="F1F5F9"/>
                    </a:solidFill>
                  </a:tcPr>
                </a:tc>
                <a:extLst>
                  <a:ext uri="{0D108BD9-81ED-4DB2-BD59-A6C34878D82A}">
                    <a16:rowId xmlns:a16="http://schemas.microsoft.com/office/drawing/2014/main" val="3257254082"/>
                  </a:ext>
                </a:extLst>
              </a:tr>
              <a:tr h="508000">
                <a:tc>
                  <a:txBody>
                    <a:bodyPr/>
                    <a:lstStyle/>
                    <a:p>
                      <a:r>
                        <a:rPr lang="en-US" altLang="zh-TW" sz="1000">
                          <a:solidFill>
                            <a:srgbClr val="1E293B"/>
                          </a:solidFill>
                          <a:latin typeface="微軟正黑體" panose="020B0604030504040204" pitchFamily="34" charset="-120"/>
                        </a:rPr>
                        <a:t>PF-007</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en-US" altLang="zh-TW" sz="1000">
                          <a:solidFill>
                            <a:srgbClr val="1E293B"/>
                          </a:solidFill>
                          <a:latin typeface="微軟正黑體" panose="020B0604030504040204" pitchFamily="34" charset="-120"/>
                        </a:rPr>
                        <a:t>02A-1110615</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zh-TW" altLang="en-US" sz="1000">
                          <a:solidFill>
                            <a:srgbClr val="1E293B"/>
                          </a:solidFill>
                          <a:latin typeface="微軟正黑體" panose="020B0604030504040204" pitchFamily="34" charset="-120"/>
                        </a:rPr>
                        <a:t>去碳燃氫</a:t>
                      </a:r>
                    </a:p>
                  </a:txBody>
                  <a:tcPr>
                    <a:solidFill>
                      <a:srgbClr val="FFFFFF"/>
                    </a:solidFill>
                  </a:tcPr>
                </a:tc>
                <a:tc>
                  <a:txBody>
                    <a:bodyPr/>
                    <a:lstStyle/>
                    <a:p>
                      <a:r>
                        <a:rPr lang="zh-TW" altLang="en-US" sz="1000">
                          <a:solidFill>
                            <a:srgbClr val="1E293B"/>
                          </a:solidFill>
                          <a:latin typeface="微軟正黑體" panose="020B0604030504040204" pitchFamily="34" charset="-120"/>
                        </a:rPr>
                        <a:t>以電漿裂解碳氫化合物氣體同時產生碳和氫氣的方法</a:t>
                      </a:r>
                    </a:p>
                  </a:txBody>
                  <a:tcPr>
                    <a:solidFill>
                      <a:srgbClr val="FFFFFF"/>
                    </a:solidFill>
                  </a:tcPr>
                </a:tc>
                <a:tc>
                  <a:txBody>
                    <a:bodyPr/>
                    <a:lstStyle/>
                    <a:p>
                      <a:r>
                        <a:rPr lang="en-US" altLang="zh-TW" sz="1000">
                          <a:solidFill>
                            <a:srgbClr val="1E293B"/>
                          </a:solidFill>
                          <a:latin typeface="微軟正黑體" panose="020B0604030504040204" pitchFamily="34" charset="-120"/>
                        </a:rPr>
                        <a:t>US, TW, PCT, PCT-US (4</a:t>
                      </a:r>
                      <a:r>
                        <a:rPr lang="zh-TW" altLang="en-US" sz="1000">
                          <a:solidFill>
                            <a:srgbClr val="1E293B"/>
                          </a:solidFill>
                          <a:latin typeface="微軟正黑體" panose="020B0604030504040204" pitchFamily="34" charset="-120"/>
                        </a:rPr>
                        <a:t>案</a:t>
                      </a:r>
                      <a:r>
                        <a:rPr lang="en-US" altLang="zh-TW" sz="1000">
                          <a:solidFill>
                            <a:srgbClr val="1E293B"/>
                          </a:solidFill>
                          <a:latin typeface="微軟正黑體" panose="020B0604030504040204" pitchFamily="34" charset="-120"/>
                        </a:rPr>
                        <a:t>)</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zh-TW" altLang="en-US" sz="1000">
                          <a:solidFill>
                            <a:srgbClr val="1E293B"/>
                          </a:solidFill>
                          <a:latin typeface="微軟正黑體" panose="020B0604030504040204" pitchFamily="34" charset="-120"/>
                        </a:rPr>
                        <a:t>已獲證（多國）</a:t>
                      </a:r>
                    </a:p>
                  </a:txBody>
                  <a:tcPr>
                    <a:solidFill>
                      <a:srgbClr val="FFFFFF"/>
                    </a:solidFill>
                  </a:tcPr>
                </a:tc>
                <a:extLst>
                  <a:ext uri="{0D108BD9-81ED-4DB2-BD59-A6C34878D82A}">
                    <a16:rowId xmlns:a16="http://schemas.microsoft.com/office/drawing/2014/main" val="4146410051"/>
                  </a:ext>
                </a:extLst>
              </a:tr>
              <a:tr h="508000">
                <a:tc>
                  <a:txBody>
                    <a:bodyPr/>
                    <a:lstStyle/>
                    <a:p>
                      <a:r>
                        <a:rPr lang="en-US" altLang="zh-TW" sz="1000">
                          <a:solidFill>
                            <a:srgbClr val="1E293B"/>
                          </a:solidFill>
                          <a:latin typeface="微軟正黑體" panose="020B0604030504040204" pitchFamily="34" charset="-120"/>
                        </a:rPr>
                        <a:t>PF-008</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en-US" altLang="zh-TW" sz="1000">
                          <a:solidFill>
                            <a:srgbClr val="1E293B"/>
                          </a:solidFill>
                          <a:latin typeface="微軟正黑體" panose="020B0604030504040204" pitchFamily="34" charset="-120"/>
                        </a:rPr>
                        <a:t>34A-1150903</a:t>
                      </a:r>
                      <a:endParaRPr lang="zh-TW" altLang="en-US" sz="1000">
                        <a:solidFill>
                          <a:srgbClr val="1E293B"/>
                        </a:solidFill>
                        <a:latin typeface="微軟正黑體" panose="020B0604030504040204" pitchFamily="34" charset="-120"/>
                      </a:endParaRPr>
                    </a:p>
                  </a:txBody>
                  <a:tcPr>
                    <a:solidFill>
                      <a:srgbClr val="F1F5F9"/>
                    </a:solidFill>
                  </a:tcPr>
                </a:tc>
                <a:tc>
                  <a:txBody>
                    <a:bodyPr/>
                    <a:lstStyle/>
                    <a:p>
                      <a:r>
                        <a:rPr lang="zh-TW" altLang="en-US" sz="1000">
                          <a:solidFill>
                            <a:srgbClr val="1E293B"/>
                          </a:solidFill>
                          <a:latin typeface="微軟正黑體" panose="020B0604030504040204" pitchFamily="34" charset="-120"/>
                        </a:rPr>
                        <a:t>去碳燃氫</a:t>
                      </a:r>
                    </a:p>
                  </a:txBody>
                  <a:tcPr>
                    <a:solidFill>
                      <a:srgbClr val="F1F5F9"/>
                    </a:solidFill>
                  </a:tcPr>
                </a:tc>
                <a:tc>
                  <a:txBody>
                    <a:bodyPr/>
                    <a:lstStyle/>
                    <a:p>
                      <a:r>
                        <a:rPr lang="zh-TW" altLang="en-US" sz="1000">
                          <a:solidFill>
                            <a:srgbClr val="1E293B"/>
                          </a:solidFill>
                          <a:latin typeface="微軟正黑體" panose="020B0604030504040204" pitchFamily="34" charset="-120"/>
                        </a:rPr>
                        <a:t>具分離式點火電漿源與反應電漿源之氣體裂解系統</a:t>
                      </a:r>
                    </a:p>
                  </a:txBody>
                  <a:tcPr>
                    <a:solidFill>
                      <a:srgbClr val="F1F5F9"/>
                    </a:solidFill>
                  </a:tcPr>
                </a:tc>
                <a:tc>
                  <a:txBody>
                    <a:bodyPr/>
                    <a:lstStyle/>
                    <a:p>
                      <a:r>
                        <a:rPr lang="zh-TW" altLang="en-US" sz="1000">
                          <a:solidFill>
                            <a:srgbClr val="1E293B"/>
                          </a:solidFill>
                          <a:latin typeface="微軟正黑體" panose="020B0604030504040204" pitchFamily="34" charset="-120"/>
                        </a:rPr>
                        <a:t>待填寫</a:t>
                      </a:r>
                    </a:p>
                  </a:txBody>
                  <a:tcPr>
                    <a:solidFill>
                      <a:srgbClr val="F1F5F9"/>
                    </a:solidFill>
                  </a:tcPr>
                </a:tc>
                <a:tc>
                  <a:txBody>
                    <a:bodyPr/>
                    <a:lstStyle/>
                    <a:p>
                      <a:r>
                        <a:rPr lang="zh-TW" altLang="en-US" sz="1000">
                          <a:solidFill>
                            <a:srgbClr val="1E293B"/>
                          </a:solidFill>
                          <a:latin typeface="微軟正黑體" panose="020B0604030504040204" pitchFamily="34" charset="-120"/>
                        </a:rPr>
                        <a:t>待填寫</a:t>
                      </a:r>
                    </a:p>
                  </a:txBody>
                  <a:tcPr>
                    <a:solidFill>
                      <a:srgbClr val="F1F5F9"/>
                    </a:solidFill>
                  </a:tcPr>
                </a:tc>
                <a:extLst>
                  <a:ext uri="{0D108BD9-81ED-4DB2-BD59-A6C34878D82A}">
                    <a16:rowId xmlns:a16="http://schemas.microsoft.com/office/drawing/2014/main" val="1814196212"/>
                  </a:ext>
                </a:extLst>
              </a:tr>
              <a:tr h="508000">
                <a:tc>
                  <a:txBody>
                    <a:bodyPr/>
                    <a:lstStyle/>
                    <a:p>
                      <a:r>
                        <a:rPr lang="en-US" altLang="zh-TW" sz="1000">
                          <a:solidFill>
                            <a:srgbClr val="1E293B"/>
                          </a:solidFill>
                          <a:latin typeface="微軟正黑體" panose="020B0604030504040204" pitchFamily="34" charset="-120"/>
                        </a:rPr>
                        <a:t>PF-009</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en-US" altLang="zh-TW" sz="1000">
                          <a:solidFill>
                            <a:srgbClr val="1E293B"/>
                          </a:solidFill>
                          <a:latin typeface="微軟正黑體" panose="020B0604030504040204" pitchFamily="34" charset="-120"/>
                        </a:rPr>
                        <a:t>34A-1151006</a:t>
                      </a:r>
                      <a:endParaRPr lang="zh-TW" altLang="en-US" sz="1000">
                        <a:solidFill>
                          <a:srgbClr val="1E293B"/>
                        </a:solidFill>
                        <a:latin typeface="微軟正黑體" panose="020B0604030504040204" pitchFamily="34" charset="-120"/>
                      </a:endParaRPr>
                    </a:p>
                  </a:txBody>
                  <a:tcPr>
                    <a:solidFill>
                      <a:srgbClr val="FFFFFF"/>
                    </a:solidFill>
                  </a:tcPr>
                </a:tc>
                <a:tc>
                  <a:txBody>
                    <a:bodyPr/>
                    <a:lstStyle/>
                    <a:p>
                      <a:r>
                        <a:rPr lang="zh-TW" altLang="en-US" sz="1000">
                          <a:solidFill>
                            <a:srgbClr val="1E293B"/>
                          </a:solidFill>
                          <a:latin typeface="微軟正黑體" panose="020B0604030504040204" pitchFamily="34" charset="-120"/>
                        </a:rPr>
                        <a:t>去碳燃氫</a:t>
                      </a:r>
                    </a:p>
                  </a:txBody>
                  <a:tcPr>
                    <a:solidFill>
                      <a:srgbClr val="FFFFFF"/>
                    </a:solidFill>
                  </a:tcPr>
                </a:tc>
                <a:tc>
                  <a:txBody>
                    <a:bodyPr/>
                    <a:lstStyle/>
                    <a:p>
                      <a:r>
                        <a:rPr lang="zh-TW" altLang="en-US" sz="1000">
                          <a:solidFill>
                            <a:srgbClr val="1E293B"/>
                          </a:solidFill>
                          <a:latin typeface="微軟正黑體" panose="020B0604030504040204" pitchFamily="34" charset="-120"/>
                        </a:rPr>
                        <a:t>多組分可調式墨水及其製備方法</a:t>
                      </a:r>
                    </a:p>
                  </a:txBody>
                  <a:tcPr>
                    <a:solidFill>
                      <a:srgbClr val="FFFFFF"/>
                    </a:solidFill>
                  </a:tcPr>
                </a:tc>
                <a:tc>
                  <a:txBody>
                    <a:bodyPr/>
                    <a:lstStyle/>
                    <a:p>
                      <a:r>
                        <a:rPr lang="zh-TW" altLang="en-US" sz="1000">
                          <a:solidFill>
                            <a:srgbClr val="1E293B"/>
                          </a:solidFill>
                          <a:latin typeface="微軟正黑體" panose="020B0604030504040204" pitchFamily="34" charset="-120"/>
                        </a:rPr>
                        <a:t>待填寫</a:t>
                      </a:r>
                    </a:p>
                  </a:txBody>
                  <a:tcPr>
                    <a:solidFill>
                      <a:srgbClr val="FFFFFF"/>
                    </a:solidFill>
                  </a:tcPr>
                </a:tc>
                <a:tc>
                  <a:txBody>
                    <a:bodyPr/>
                    <a:lstStyle/>
                    <a:p>
                      <a:r>
                        <a:rPr lang="zh-TW" altLang="en-US" sz="1000">
                          <a:solidFill>
                            <a:srgbClr val="1E293B"/>
                          </a:solidFill>
                          <a:latin typeface="微軟正黑體" panose="020B0604030504040204" pitchFamily="34" charset="-120"/>
                        </a:rPr>
                        <a:t>待填寫</a:t>
                      </a:r>
                    </a:p>
                  </a:txBody>
                  <a:tcPr>
                    <a:solidFill>
                      <a:srgbClr val="FFFFFF"/>
                    </a:solidFill>
                  </a:tcPr>
                </a:tc>
                <a:extLst>
                  <a:ext uri="{0D108BD9-81ED-4DB2-BD59-A6C34878D82A}">
                    <a16:rowId xmlns:a16="http://schemas.microsoft.com/office/drawing/2014/main" val="3080938326"/>
                  </a:ext>
                </a:extLst>
              </a:tr>
            </a:tbl>
          </a:graphicData>
        </a:graphic>
      </p:graphicFrame>
    </p:spTree>
    <p:extLst>
      <p:ext uri="{BB962C8B-B14F-4D97-AF65-F5344CB8AC3E}">
        <p14:creationId xmlns:p14="http://schemas.microsoft.com/office/powerpoint/2010/main" val="2598154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DD1F21E-6294-2B19-8C9C-EC2C99748140}"/>
              </a:ext>
            </a:extLst>
          </p:cNvPr>
          <p:cNvSpPr/>
          <p:nvPr/>
        </p:nvSpPr>
        <p:spPr>
          <a:xfrm>
            <a:off x="0" y="0"/>
            <a:ext cx="12192000" cy="76200"/>
          </a:xfrm>
          <a:prstGeom prst="rect">
            <a:avLst/>
          </a:prstGeom>
          <a:solidFill>
            <a:srgbClr val="0284C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8491AAC0-810F-D8F5-B3D5-C06BF763AFA1}"/>
              </a:ext>
            </a:extLst>
          </p:cNvPr>
          <p:cNvSpPr/>
          <p:nvPr/>
        </p:nvSpPr>
        <p:spPr>
          <a:xfrm>
            <a:off x="508000" y="254000"/>
            <a:ext cx="1206500" cy="304800"/>
          </a:xfrm>
          <a:prstGeom prst="rect">
            <a:avLst/>
          </a:prstGeom>
          <a:solidFill>
            <a:srgbClr val="0284C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量子科技</a:t>
            </a:r>
          </a:p>
        </p:txBody>
      </p:sp>
      <p:sp>
        <p:nvSpPr>
          <p:cNvPr id="4" name="文字方塊 3">
            <a:extLst>
              <a:ext uri="{FF2B5EF4-FFF2-40B4-BE49-F238E27FC236}">
                <a16:creationId xmlns:a16="http://schemas.microsoft.com/office/drawing/2014/main" id="{0A231389-46B7-62BF-DFB1-64FF5990A684}"/>
              </a:ext>
            </a:extLst>
          </p:cNvPr>
          <p:cNvSpPr txBox="1"/>
          <p:nvPr/>
        </p:nvSpPr>
        <p:spPr>
          <a:xfrm>
            <a:off x="1841500" y="177800"/>
            <a:ext cx="9842500" cy="307777"/>
          </a:xfrm>
          <a:prstGeom prst="rect">
            <a:avLst/>
          </a:prstGeom>
          <a:noFill/>
        </p:spPr>
        <p:txBody>
          <a:bodyPr vert="horz" lIns="0" tIns="0" rtlCol="0">
            <a:spAutoFit/>
          </a:bodyPr>
          <a:lstStyle/>
          <a:p>
            <a:r>
              <a:rPr lang="en-US" altLang="zh-TW" sz="1700" b="1">
                <a:solidFill>
                  <a:srgbClr val="0F172A"/>
                </a:solidFill>
                <a:latin typeface="微軟正黑體" panose="020B0604030504040204" pitchFamily="34" charset="-120"/>
              </a:rPr>
              <a:t>【PF-001】 </a:t>
            </a:r>
            <a:r>
              <a:rPr lang="zh-TW" altLang="en-US" sz="1700" b="1">
                <a:solidFill>
                  <a:srgbClr val="0F172A"/>
                </a:solidFill>
                <a:latin typeface="微軟正黑體" panose="020B0604030504040204" pitchFamily="34" charset="-120"/>
              </a:rPr>
              <a:t>高品質超導金屬材料蝕刻與氧化製程</a:t>
            </a:r>
          </a:p>
        </p:txBody>
      </p:sp>
      <p:sp>
        <p:nvSpPr>
          <p:cNvPr id="5" name="文字方塊 4">
            <a:extLst>
              <a:ext uri="{FF2B5EF4-FFF2-40B4-BE49-F238E27FC236}">
                <a16:creationId xmlns:a16="http://schemas.microsoft.com/office/drawing/2014/main" id="{3EAEDB1D-2C22-60C0-1912-F8923263A997}"/>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智財成果詳情專頁 </a:t>
            </a:r>
            <a:r>
              <a:rPr lang="en-US" altLang="zh-TW" sz="1100">
                <a:solidFill>
                  <a:srgbClr val="64748B"/>
                </a:solidFill>
                <a:latin typeface="微軟正黑體" panose="020B0604030504040204" pitchFamily="34" charset="-120"/>
              </a:rPr>
              <a:t>(#patent/PF-001) </a:t>
            </a:r>
            <a:r>
              <a:rPr lang="zh-TW" altLang="en-US" sz="1100">
                <a:solidFill>
                  <a:srgbClr val="64748B"/>
                </a:solidFill>
                <a:latin typeface="微軟正黑體" panose="020B0604030504040204" pitchFamily="34" charset="-120"/>
              </a:rPr>
              <a:t>｜ 院內案件編號：</a:t>
            </a:r>
            <a:r>
              <a:rPr lang="en-US" altLang="zh-TW" sz="1100">
                <a:solidFill>
                  <a:srgbClr val="64748B"/>
                </a:solidFill>
                <a:latin typeface="微軟正黑體" panose="020B0604030504040204" pitchFamily="34" charset="-120"/>
              </a:rPr>
              <a:t>34A-1131114</a:t>
            </a:r>
            <a:endParaRPr lang="zh-TW" altLang="en-US" sz="1100">
              <a:solidFill>
                <a:srgbClr val="64748B"/>
              </a:solidFill>
              <a:latin typeface="微軟正黑體" panose="020B0604030504040204" pitchFamily="34" charset="-120"/>
            </a:endParaRPr>
          </a:p>
        </p:txBody>
      </p:sp>
      <p:sp>
        <p:nvSpPr>
          <p:cNvPr id="6" name="矩形 5">
            <a:extLst>
              <a:ext uri="{FF2B5EF4-FFF2-40B4-BE49-F238E27FC236}">
                <a16:creationId xmlns:a16="http://schemas.microsoft.com/office/drawing/2014/main" id="{74557342-DA6C-7046-8D3B-21487BD2BD8C}"/>
              </a:ext>
            </a:extLst>
          </p:cNvPr>
          <p:cNvSpPr/>
          <p:nvPr/>
        </p:nvSpPr>
        <p:spPr>
          <a:xfrm>
            <a:off x="508000" y="952500"/>
            <a:ext cx="7239000" cy="2603500"/>
          </a:xfrm>
          <a:prstGeom prst="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13389C31-C5BA-B884-93FC-7309536B74F7}"/>
              </a:ext>
            </a:extLst>
          </p:cNvPr>
          <p:cNvSpPr txBox="1"/>
          <p:nvPr/>
        </p:nvSpPr>
        <p:spPr>
          <a:xfrm>
            <a:off x="698500" y="1041400"/>
            <a:ext cx="6858000" cy="276999"/>
          </a:xfrm>
          <a:prstGeom prst="rect">
            <a:avLst/>
          </a:prstGeom>
          <a:noFill/>
        </p:spPr>
        <p:txBody>
          <a:bodyPr vert="horz" rtlCol="0">
            <a:spAutoFit/>
          </a:bodyPr>
          <a:lstStyle/>
          <a:p>
            <a:r>
              <a:rPr lang="zh-TW" altLang="en-US" sz="1200" b="1">
                <a:solidFill>
                  <a:srgbClr val="0E387A"/>
                </a:solidFill>
                <a:latin typeface="微軟正黑體" panose="020B0604030504040204" pitchFamily="34" charset="-120"/>
              </a:rPr>
              <a:t>📄 官方技術摘要（點選下方文字方塊可直接編輯內文）：</a:t>
            </a:r>
          </a:p>
        </p:txBody>
      </p:sp>
      <p:sp>
        <p:nvSpPr>
          <p:cNvPr id="8" name="文字方塊 7">
            <a:extLst>
              <a:ext uri="{FF2B5EF4-FFF2-40B4-BE49-F238E27FC236}">
                <a16:creationId xmlns:a16="http://schemas.microsoft.com/office/drawing/2014/main" id="{634094F3-82AA-23F7-5EB1-AECFA2B9703E}"/>
              </a:ext>
            </a:extLst>
          </p:cNvPr>
          <p:cNvSpPr txBox="1"/>
          <p:nvPr/>
        </p:nvSpPr>
        <p:spPr>
          <a:xfrm>
            <a:off x="698500" y="1371600"/>
            <a:ext cx="6858000" cy="623248"/>
          </a:xfrm>
          <a:prstGeom prst="rect">
            <a:avLst/>
          </a:prstGeom>
          <a:noFill/>
        </p:spPr>
        <p:txBody>
          <a:bodyPr vert="horz" rtlCol="0">
            <a:spAutoFit/>
          </a:bodyPr>
          <a:lstStyle/>
          <a:p>
            <a:r>
              <a:rPr lang="zh-TW" altLang="en-US" sz="1150">
                <a:solidFill>
                  <a:srgbClr val="1E293B"/>
                </a:solidFill>
                <a:latin typeface="微軟正黑體" panose="020B0604030504040204" pitchFamily="34" charset="-120"/>
              </a:rPr>
              <a:t>利用半導體製程，我們設計一種製程方法於超導金屬使 </a:t>
            </a:r>
            <a:r>
              <a:rPr lang="en-US" altLang="zh-TW" sz="1150">
                <a:solidFill>
                  <a:srgbClr val="1E293B"/>
                </a:solidFill>
                <a:latin typeface="微軟正黑體" panose="020B0604030504040204" pitchFamily="34" charset="-120"/>
              </a:rPr>
              <a:t>(a) </a:t>
            </a:r>
            <a:r>
              <a:rPr lang="zh-TW" altLang="en-US" sz="1150">
                <a:solidFill>
                  <a:srgbClr val="1E293B"/>
                </a:solidFill>
                <a:latin typeface="微軟正黑體" panose="020B0604030504040204" pitchFamily="34" charset="-120"/>
              </a:rPr>
              <a:t>導通金屬表面有良好電導性及 </a:t>
            </a:r>
            <a:r>
              <a:rPr lang="en-US" altLang="zh-TW" sz="1150">
                <a:solidFill>
                  <a:srgbClr val="1E293B"/>
                </a:solidFill>
                <a:latin typeface="微軟正黑體" panose="020B0604030504040204" pitchFamily="34" charset="-120"/>
              </a:rPr>
              <a:t>(b) </a:t>
            </a:r>
            <a:r>
              <a:rPr lang="zh-TW" altLang="en-US" sz="1150">
                <a:solidFill>
                  <a:srgbClr val="1E293B"/>
                </a:solidFill>
                <a:latin typeface="微軟正黑體" panose="020B0604030504040204" pitchFamily="34" charset="-120"/>
              </a:rPr>
              <a:t>生長於約瑟夫結的氧化鋁層。這項創新提出了蝕刻技術與氧化技術，改善通過導孔和柱狀結構的上下電極之間的金屬接觸，且不損壞底層金屬表面。此製程工藝為超導材料基礎上，實現製作約瑟夫結的方法。</a:t>
            </a:r>
          </a:p>
        </p:txBody>
      </p:sp>
      <p:sp>
        <p:nvSpPr>
          <p:cNvPr id="9" name="矩形 8">
            <a:extLst>
              <a:ext uri="{FF2B5EF4-FFF2-40B4-BE49-F238E27FC236}">
                <a16:creationId xmlns:a16="http://schemas.microsoft.com/office/drawing/2014/main" id="{261FA15E-9539-E776-38EC-F29B6F281CF7}"/>
              </a:ext>
            </a:extLst>
          </p:cNvPr>
          <p:cNvSpPr/>
          <p:nvPr/>
        </p:nvSpPr>
        <p:spPr>
          <a:xfrm>
            <a:off x="7937500" y="952500"/>
            <a:ext cx="3746500" cy="2603500"/>
          </a:xfrm>
          <a:prstGeom prst="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21B50796-875F-8857-2B60-C54468CD092C}"/>
              </a:ext>
            </a:extLst>
          </p:cNvPr>
          <p:cNvSpPr txBox="1"/>
          <p:nvPr/>
        </p:nvSpPr>
        <p:spPr>
          <a:xfrm>
            <a:off x="8128000" y="1041400"/>
            <a:ext cx="33655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基本資訊（點選可直接編輯文字）：</a:t>
            </a:r>
          </a:p>
        </p:txBody>
      </p:sp>
      <p:sp>
        <p:nvSpPr>
          <p:cNvPr id="11" name="文字方塊 10">
            <a:extLst>
              <a:ext uri="{FF2B5EF4-FFF2-40B4-BE49-F238E27FC236}">
                <a16:creationId xmlns:a16="http://schemas.microsoft.com/office/drawing/2014/main" id="{B47C7061-16C2-E75E-38A1-274D6FA01B61}"/>
              </a:ext>
            </a:extLst>
          </p:cNvPr>
          <p:cNvSpPr txBox="1"/>
          <p:nvPr/>
        </p:nvSpPr>
        <p:spPr>
          <a:xfrm>
            <a:off x="8128000" y="1371600"/>
            <a:ext cx="3365500" cy="1708160"/>
          </a:xfrm>
          <a:prstGeom prst="rect">
            <a:avLst/>
          </a:prstGeom>
          <a:noFill/>
        </p:spPr>
        <p:txBody>
          <a:bodyPr vert="horz" rtlCol="0">
            <a:spAutoFit/>
          </a:bodyPr>
          <a:lstStyle/>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家族編號：</a:t>
            </a:r>
            <a:r>
              <a:rPr lang="en-US" altLang="zh-TW" sz="1050">
                <a:solidFill>
                  <a:srgbClr val="1E293B"/>
                </a:solidFill>
                <a:latin typeface="微軟正黑體" panose="020B0604030504040204" pitchFamily="34" charset="-120"/>
              </a:rPr>
              <a:t>PF-001</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院內案件編號：</a:t>
            </a:r>
            <a:r>
              <a:rPr lang="en-US" altLang="zh-TW" sz="1050">
                <a:solidFill>
                  <a:srgbClr val="1E293B"/>
                </a:solidFill>
                <a:latin typeface="微軟正黑體" panose="020B0604030504040204" pitchFamily="34" charset="-120"/>
              </a:rPr>
              <a:t>34A-1131114</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技術領域：量子科技</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發明人：陳啟東</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公開日／申請日：</a:t>
            </a:r>
            <a:r>
              <a:rPr lang="en-US" altLang="zh-TW" sz="1050">
                <a:solidFill>
                  <a:srgbClr val="1E293B"/>
                </a:solidFill>
                <a:latin typeface="微軟正黑體" panose="020B0604030504040204" pitchFamily="34" charset="-120"/>
              </a:rPr>
              <a:t>2025-02-06</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法律狀態：專利申請中</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關聯計畫：量子電腦專題中心</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官方專屬網址：</a:t>
            </a:r>
            <a:r>
              <a:rPr lang="en-US" altLang="zh-TW" sz="1050">
                <a:solidFill>
                  <a:srgbClr val="1E293B"/>
                </a:solidFill>
                <a:latin typeface="微軟正黑體" panose="020B0604030504040204" pitchFamily="34" charset="-120"/>
              </a:rPr>
              <a:t>https://ticket.apps.sinica.edu.tw/tech/34A-1131114</a:t>
            </a:r>
            <a:endParaRPr lang="zh-TW" altLang="en-US" sz="1050">
              <a:solidFill>
                <a:srgbClr val="1E293B"/>
              </a:solidFill>
              <a:latin typeface="微軟正黑體" panose="020B0604030504040204" pitchFamily="34" charset="-120"/>
            </a:endParaRPr>
          </a:p>
        </p:txBody>
      </p:sp>
      <p:sp>
        <p:nvSpPr>
          <p:cNvPr id="12" name="文字方塊 11">
            <a:extLst>
              <a:ext uri="{FF2B5EF4-FFF2-40B4-BE49-F238E27FC236}">
                <a16:creationId xmlns:a16="http://schemas.microsoft.com/office/drawing/2014/main" id="{AAC36840-2D4D-2A40-2555-34605436B2F2}"/>
              </a:ext>
            </a:extLst>
          </p:cNvPr>
          <p:cNvSpPr txBox="1"/>
          <p:nvPr/>
        </p:nvSpPr>
        <p:spPr>
          <a:xfrm>
            <a:off x="508000" y="3683000"/>
            <a:ext cx="111760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各國專利申請佈局明細表（點選表格儲存格可直接編輯案號、日期或備註）：</a:t>
            </a:r>
          </a:p>
        </p:txBody>
      </p:sp>
      <p:graphicFrame>
        <p:nvGraphicFramePr>
          <p:cNvPr id="13" name="表格 12">
            <a:extLst>
              <a:ext uri="{FF2B5EF4-FFF2-40B4-BE49-F238E27FC236}">
                <a16:creationId xmlns:a16="http://schemas.microsoft.com/office/drawing/2014/main" id="{1B4919E8-C367-3DB4-5CC4-DA6D566FF64B}"/>
              </a:ext>
            </a:extLst>
          </p:cNvPr>
          <p:cNvGraphicFramePr>
            <a:graphicFrameLocks noGrp="1"/>
          </p:cNvGraphicFramePr>
          <p:nvPr>
            <p:extLst>
              <p:ext uri="{D42A27DB-BD31-4B8C-83A1-F6EECF244321}">
                <p14:modId xmlns:p14="http://schemas.microsoft.com/office/powerpoint/2010/main" val="3470508829"/>
              </p:ext>
            </p:extLst>
          </p:nvPr>
        </p:nvGraphicFramePr>
        <p:xfrm>
          <a:off x="508000" y="4038600"/>
          <a:ext cx="11176000" cy="2286000"/>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2076242760"/>
                    </a:ext>
                  </a:extLst>
                </a:gridCol>
                <a:gridCol w="1397000">
                  <a:extLst>
                    <a:ext uri="{9D8B030D-6E8A-4147-A177-3AD203B41FA5}">
                      <a16:colId xmlns:a16="http://schemas.microsoft.com/office/drawing/2014/main" val="650392716"/>
                    </a:ext>
                  </a:extLst>
                </a:gridCol>
                <a:gridCol w="1016000">
                  <a:extLst>
                    <a:ext uri="{9D8B030D-6E8A-4147-A177-3AD203B41FA5}">
                      <a16:colId xmlns:a16="http://schemas.microsoft.com/office/drawing/2014/main" val="1507272942"/>
                    </a:ext>
                  </a:extLst>
                </a:gridCol>
                <a:gridCol w="1587500">
                  <a:extLst>
                    <a:ext uri="{9D8B030D-6E8A-4147-A177-3AD203B41FA5}">
                      <a16:colId xmlns:a16="http://schemas.microsoft.com/office/drawing/2014/main" val="2844473530"/>
                    </a:ext>
                  </a:extLst>
                </a:gridCol>
                <a:gridCol w="1143000">
                  <a:extLst>
                    <a:ext uri="{9D8B030D-6E8A-4147-A177-3AD203B41FA5}">
                      <a16:colId xmlns:a16="http://schemas.microsoft.com/office/drawing/2014/main" val="236329546"/>
                    </a:ext>
                  </a:extLst>
                </a:gridCol>
                <a:gridCol w="1270000">
                  <a:extLst>
                    <a:ext uri="{9D8B030D-6E8A-4147-A177-3AD203B41FA5}">
                      <a16:colId xmlns:a16="http://schemas.microsoft.com/office/drawing/2014/main" val="1400383410"/>
                    </a:ext>
                  </a:extLst>
                </a:gridCol>
                <a:gridCol w="3683000">
                  <a:extLst>
                    <a:ext uri="{9D8B030D-6E8A-4147-A177-3AD203B41FA5}">
                      <a16:colId xmlns:a16="http://schemas.microsoft.com/office/drawing/2014/main" val="3264279144"/>
                    </a:ext>
                  </a:extLst>
                </a:gridCol>
              </a:tblGrid>
              <a:tr h="762000">
                <a:tc>
                  <a:txBody>
                    <a:bodyPr/>
                    <a:lstStyle/>
                    <a:p>
                      <a:r>
                        <a:rPr lang="zh-TW" altLang="en-US" sz="1000" b="1">
                          <a:solidFill>
                            <a:srgbClr val="FFFFFF"/>
                          </a:solidFill>
                          <a:latin typeface="微軟正黑體" panose="020B0604030504040204" pitchFamily="34" charset="-120"/>
                        </a:rPr>
                        <a:t>國家／地區</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案件編號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申請類型</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申請案號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申請日期</a:t>
                      </a:r>
                    </a:p>
                  </a:txBody>
                  <a:tcPr>
                    <a:solidFill>
                      <a:srgbClr val="334155"/>
                    </a:solidFill>
                  </a:tcPr>
                </a:tc>
                <a:tc>
                  <a:txBody>
                    <a:bodyPr/>
                    <a:lstStyle/>
                    <a:p>
                      <a:r>
                        <a:rPr lang="zh-TW" altLang="en-US" sz="1000" b="1">
                          <a:solidFill>
                            <a:srgbClr val="FFFFFF"/>
                          </a:solidFill>
                          <a:latin typeface="微軟正黑體" panose="020B0604030504040204" pitchFamily="34" charset="-120"/>
                        </a:rPr>
                        <a:t>專利證號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案件狀態／備註</a:t>
                      </a:r>
                    </a:p>
                  </a:txBody>
                  <a:tcPr>
                    <a:solidFill>
                      <a:srgbClr val="334155"/>
                    </a:solidFill>
                  </a:tcPr>
                </a:tc>
                <a:extLst>
                  <a:ext uri="{0D108BD9-81ED-4DB2-BD59-A6C34878D82A}">
                    <a16:rowId xmlns:a16="http://schemas.microsoft.com/office/drawing/2014/main" val="1427994911"/>
                  </a:ext>
                </a:extLst>
              </a:tr>
              <a:tr h="762000">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34A-1131114</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臨時案</a:t>
                      </a:r>
                    </a:p>
                  </a:txBody>
                  <a:tcPr>
                    <a:solidFill>
                      <a:srgbClr val="FFFFFF"/>
                    </a:solidFill>
                  </a:tcPr>
                </a:tc>
                <a:tc>
                  <a:txBody>
                    <a:bodyPr/>
                    <a:lstStyle/>
                    <a:p>
                      <a:r>
                        <a:rPr lang="en-US" altLang="zh-TW" sz="950">
                          <a:solidFill>
                            <a:srgbClr val="1E293B"/>
                          </a:solidFill>
                          <a:latin typeface="微軟正黑體" panose="020B0604030504040204" pitchFamily="34" charset="-120"/>
                        </a:rPr>
                        <a:t>63/748,971</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2025-01-24</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沒有轉正式案</a:t>
                      </a:r>
                    </a:p>
                  </a:txBody>
                  <a:tcPr>
                    <a:solidFill>
                      <a:srgbClr val="FFFFFF"/>
                    </a:solidFill>
                  </a:tcPr>
                </a:tc>
                <a:extLst>
                  <a:ext uri="{0D108BD9-81ED-4DB2-BD59-A6C34878D82A}">
                    <a16:rowId xmlns:a16="http://schemas.microsoft.com/office/drawing/2014/main" val="1019097652"/>
                  </a:ext>
                </a:extLst>
              </a:tr>
              <a:tr h="762000">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34A-1131114b</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臨時案</a:t>
                      </a:r>
                    </a:p>
                  </a:txBody>
                  <a:tcPr>
                    <a:solidFill>
                      <a:srgbClr val="F8FAFC"/>
                    </a:solidFill>
                  </a:tcPr>
                </a:tc>
                <a:tc>
                  <a:txBody>
                    <a:bodyPr/>
                    <a:lstStyle/>
                    <a:p>
                      <a:r>
                        <a:rPr lang="en-US" altLang="zh-TW" sz="950">
                          <a:solidFill>
                            <a:srgbClr val="1E293B"/>
                          </a:solidFill>
                          <a:latin typeface="微軟正黑體" panose="020B0604030504040204" pitchFamily="34" charset="-120"/>
                        </a:rPr>
                        <a:t>64/056,264</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2026-05-04</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補一些技術，申請另外一個臨時案（優先權案）</a:t>
                      </a:r>
                    </a:p>
                  </a:txBody>
                  <a:tcPr>
                    <a:solidFill>
                      <a:srgbClr val="F8FAFC"/>
                    </a:solidFill>
                  </a:tcPr>
                </a:tc>
                <a:extLst>
                  <a:ext uri="{0D108BD9-81ED-4DB2-BD59-A6C34878D82A}">
                    <a16:rowId xmlns:a16="http://schemas.microsoft.com/office/drawing/2014/main" val="2445897993"/>
                  </a:ext>
                </a:extLst>
              </a:tr>
            </a:tbl>
          </a:graphicData>
        </a:graphic>
      </p:graphicFrame>
    </p:spTree>
    <p:extLst>
      <p:ext uri="{BB962C8B-B14F-4D97-AF65-F5344CB8AC3E}">
        <p14:creationId xmlns:p14="http://schemas.microsoft.com/office/powerpoint/2010/main" val="333758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72E732F-BE8C-C0AA-AFDC-A96FDACF2427}"/>
              </a:ext>
            </a:extLst>
          </p:cNvPr>
          <p:cNvSpPr/>
          <p:nvPr/>
        </p:nvSpPr>
        <p:spPr>
          <a:xfrm>
            <a:off x="0" y="0"/>
            <a:ext cx="12192000" cy="762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D4A490F0-4BFA-1FCB-1FA6-5995408F4B17}"/>
              </a:ext>
            </a:extLst>
          </p:cNvPr>
          <p:cNvSpPr/>
          <p:nvPr/>
        </p:nvSpPr>
        <p:spPr>
          <a:xfrm>
            <a:off x="508000" y="254000"/>
            <a:ext cx="1206500" cy="3048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太陽能</a:t>
            </a:r>
          </a:p>
        </p:txBody>
      </p:sp>
      <p:sp>
        <p:nvSpPr>
          <p:cNvPr id="4" name="文字方塊 3">
            <a:extLst>
              <a:ext uri="{FF2B5EF4-FFF2-40B4-BE49-F238E27FC236}">
                <a16:creationId xmlns:a16="http://schemas.microsoft.com/office/drawing/2014/main" id="{857E207A-9B8A-5E86-1447-E1E94D785036}"/>
              </a:ext>
            </a:extLst>
          </p:cNvPr>
          <p:cNvSpPr txBox="1"/>
          <p:nvPr/>
        </p:nvSpPr>
        <p:spPr>
          <a:xfrm>
            <a:off x="1841500" y="177800"/>
            <a:ext cx="9842500" cy="307777"/>
          </a:xfrm>
          <a:prstGeom prst="rect">
            <a:avLst/>
          </a:prstGeom>
          <a:noFill/>
        </p:spPr>
        <p:txBody>
          <a:bodyPr vert="horz" lIns="0" tIns="0" rtlCol="0">
            <a:spAutoFit/>
          </a:bodyPr>
          <a:lstStyle/>
          <a:p>
            <a:r>
              <a:rPr lang="en-US" altLang="zh-TW" sz="1700" b="1">
                <a:solidFill>
                  <a:srgbClr val="0F172A"/>
                </a:solidFill>
                <a:latin typeface="微軟正黑體" panose="020B0604030504040204" pitchFamily="34" charset="-120"/>
              </a:rPr>
              <a:t>【PF-002】 </a:t>
            </a:r>
            <a:r>
              <a:rPr lang="zh-TW" altLang="en-US" sz="1700" b="1">
                <a:solidFill>
                  <a:srgbClr val="0F172A"/>
                </a:solidFill>
                <a:latin typeface="微軟正黑體" panose="020B0604030504040204" pitchFamily="34" charset="-120"/>
              </a:rPr>
              <a:t>一種適用太陽電池穩定度量測之外包裝真空盒</a:t>
            </a:r>
          </a:p>
        </p:txBody>
      </p:sp>
      <p:sp>
        <p:nvSpPr>
          <p:cNvPr id="5" name="文字方塊 4">
            <a:extLst>
              <a:ext uri="{FF2B5EF4-FFF2-40B4-BE49-F238E27FC236}">
                <a16:creationId xmlns:a16="http://schemas.microsoft.com/office/drawing/2014/main" id="{9113525D-D511-6EE0-C357-325E1E09AA95}"/>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智財成果詳情專頁 </a:t>
            </a:r>
            <a:r>
              <a:rPr lang="en-US" altLang="zh-TW" sz="1100">
                <a:solidFill>
                  <a:srgbClr val="64748B"/>
                </a:solidFill>
                <a:latin typeface="微軟正黑體" panose="020B0604030504040204" pitchFamily="34" charset="-120"/>
              </a:rPr>
              <a:t>(#patent/PF-002) </a:t>
            </a:r>
            <a:r>
              <a:rPr lang="zh-TW" altLang="en-US" sz="1100">
                <a:solidFill>
                  <a:srgbClr val="64748B"/>
                </a:solidFill>
                <a:latin typeface="微軟正黑體" panose="020B0604030504040204" pitchFamily="34" charset="-120"/>
              </a:rPr>
              <a:t>｜ 院內案件編號：</a:t>
            </a:r>
            <a:r>
              <a:rPr lang="en-US" altLang="zh-TW" sz="1100">
                <a:solidFill>
                  <a:srgbClr val="64748B"/>
                </a:solidFill>
                <a:latin typeface="微軟正黑體" panose="020B0604030504040204" pitchFamily="34" charset="-120"/>
              </a:rPr>
              <a:t>34A-1140709</a:t>
            </a:r>
            <a:endParaRPr lang="zh-TW" altLang="en-US" sz="1100">
              <a:solidFill>
                <a:srgbClr val="64748B"/>
              </a:solidFill>
              <a:latin typeface="微軟正黑體" panose="020B0604030504040204" pitchFamily="34" charset="-120"/>
            </a:endParaRPr>
          </a:p>
        </p:txBody>
      </p:sp>
      <p:sp>
        <p:nvSpPr>
          <p:cNvPr id="6" name="矩形 5">
            <a:extLst>
              <a:ext uri="{FF2B5EF4-FFF2-40B4-BE49-F238E27FC236}">
                <a16:creationId xmlns:a16="http://schemas.microsoft.com/office/drawing/2014/main" id="{36323B31-D6AC-0544-7989-80B4DDBBDF56}"/>
              </a:ext>
            </a:extLst>
          </p:cNvPr>
          <p:cNvSpPr/>
          <p:nvPr/>
        </p:nvSpPr>
        <p:spPr>
          <a:xfrm>
            <a:off x="508000" y="952500"/>
            <a:ext cx="7239000" cy="2603500"/>
          </a:xfrm>
          <a:prstGeom prst="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11DA432D-D233-4910-30BF-CBB179A5E260}"/>
              </a:ext>
            </a:extLst>
          </p:cNvPr>
          <p:cNvSpPr txBox="1"/>
          <p:nvPr/>
        </p:nvSpPr>
        <p:spPr>
          <a:xfrm>
            <a:off x="698500" y="1041400"/>
            <a:ext cx="6858000" cy="276999"/>
          </a:xfrm>
          <a:prstGeom prst="rect">
            <a:avLst/>
          </a:prstGeom>
          <a:noFill/>
        </p:spPr>
        <p:txBody>
          <a:bodyPr vert="horz" rtlCol="0">
            <a:spAutoFit/>
          </a:bodyPr>
          <a:lstStyle/>
          <a:p>
            <a:r>
              <a:rPr lang="zh-TW" altLang="en-US" sz="1200" b="1">
                <a:solidFill>
                  <a:srgbClr val="0E387A"/>
                </a:solidFill>
                <a:latin typeface="微軟正黑體" panose="020B0604030504040204" pitchFamily="34" charset="-120"/>
              </a:rPr>
              <a:t>📄 官方技術摘要（點選下方文字方塊可直接編輯內文）：</a:t>
            </a:r>
          </a:p>
        </p:txBody>
      </p:sp>
      <p:sp>
        <p:nvSpPr>
          <p:cNvPr id="8" name="文字方塊 7">
            <a:extLst>
              <a:ext uri="{FF2B5EF4-FFF2-40B4-BE49-F238E27FC236}">
                <a16:creationId xmlns:a16="http://schemas.microsoft.com/office/drawing/2014/main" id="{35738F00-DA1F-24AC-A053-7659FD0EC4F4}"/>
              </a:ext>
            </a:extLst>
          </p:cNvPr>
          <p:cNvSpPr txBox="1"/>
          <p:nvPr/>
        </p:nvSpPr>
        <p:spPr>
          <a:xfrm>
            <a:off x="698500" y="1371600"/>
            <a:ext cx="6858000" cy="269304"/>
          </a:xfrm>
          <a:prstGeom prst="rect">
            <a:avLst/>
          </a:prstGeom>
          <a:noFill/>
        </p:spPr>
        <p:txBody>
          <a:bodyPr vert="horz" rtlCol="0">
            <a:spAutoFit/>
          </a:bodyPr>
          <a:lstStyle/>
          <a:p>
            <a:r>
              <a:rPr lang="zh-TW" altLang="en-US" sz="1150">
                <a:solidFill>
                  <a:srgbClr val="1E293B"/>
                </a:solidFill>
                <a:latin typeface="微軟正黑體" panose="020B0604030504040204" pitchFamily="34" charset="-120"/>
              </a:rPr>
              <a:t>一種取代太陽能元件封裝的盒子，真空環境保存模擬封裝狀態，用於太陽電池穩定度量測。</a:t>
            </a:r>
          </a:p>
        </p:txBody>
      </p:sp>
      <p:sp>
        <p:nvSpPr>
          <p:cNvPr id="9" name="矩形 8">
            <a:extLst>
              <a:ext uri="{FF2B5EF4-FFF2-40B4-BE49-F238E27FC236}">
                <a16:creationId xmlns:a16="http://schemas.microsoft.com/office/drawing/2014/main" id="{380C13FF-F2A6-6869-A307-22FCAEAE59B6}"/>
              </a:ext>
            </a:extLst>
          </p:cNvPr>
          <p:cNvSpPr/>
          <p:nvPr/>
        </p:nvSpPr>
        <p:spPr>
          <a:xfrm>
            <a:off x="7937500" y="952500"/>
            <a:ext cx="3746500" cy="2603500"/>
          </a:xfrm>
          <a:prstGeom prst="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A24AED8A-89F8-3B71-8174-1A1017911B75}"/>
              </a:ext>
            </a:extLst>
          </p:cNvPr>
          <p:cNvSpPr txBox="1"/>
          <p:nvPr/>
        </p:nvSpPr>
        <p:spPr>
          <a:xfrm>
            <a:off x="8128000" y="1041400"/>
            <a:ext cx="33655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基本資訊（點選可直接編輯文字）：</a:t>
            </a:r>
          </a:p>
        </p:txBody>
      </p:sp>
      <p:sp>
        <p:nvSpPr>
          <p:cNvPr id="11" name="文字方塊 10">
            <a:extLst>
              <a:ext uri="{FF2B5EF4-FFF2-40B4-BE49-F238E27FC236}">
                <a16:creationId xmlns:a16="http://schemas.microsoft.com/office/drawing/2014/main" id="{23652C57-F376-B9C9-5E81-4CEBAC1BC47B}"/>
              </a:ext>
            </a:extLst>
          </p:cNvPr>
          <p:cNvSpPr txBox="1"/>
          <p:nvPr/>
        </p:nvSpPr>
        <p:spPr>
          <a:xfrm>
            <a:off x="8128000" y="1371600"/>
            <a:ext cx="3365500" cy="1708160"/>
          </a:xfrm>
          <a:prstGeom prst="rect">
            <a:avLst/>
          </a:prstGeom>
          <a:noFill/>
        </p:spPr>
        <p:txBody>
          <a:bodyPr vert="horz" rtlCol="0">
            <a:spAutoFit/>
          </a:bodyPr>
          <a:lstStyle/>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家族編號：</a:t>
            </a:r>
            <a:r>
              <a:rPr lang="en-US" altLang="zh-TW" sz="1050">
                <a:solidFill>
                  <a:srgbClr val="1E293B"/>
                </a:solidFill>
                <a:latin typeface="微軟正黑體" panose="020B0604030504040204" pitchFamily="34" charset="-120"/>
              </a:rPr>
              <a:t>PF-002</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院內案件編號：</a:t>
            </a:r>
            <a:r>
              <a:rPr lang="en-US" altLang="zh-TW" sz="1050">
                <a:solidFill>
                  <a:srgbClr val="1E293B"/>
                </a:solidFill>
                <a:latin typeface="微軟正黑體" panose="020B0604030504040204" pitchFamily="34" charset="-120"/>
              </a:rPr>
              <a:t>34A-1140709</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技術領域：太陽能</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發明人：朱治偉、郭宗枋</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公開日／申請日：</a:t>
            </a:r>
            <a:r>
              <a:rPr lang="en-US" altLang="zh-TW" sz="1050">
                <a:solidFill>
                  <a:srgbClr val="1E293B"/>
                </a:solidFill>
                <a:latin typeface="微軟正黑體" panose="020B0604030504040204" pitchFamily="34" charset="-120"/>
              </a:rPr>
              <a:t>2025-08-08</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法律狀態：專利申請中</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關聯計畫：下世代太陽能電池研究計畫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官方專屬網址：</a:t>
            </a:r>
            <a:r>
              <a:rPr lang="en-US" altLang="zh-TW" sz="1050">
                <a:solidFill>
                  <a:srgbClr val="1E293B"/>
                </a:solidFill>
                <a:latin typeface="微軟正黑體" panose="020B0604030504040204" pitchFamily="34" charset="-120"/>
              </a:rPr>
              <a:t>https://ticket.apps.sinica.edu.tw/tech/34A-1140709</a:t>
            </a:r>
            <a:endParaRPr lang="zh-TW" altLang="en-US" sz="1050">
              <a:solidFill>
                <a:srgbClr val="1E293B"/>
              </a:solidFill>
              <a:latin typeface="微軟正黑體" panose="020B0604030504040204" pitchFamily="34" charset="-120"/>
            </a:endParaRPr>
          </a:p>
        </p:txBody>
      </p:sp>
      <p:sp>
        <p:nvSpPr>
          <p:cNvPr id="12" name="文字方塊 11">
            <a:extLst>
              <a:ext uri="{FF2B5EF4-FFF2-40B4-BE49-F238E27FC236}">
                <a16:creationId xmlns:a16="http://schemas.microsoft.com/office/drawing/2014/main" id="{84461763-E24F-9C08-586D-E17E0DFFE7B2}"/>
              </a:ext>
            </a:extLst>
          </p:cNvPr>
          <p:cNvSpPr txBox="1"/>
          <p:nvPr/>
        </p:nvSpPr>
        <p:spPr>
          <a:xfrm>
            <a:off x="508000" y="3683000"/>
            <a:ext cx="111760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各國專利申請佈局明細表（點選表格儲存格可直接編輯案號、日期或備註）：</a:t>
            </a:r>
          </a:p>
        </p:txBody>
      </p:sp>
      <p:graphicFrame>
        <p:nvGraphicFramePr>
          <p:cNvPr id="13" name="表格 12">
            <a:extLst>
              <a:ext uri="{FF2B5EF4-FFF2-40B4-BE49-F238E27FC236}">
                <a16:creationId xmlns:a16="http://schemas.microsoft.com/office/drawing/2014/main" id="{600E0701-3E43-4D3D-6441-1A8200B0A43A}"/>
              </a:ext>
            </a:extLst>
          </p:cNvPr>
          <p:cNvGraphicFramePr>
            <a:graphicFrameLocks noGrp="1"/>
          </p:cNvGraphicFramePr>
          <p:nvPr>
            <p:extLst>
              <p:ext uri="{D42A27DB-BD31-4B8C-83A1-F6EECF244321}">
                <p14:modId xmlns:p14="http://schemas.microsoft.com/office/powerpoint/2010/main" val="4230111811"/>
              </p:ext>
            </p:extLst>
          </p:nvPr>
        </p:nvGraphicFramePr>
        <p:xfrm>
          <a:off x="508000" y="4038600"/>
          <a:ext cx="11176000" cy="2286000"/>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723894398"/>
                    </a:ext>
                  </a:extLst>
                </a:gridCol>
                <a:gridCol w="1397000">
                  <a:extLst>
                    <a:ext uri="{9D8B030D-6E8A-4147-A177-3AD203B41FA5}">
                      <a16:colId xmlns:a16="http://schemas.microsoft.com/office/drawing/2014/main" val="3968866848"/>
                    </a:ext>
                  </a:extLst>
                </a:gridCol>
                <a:gridCol w="1016000">
                  <a:extLst>
                    <a:ext uri="{9D8B030D-6E8A-4147-A177-3AD203B41FA5}">
                      <a16:colId xmlns:a16="http://schemas.microsoft.com/office/drawing/2014/main" val="3443509982"/>
                    </a:ext>
                  </a:extLst>
                </a:gridCol>
                <a:gridCol w="1587500">
                  <a:extLst>
                    <a:ext uri="{9D8B030D-6E8A-4147-A177-3AD203B41FA5}">
                      <a16:colId xmlns:a16="http://schemas.microsoft.com/office/drawing/2014/main" val="4154067689"/>
                    </a:ext>
                  </a:extLst>
                </a:gridCol>
                <a:gridCol w="1143000">
                  <a:extLst>
                    <a:ext uri="{9D8B030D-6E8A-4147-A177-3AD203B41FA5}">
                      <a16:colId xmlns:a16="http://schemas.microsoft.com/office/drawing/2014/main" val="3758498512"/>
                    </a:ext>
                  </a:extLst>
                </a:gridCol>
                <a:gridCol w="1270000">
                  <a:extLst>
                    <a:ext uri="{9D8B030D-6E8A-4147-A177-3AD203B41FA5}">
                      <a16:colId xmlns:a16="http://schemas.microsoft.com/office/drawing/2014/main" val="217442115"/>
                    </a:ext>
                  </a:extLst>
                </a:gridCol>
                <a:gridCol w="3683000">
                  <a:extLst>
                    <a:ext uri="{9D8B030D-6E8A-4147-A177-3AD203B41FA5}">
                      <a16:colId xmlns:a16="http://schemas.microsoft.com/office/drawing/2014/main" val="3217405464"/>
                    </a:ext>
                  </a:extLst>
                </a:gridCol>
              </a:tblGrid>
              <a:tr h="1143000">
                <a:tc>
                  <a:txBody>
                    <a:bodyPr/>
                    <a:lstStyle/>
                    <a:p>
                      <a:r>
                        <a:rPr lang="zh-TW" altLang="en-US" sz="1000" b="1">
                          <a:solidFill>
                            <a:srgbClr val="FFFFFF"/>
                          </a:solidFill>
                          <a:latin typeface="微軟正黑體" panose="020B0604030504040204" pitchFamily="34" charset="-120"/>
                        </a:rPr>
                        <a:t>國家／地區</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案件編號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申請類型</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申請案號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申請日期</a:t>
                      </a:r>
                    </a:p>
                  </a:txBody>
                  <a:tcPr>
                    <a:solidFill>
                      <a:srgbClr val="334155"/>
                    </a:solidFill>
                  </a:tcPr>
                </a:tc>
                <a:tc>
                  <a:txBody>
                    <a:bodyPr/>
                    <a:lstStyle/>
                    <a:p>
                      <a:r>
                        <a:rPr lang="zh-TW" altLang="en-US" sz="1000" b="1">
                          <a:solidFill>
                            <a:srgbClr val="FFFFFF"/>
                          </a:solidFill>
                          <a:latin typeface="微軟正黑體" panose="020B0604030504040204" pitchFamily="34" charset="-120"/>
                        </a:rPr>
                        <a:t>專利證號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案件狀態／備註</a:t>
                      </a:r>
                    </a:p>
                  </a:txBody>
                  <a:tcPr>
                    <a:solidFill>
                      <a:srgbClr val="334155"/>
                    </a:solidFill>
                  </a:tcPr>
                </a:tc>
                <a:extLst>
                  <a:ext uri="{0D108BD9-81ED-4DB2-BD59-A6C34878D82A}">
                    <a16:rowId xmlns:a16="http://schemas.microsoft.com/office/drawing/2014/main" val="1642868872"/>
                  </a:ext>
                </a:extLst>
              </a:tr>
              <a:tr h="1143000">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34A-1140709</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臨時案</a:t>
                      </a:r>
                    </a:p>
                  </a:txBody>
                  <a:tcPr>
                    <a:solidFill>
                      <a:srgbClr val="FFFFFF"/>
                    </a:solidFill>
                  </a:tcPr>
                </a:tc>
                <a:tc>
                  <a:txBody>
                    <a:bodyPr/>
                    <a:lstStyle/>
                    <a:p>
                      <a:r>
                        <a:rPr lang="en-US" altLang="zh-TW" sz="950">
                          <a:solidFill>
                            <a:srgbClr val="1E293B"/>
                          </a:solidFill>
                          <a:latin typeface="微軟正黑體" panose="020B0604030504040204" pitchFamily="34" charset="-120"/>
                        </a:rPr>
                        <a:t>63/899829</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2025-10-15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沒有轉正式案</a:t>
                      </a:r>
                    </a:p>
                  </a:txBody>
                  <a:tcPr>
                    <a:solidFill>
                      <a:srgbClr val="FFFFFF"/>
                    </a:solidFill>
                  </a:tcPr>
                </a:tc>
                <a:extLst>
                  <a:ext uri="{0D108BD9-81ED-4DB2-BD59-A6C34878D82A}">
                    <a16:rowId xmlns:a16="http://schemas.microsoft.com/office/drawing/2014/main" val="2166072572"/>
                  </a:ext>
                </a:extLst>
              </a:tr>
            </a:tbl>
          </a:graphicData>
        </a:graphic>
      </p:graphicFrame>
    </p:spTree>
    <p:extLst>
      <p:ext uri="{BB962C8B-B14F-4D97-AF65-F5344CB8AC3E}">
        <p14:creationId xmlns:p14="http://schemas.microsoft.com/office/powerpoint/2010/main" val="623720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DC203B9-8F2A-6B3A-E7C7-4E14DC46A25B}"/>
              </a:ext>
            </a:extLst>
          </p:cNvPr>
          <p:cNvSpPr/>
          <p:nvPr/>
        </p:nvSpPr>
        <p:spPr>
          <a:xfrm>
            <a:off x="0" y="0"/>
            <a:ext cx="12192000" cy="762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491620DC-07CB-D957-D75A-9C500A7106F2}"/>
              </a:ext>
            </a:extLst>
          </p:cNvPr>
          <p:cNvSpPr/>
          <p:nvPr/>
        </p:nvSpPr>
        <p:spPr>
          <a:xfrm>
            <a:off x="508000" y="254000"/>
            <a:ext cx="1206500" cy="3048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太陽能</a:t>
            </a:r>
          </a:p>
        </p:txBody>
      </p:sp>
      <p:sp>
        <p:nvSpPr>
          <p:cNvPr id="4" name="文字方塊 3">
            <a:extLst>
              <a:ext uri="{FF2B5EF4-FFF2-40B4-BE49-F238E27FC236}">
                <a16:creationId xmlns:a16="http://schemas.microsoft.com/office/drawing/2014/main" id="{90435168-FA3E-0B45-4302-59863A041768}"/>
              </a:ext>
            </a:extLst>
          </p:cNvPr>
          <p:cNvSpPr txBox="1"/>
          <p:nvPr/>
        </p:nvSpPr>
        <p:spPr>
          <a:xfrm>
            <a:off x="1841500" y="177800"/>
            <a:ext cx="9842500" cy="307777"/>
          </a:xfrm>
          <a:prstGeom prst="rect">
            <a:avLst/>
          </a:prstGeom>
          <a:noFill/>
        </p:spPr>
        <p:txBody>
          <a:bodyPr vert="horz" lIns="0" tIns="0" rtlCol="0">
            <a:spAutoFit/>
          </a:bodyPr>
          <a:lstStyle/>
          <a:p>
            <a:r>
              <a:rPr lang="en-US" altLang="zh-TW" sz="1700" b="1">
                <a:solidFill>
                  <a:srgbClr val="0F172A"/>
                </a:solidFill>
                <a:latin typeface="微軟正黑體" panose="020B0604030504040204" pitchFamily="34" charset="-120"/>
              </a:rPr>
              <a:t>【PF-003】 TOPCon</a:t>
            </a:r>
            <a:r>
              <a:rPr lang="zh-TW" altLang="en-US" sz="1700" b="1">
                <a:solidFill>
                  <a:srgbClr val="0F172A"/>
                </a:solidFill>
                <a:latin typeface="微軟正黑體" panose="020B0604030504040204" pitchFamily="34" charset="-120"/>
              </a:rPr>
              <a:t>表面改質方法以利鈣鈦礦疊層設計</a:t>
            </a:r>
          </a:p>
        </p:txBody>
      </p:sp>
      <p:sp>
        <p:nvSpPr>
          <p:cNvPr id="5" name="文字方塊 4">
            <a:extLst>
              <a:ext uri="{FF2B5EF4-FFF2-40B4-BE49-F238E27FC236}">
                <a16:creationId xmlns:a16="http://schemas.microsoft.com/office/drawing/2014/main" id="{95960FE1-C088-3209-65A1-C3D68292D23F}"/>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智財成果詳情專頁 </a:t>
            </a:r>
            <a:r>
              <a:rPr lang="en-US" altLang="zh-TW" sz="1100">
                <a:solidFill>
                  <a:srgbClr val="64748B"/>
                </a:solidFill>
                <a:latin typeface="微軟正黑體" panose="020B0604030504040204" pitchFamily="34" charset="-120"/>
              </a:rPr>
              <a:t>(#patent/PF-003) </a:t>
            </a:r>
            <a:r>
              <a:rPr lang="zh-TW" altLang="en-US" sz="1100">
                <a:solidFill>
                  <a:srgbClr val="64748B"/>
                </a:solidFill>
                <a:latin typeface="微軟正黑體" panose="020B0604030504040204" pitchFamily="34" charset="-120"/>
              </a:rPr>
              <a:t>｜ 院內案件編號：</a:t>
            </a:r>
            <a:r>
              <a:rPr lang="en-US" altLang="zh-TW" sz="1100">
                <a:solidFill>
                  <a:srgbClr val="64748B"/>
                </a:solidFill>
                <a:latin typeface="微軟正黑體" panose="020B0604030504040204" pitchFamily="34" charset="-120"/>
              </a:rPr>
              <a:t>34A-1150223</a:t>
            </a:r>
            <a:endParaRPr lang="zh-TW" altLang="en-US" sz="1100">
              <a:solidFill>
                <a:srgbClr val="64748B"/>
              </a:solidFill>
              <a:latin typeface="微軟正黑體" panose="020B0604030504040204" pitchFamily="34" charset="-120"/>
            </a:endParaRPr>
          </a:p>
        </p:txBody>
      </p:sp>
      <p:sp>
        <p:nvSpPr>
          <p:cNvPr id="6" name="矩形 5">
            <a:extLst>
              <a:ext uri="{FF2B5EF4-FFF2-40B4-BE49-F238E27FC236}">
                <a16:creationId xmlns:a16="http://schemas.microsoft.com/office/drawing/2014/main" id="{8BEB257B-1998-44DB-D341-0E534DCC42D8}"/>
              </a:ext>
            </a:extLst>
          </p:cNvPr>
          <p:cNvSpPr/>
          <p:nvPr/>
        </p:nvSpPr>
        <p:spPr>
          <a:xfrm>
            <a:off x="508000" y="952500"/>
            <a:ext cx="7239000" cy="2603500"/>
          </a:xfrm>
          <a:prstGeom prst="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6F43C642-4860-033C-3697-6FB8D2170813}"/>
              </a:ext>
            </a:extLst>
          </p:cNvPr>
          <p:cNvSpPr txBox="1"/>
          <p:nvPr/>
        </p:nvSpPr>
        <p:spPr>
          <a:xfrm>
            <a:off x="698500" y="1041400"/>
            <a:ext cx="6858000" cy="276999"/>
          </a:xfrm>
          <a:prstGeom prst="rect">
            <a:avLst/>
          </a:prstGeom>
          <a:noFill/>
        </p:spPr>
        <p:txBody>
          <a:bodyPr vert="horz" rtlCol="0">
            <a:spAutoFit/>
          </a:bodyPr>
          <a:lstStyle/>
          <a:p>
            <a:r>
              <a:rPr lang="zh-TW" altLang="en-US" sz="1200" b="1">
                <a:solidFill>
                  <a:srgbClr val="0E387A"/>
                </a:solidFill>
                <a:latin typeface="微軟正黑體" panose="020B0604030504040204" pitchFamily="34" charset="-120"/>
              </a:rPr>
              <a:t>📄 官方技術摘要（點選下方文字方塊可直接編輯內文）：</a:t>
            </a:r>
          </a:p>
        </p:txBody>
      </p:sp>
      <p:sp>
        <p:nvSpPr>
          <p:cNvPr id="8" name="文字方塊 7">
            <a:extLst>
              <a:ext uri="{FF2B5EF4-FFF2-40B4-BE49-F238E27FC236}">
                <a16:creationId xmlns:a16="http://schemas.microsoft.com/office/drawing/2014/main" id="{3D9182B7-3031-3C4B-AEDF-8CDA67B9E214}"/>
              </a:ext>
            </a:extLst>
          </p:cNvPr>
          <p:cNvSpPr txBox="1"/>
          <p:nvPr/>
        </p:nvSpPr>
        <p:spPr>
          <a:xfrm>
            <a:off x="698500" y="1371600"/>
            <a:ext cx="6858000" cy="446276"/>
          </a:xfrm>
          <a:prstGeom prst="rect">
            <a:avLst/>
          </a:prstGeom>
          <a:noFill/>
        </p:spPr>
        <p:txBody>
          <a:bodyPr vert="horz" rtlCol="0">
            <a:spAutoFit/>
          </a:bodyPr>
          <a:lstStyle/>
          <a:p>
            <a:r>
              <a:rPr lang="zh-TW" altLang="en-US" sz="1150">
                <a:solidFill>
                  <a:srgbClr val="1E293B"/>
                </a:solidFill>
                <a:latin typeface="微軟正黑體" panose="020B0604030504040204" pitchFamily="34" charset="-120"/>
              </a:rPr>
              <a:t>穿隧氧化層鈍化接觸（</a:t>
            </a:r>
            <a:r>
              <a:rPr lang="en-US" altLang="zh-TW" sz="1150">
                <a:solidFill>
                  <a:srgbClr val="1E293B"/>
                </a:solidFill>
                <a:latin typeface="微軟正黑體" panose="020B0604030504040204" pitchFamily="34" charset="-120"/>
              </a:rPr>
              <a:t>TOPCon</a:t>
            </a:r>
            <a:r>
              <a:rPr lang="zh-TW" altLang="en-US" sz="1150">
                <a:solidFill>
                  <a:srgbClr val="1E293B"/>
                </a:solidFill>
                <a:latin typeface="微軟正黑體" panose="020B0604030504040204" pitchFamily="34" charset="-120"/>
              </a:rPr>
              <a:t>）矽晶圓進行表面改質，解決現有技術中載子被阻擋及製程整合困難之問題。</a:t>
            </a:r>
          </a:p>
        </p:txBody>
      </p:sp>
      <p:sp>
        <p:nvSpPr>
          <p:cNvPr id="9" name="矩形 8">
            <a:extLst>
              <a:ext uri="{FF2B5EF4-FFF2-40B4-BE49-F238E27FC236}">
                <a16:creationId xmlns:a16="http://schemas.microsoft.com/office/drawing/2014/main" id="{D055FB0B-35B5-BA63-ACEC-387B9989004D}"/>
              </a:ext>
            </a:extLst>
          </p:cNvPr>
          <p:cNvSpPr/>
          <p:nvPr/>
        </p:nvSpPr>
        <p:spPr>
          <a:xfrm>
            <a:off x="7937500" y="952500"/>
            <a:ext cx="3746500" cy="2603500"/>
          </a:xfrm>
          <a:prstGeom prst="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B2EC3F6D-B220-AA5E-3E65-23D8235606AC}"/>
              </a:ext>
            </a:extLst>
          </p:cNvPr>
          <p:cNvSpPr txBox="1"/>
          <p:nvPr/>
        </p:nvSpPr>
        <p:spPr>
          <a:xfrm>
            <a:off x="8128000" y="1041400"/>
            <a:ext cx="33655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基本資訊（點選可直接編輯文字）：</a:t>
            </a:r>
          </a:p>
        </p:txBody>
      </p:sp>
      <p:sp>
        <p:nvSpPr>
          <p:cNvPr id="11" name="文字方塊 10">
            <a:extLst>
              <a:ext uri="{FF2B5EF4-FFF2-40B4-BE49-F238E27FC236}">
                <a16:creationId xmlns:a16="http://schemas.microsoft.com/office/drawing/2014/main" id="{A9A113DB-9A6C-61F2-A69F-2220D3553E5B}"/>
              </a:ext>
            </a:extLst>
          </p:cNvPr>
          <p:cNvSpPr txBox="1"/>
          <p:nvPr/>
        </p:nvSpPr>
        <p:spPr>
          <a:xfrm>
            <a:off x="8128000" y="1371600"/>
            <a:ext cx="3365500" cy="1708160"/>
          </a:xfrm>
          <a:prstGeom prst="rect">
            <a:avLst/>
          </a:prstGeom>
          <a:noFill/>
        </p:spPr>
        <p:txBody>
          <a:bodyPr vert="horz" rtlCol="0">
            <a:spAutoFit/>
          </a:bodyPr>
          <a:lstStyle/>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家族編號：</a:t>
            </a:r>
            <a:r>
              <a:rPr lang="en-US" altLang="zh-TW" sz="1050">
                <a:solidFill>
                  <a:srgbClr val="1E293B"/>
                </a:solidFill>
                <a:latin typeface="微軟正黑體" panose="020B0604030504040204" pitchFamily="34" charset="-120"/>
              </a:rPr>
              <a:t>PF-003</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院內案件編號：</a:t>
            </a:r>
            <a:r>
              <a:rPr lang="en-US" altLang="zh-TW" sz="1050">
                <a:solidFill>
                  <a:srgbClr val="1E293B"/>
                </a:solidFill>
                <a:latin typeface="微軟正黑體" panose="020B0604030504040204" pitchFamily="34" charset="-120"/>
              </a:rPr>
              <a:t>34A-1150223</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技術領域：太陽能</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發明人：朱治偉、郭宗枋、賴韋志</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公開日／申請日：</a:t>
            </a:r>
            <a:r>
              <a:rPr lang="en-US" altLang="zh-TW" sz="1050">
                <a:solidFill>
                  <a:srgbClr val="1E293B"/>
                </a:solidFill>
                <a:latin typeface="微軟正黑體" panose="020B0604030504040204" pitchFamily="34" charset="-120"/>
              </a:rPr>
              <a:t>2026-03-03</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法律狀態：專利申請中</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關聯計畫：下世代太陽能電池研究計畫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官方專屬網址：</a:t>
            </a:r>
            <a:r>
              <a:rPr lang="en-US" altLang="zh-TW" sz="1050">
                <a:solidFill>
                  <a:srgbClr val="1E293B"/>
                </a:solidFill>
                <a:latin typeface="微軟正黑體" panose="020B0604030504040204" pitchFamily="34" charset="-120"/>
              </a:rPr>
              <a:t>https://ticket.apps.sinica.edu.tw/tech/34A-1150223</a:t>
            </a:r>
            <a:endParaRPr lang="zh-TW" altLang="en-US" sz="1050">
              <a:solidFill>
                <a:srgbClr val="1E293B"/>
              </a:solidFill>
              <a:latin typeface="微軟正黑體" panose="020B0604030504040204" pitchFamily="34" charset="-120"/>
            </a:endParaRPr>
          </a:p>
        </p:txBody>
      </p:sp>
      <p:sp>
        <p:nvSpPr>
          <p:cNvPr id="12" name="文字方塊 11">
            <a:extLst>
              <a:ext uri="{FF2B5EF4-FFF2-40B4-BE49-F238E27FC236}">
                <a16:creationId xmlns:a16="http://schemas.microsoft.com/office/drawing/2014/main" id="{7EFB6D88-EA13-0055-C52F-9BDA4384AAF9}"/>
              </a:ext>
            </a:extLst>
          </p:cNvPr>
          <p:cNvSpPr txBox="1"/>
          <p:nvPr/>
        </p:nvSpPr>
        <p:spPr>
          <a:xfrm>
            <a:off x="508000" y="3683000"/>
            <a:ext cx="111760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各國專利申請佈局明細表（點選表格儲存格可直接編輯案號、日期或備註）：</a:t>
            </a:r>
          </a:p>
        </p:txBody>
      </p:sp>
      <p:graphicFrame>
        <p:nvGraphicFramePr>
          <p:cNvPr id="13" name="表格 12">
            <a:extLst>
              <a:ext uri="{FF2B5EF4-FFF2-40B4-BE49-F238E27FC236}">
                <a16:creationId xmlns:a16="http://schemas.microsoft.com/office/drawing/2014/main" id="{923B4680-25E5-B712-6A43-F8EA1AE978DD}"/>
              </a:ext>
            </a:extLst>
          </p:cNvPr>
          <p:cNvGraphicFramePr>
            <a:graphicFrameLocks noGrp="1"/>
          </p:cNvGraphicFramePr>
          <p:nvPr>
            <p:extLst>
              <p:ext uri="{D42A27DB-BD31-4B8C-83A1-F6EECF244321}">
                <p14:modId xmlns:p14="http://schemas.microsoft.com/office/powerpoint/2010/main" val="2377163561"/>
              </p:ext>
            </p:extLst>
          </p:nvPr>
        </p:nvGraphicFramePr>
        <p:xfrm>
          <a:off x="508000" y="4038600"/>
          <a:ext cx="11176000" cy="2286000"/>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3461400396"/>
                    </a:ext>
                  </a:extLst>
                </a:gridCol>
                <a:gridCol w="1397000">
                  <a:extLst>
                    <a:ext uri="{9D8B030D-6E8A-4147-A177-3AD203B41FA5}">
                      <a16:colId xmlns:a16="http://schemas.microsoft.com/office/drawing/2014/main" val="2731699377"/>
                    </a:ext>
                  </a:extLst>
                </a:gridCol>
                <a:gridCol w="1016000">
                  <a:extLst>
                    <a:ext uri="{9D8B030D-6E8A-4147-A177-3AD203B41FA5}">
                      <a16:colId xmlns:a16="http://schemas.microsoft.com/office/drawing/2014/main" val="2433180761"/>
                    </a:ext>
                  </a:extLst>
                </a:gridCol>
                <a:gridCol w="1587500">
                  <a:extLst>
                    <a:ext uri="{9D8B030D-6E8A-4147-A177-3AD203B41FA5}">
                      <a16:colId xmlns:a16="http://schemas.microsoft.com/office/drawing/2014/main" val="2631046776"/>
                    </a:ext>
                  </a:extLst>
                </a:gridCol>
                <a:gridCol w="1143000">
                  <a:extLst>
                    <a:ext uri="{9D8B030D-6E8A-4147-A177-3AD203B41FA5}">
                      <a16:colId xmlns:a16="http://schemas.microsoft.com/office/drawing/2014/main" val="1079353605"/>
                    </a:ext>
                  </a:extLst>
                </a:gridCol>
                <a:gridCol w="1270000">
                  <a:extLst>
                    <a:ext uri="{9D8B030D-6E8A-4147-A177-3AD203B41FA5}">
                      <a16:colId xmlns:a16="http://schemas.microsoft.com/office/drawing/2014/main" val="1148216124"/>
                    </a:ext>
                  </a:extLst>
                </a:gridCol>
                <a:gridCol w="3683000">
                  <a:extLst>
                    <a:ext uri="{9D8B030D-6E8A-4147-A177-3AD203B41FA5}">
                      <a16:colId xmlns:a16="http://schemas.microsoft.com/office/drawing/2014/main" val="740340523"/>
                    </a:ext>
                  </a:extLst>
                </a:gridCol>
              </a:tblGrid>
              <a:tr h="457200">
                <a:tc>
                  <a:txBody>
                    <a:bodyPr/>
                    <a:lstStyle/>
                    <a:p>
                      <a:r>
                        <a:rPr lang="zh-TW" altLang="en-US" sz="1000" b="1">
                          <a:solidFill>
                            <a:srgbClr val="FFFFFF"/>
                          </a:solidFill>
                          <a:latin typeface="微軟正黑體" panose="020B0604030504040204" pitchFamily="34" charset="-120"/>
                        </a:rPr>
                        <a:t>國家／地區</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案件編號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申請類型</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申請案號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申請日期</a:t>
                      </a:r>
                    </a:p>
                  </a:txBody>
                  <a:tcPr>
                    <a:solidFill>
                      <a:srgbClr val="334155"/>
                    </a:solidFill>
                  </a:tcPr>
                </a:tc>
                <a:tc>
                  <a:txBody>
                    <a:bodyPr/>
                    <a:lstStyle/>
                    <a:p>
                      <a:r>
                        <a:rPr lang="zh-TW" altLang="en-US" sz="1000" b="1">
                          <a:solidFill>
                            <a:srgbClr val="FFFFFF"/>
                          </a:solidFill>
                          <a:latin typeface="微軟正黑體" panose="020B0604030504040204" pitchFamily="34" charset="-120"/>
                        </a:rPr>
                        <a:t>專利證號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案件狀態／備註</a:t>
                      </a:r>
                    </a:p>
                  </a:txBody>
                  <a:tcPr>
                    <a:solidFill>
                      <a:srgbClr val="334155"/>
                    </a:solidFill>
                  </a:tcPr>
                </a:tc>
                <a:extLst>
                  <a:ext uri="{0D108BD9-81ED-4DB2-BD59-A6C34878D82A}">
                    <a16:rowId xmlns:a16="http://schemas.microsoft.com/office/drawing/2014/main" val="393425766"/>
                  </a:ext>
                </a:extLst>
              </a:tr>
              <a:tr h="457200">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34A-1150223</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發明</a:t>
                      </a:r>
                    </a:p>
                  </a:txBody>
                  <a:tcPr>
                    <a:solidFill>
                      <a:srgbClr val="FFFFFF"/>
                    </a:solidFill>
                  </a:tcPr>
                </a:tc>
                <a:tc>
                  <a:txBody>
                    <a:bodyPr/>
                    <a:lstStyle/>
                    <a:p>
                      <a:r>
                        <a:rPr lang="en-US" altLang="zh-TW" sz="950">
                          <a:solidFill>
                            <a:srgbClr val="1E293B"/>
                          </a:solidFill>
                          <a:latin typeface="微軟正黑體" panose="020B0604030504040204" pitchFamily="34" charset="-120"/>
                        </a:rPr>
                        <a:t>19/688,082</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2026-05-26</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直接正式案，尚未決定最終處分</a:t>
                      </a:r>
                    </a:p>
                  </a:txBody>
                  <a:tcPr>
                    <a:solidFill>
                      <a:srgbClr val="FFFFFF"/>
                    </a:solidFill>
                  </a:tcPr>
                </a:tc>
                <a:extLst>
                  <a:ext uri="{0D108BD9-81ED-4DB2-BD59-A6C34878D82A}">
                    <a16:rowId xmlns:a16="http://schemas.microsoft.com/office/drawing/2014/main" val="1375895861"/>
                  </a:ext>
                </a:extLst>
              </a:tr>
              <a:tr h="457200">
                <a:tc>
                  <a:txBody>
                    <a:bodyPr/>
                    <a:lstStyle/>
                    <a:p>
                      <a:r>
                        <a:rPr lang="en-US" altLang="zh-TW" sz="950">
                          <a:solidFill>
                            <a:srgbClr val="1E293B"/>
                          </a:solidFill>
                          <a:latin typeface="微軟正黑體" panose="020B0604030504040204" pitchFamily="34" charset="-120"/>
                        </a:rPr>
                        <a:t>TW</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34A-1150223</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發明</a:t>
                      </a:r>
                    </a:p>
                  </a:txBody>
                  <a:tcPr>
                    <a:solidFill>
                      <a:srgbClr val="F8FAFC"/>
                    </a:solidFill>
                  </a:tcPr>
                </a:tc>
                <a:tc>
                  <a:txBody>
                    <a:bodyPr/>
                    <a:lstStyle/>
                    <a:p>
                      <a:r>
                        <a:rPr lang="en-US" altLang="zh-TW" sz="950">
                          <a:solidFill>
                            <a:srgbClr val="1E293B"/>
                          </a:solidFill>
                          <a:latin typeface="微軟正黑體" panose="020B0604030504040204" pitchFamily="34" charset="-120"/>
                        </a:rPr>
                        <a:t>115120560</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2026-05-26</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外文本提申，補正中文本中</a:t>
                      </a:r>
                    </a:p>
                  </a:txBody>
                  <a:tcPr>
                    <a:solidFill>
                      <a:srgbClr val="F8FAFC"/>
                    </a:solidFill>
                  </a:tcPr>
                </a:tc>
                <a:extLst>
                  <a:ext uri="{0D108BD9-81ED-4DB2-BD59-A6C34878D82A}">
                    <a16:rowId xmlns:a16="http://schemas.microsoft.com/office/drawing/2014/main" val="2512340336"/>
                  </a:ext>
                </a:extLst>
              </a:tr>
              <a:tr h="457200">
                <a:tc>
                  <a:txBody>
                    <a:bodyPr/>
                    <a:lstStyle/>
                    <a:p>
                      <a:r>
                        <a:rPr lang="en-US" altLang="zh-TW" sz="950">
                          <a:solidFill>
                            <a:srgbClr val="1E293B"/>
                          </a:solidFill>
                          <a:latin typeface="微軟正黑體" panose="020B0604030504040204" pitchFamily="34" charset="-120"/>
                        </a:rPr>
                        <a:t>TW</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34A-1150223</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新型</a:t>
                      </a:r>
                    </a:p>
                  </a:txBody>
                  <a:tcPr>
                    <a:solidFill>
                      <a:srgbClr val="FFFFFF"/>
                    </a:solidFill>
                  </a:tcPr>
                </a:tc>
                <a:tc>
                  <a:txBody>
                    <a:bodyPr/>
                    <a:lstStyle/>
                    <a:p>
                      <a:r>
                        <a:rPr lang="en-US" altLang="zh-TW" sz="950">
                          <a:solidFill>
                            <a:srgbClr val="1E293B"/>
                          </a:solidFill>
                          <a:latin typeface="微軟正黑體" panose="020B0604030504040204" pitchFamily="34" charset="-120"/>
                        </a:rPr>
                        <a:t>115204787</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2026-05-26</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外文本提申，補正中文本中</a:t>
                      </a:r>
                    </a:p>
                  </a:txBody>
                  <a:tcPr>
                    <a:solidFill>
                      <a:srgbClr val="FFFFFF"/>
                    </a:solidFill>
                  </a:tcPr>
                </a:tc>
                <a:extLst>
                  <a:ext uri="{0D108BD9-81ED-4DB2-BD59-A6C34878D82A}">
                    <a16:rowId xmlns:a16="http://schemas.microsoft.com/office/drawing/2014/main" val="3269933295"/>
                  </a:ext>
                </a:extLst>
              </a:tr>
              <a:tr h="457200">
                <a:tc>
                  <a:txBody>
                    <a:bodyPr/>
                    <a:lstStyle/>
                    <a:p>
                      <a:r>
                        <a:rPr lang="en-US" altLang="zh-TW" sz="950">
                          <a:solidFill>
                            <a:srgbClr val="1E293B"/>
                          </a:solidFill>
                          <a:latin typeface="微軟正黑體" panose="020B0604030504040204" pitchFamily="34" charset="-120"/>
                        </a:rPr>
                        <a:t>CN</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34A-1150223</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發明</a:t>
                      </a:r>
                    </a:p>
                  </a:txBody>
                  <a:tcPr>
                    <a:solidFill>
                      <a:srgbClr val="F8FAFC"/>
                    </a:solidFill>
                  </a:tcPr>
                </a:tc>
                <a:tc>
                  <a:txBody>
                    <a:bodyPr/>
                    <a:lstStyle/>
                    <a:p>
                      <a:r>
                        <a:rPr lang="en-US" altLang="zh-TW" sz="950">
                          <a:solidFill>
                            <a:srgbClr val="1E293B"/>
                          </a:solidFill>
                          <a:latin typeface="微軟正黑體" panose="020B0604030504040204" pitchFamily="34" charset="-120"/>
                        </a:rPr>
                        <a:t>202610952884</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2026-06-26</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外文本提申，補正中文本中</a:t>
                      </a:r>
                    </a:p>
                  </a:txBody>
                  <a:tcPr>
                    <a:solidFill>
                      <a:srgbClr val="F8FAFC"/>
                    </a:solidFill>
                  </a:tcPr>
                </a:tc>
                <a:extLst>
                  <a:ext uri="{0D108BD9-81ED-4DB2-BD59-A6C34878D82A}">
                    <a16:rowId xmlns:a16="http://schemas.microsoft.com/office/drawing/2014/main" val="1196451272"/>
                  </a:ext>
                </a:extLst>
              </a:tr>
            </a:tbl>
          </a:graphicData>
        </a:graphic>
      </p:graphicFrame>
    </p:spTree>
    <p:extLst>
      <p:ext uri="{BB962C8B-B14F-4D97-AF65-F5344CB8AC3E}">
        <p14:creationId xmlns:p14="http://schemas.microsoft.com/office/powerpoint/2010/main" val="2640597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07F0F39-168C-C4F1-96D1-A83C2099931A}"/>
              </a:ext>
            </a:extLst>
          </p:cNvPr>
          <p:cNvSpPr/>
          <p:nvPr/>
        </p:nvSpPr>
        <p:spPr>
          <a:xfrm>
            <a:off x="0" y="0"/>
            <a:ext cx="12192000" cy="762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687A9474-48CE-4A87-8530-258472B549BE}"/>
              </a:ext>
            </a:extLst>
          </p:cNvPr>
          <p:cNvSpPr/>
          <p:nvPr/>
        </p:nvSpPr>
        <p:spPr>
          <a:xfrm>
            <a:off x="508000" y="254000"/>
            <a:ext cx="1206500" cy="3048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太陽能</a:t>
            </a:r>
          </a:p>
        </p:txBody>
      </p:sp>
      <p:sp>
        <p:nvSpPr>
          <p:cNvPr id="4" name="文字方塊 3">
            <a:extLst>
              <a:ext uri="{FF2B5EF4-FFF2-40B4-BE49-F238E27FC236}">
                <a16:creationId xmlns:a16="http://schemas.microsoft.com/office/drawing/2014/main" id="{D080E0B9-2CAE-2119-5FE0-D5B5F9BAC60C}"/>
              </a:ext>
            </a:extLst>
          </p:cNvPr>
          <p:cNvSpPr txBox="1"/>
          <p:nvPr/>
        </p:nvSpPr>
        <p:spPr>
          <a:xfrm>
            <a:off x="1841500" y="177800"/>
            <a:ext cx="9842500" cy="307777"/>
          </a:xfrm>
          <a:prstGeom prst="rect">
            <a:avLst/>
          </a:prstGeom>
          <a:noFill/>
        </p:spPr>
        <p:txBody>
          <a:bodyPr vert="horz" lIns="0" tIns="0" rtlCol="0">
            <a:spAutoFit/>
          </a:bodyPr>
          <a:lstStyle/>
          <a:p>
            <a:r>
              <a:rPr lang="en-US" altLang="zh-TW" sz="1700" b="1">
                <a:solidFill>
                  <a:srgbClr val="0F172A"/>
                </a:solidFill>
                <a:latin typeface="微軟正黑體" panose="020B0604030504040204" pitchFamily="34" charset="-120"/>
              </a:rPr>
              <a:t>【PF-004】 </a:t>
            </a:r>
            <a:r>
              <a:rPr lang="zh-TW" altLang="en-US" sz="1700" b="1">
                <a:solidFill>
                  <a:srgbClr val="0F172A"/>
                </a:solidFill>
                <a:latin typeface="微軟正黑體" panose="020B0604030504040204" pitchFamily="34" charset="-120"/>
              </a:rPr>
              <a:t>具分子內非共價交互作用之自組裝電洞選擇材料及其在鈣鈦礦太陽能電池之應用</a:t>
            </a:r>
          </a:p>
        </p:txBody>
      </p:sp>
      <p:sp>
        <p:nvSpPr>
          <p:cNvPr id="5" name="文字方塊 4">
            <a:extLst>
              <a:ext uri="{FF2B5EF4-FFF2-40B4-BE49-F238E27FC236}">
                <a16:creationId xmlns:a16="http://schemas.microsoft.com/office/drawing/2014/main" id="{AC57DC8B-8DAD-362D-031D-757D2762AD85}"/>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智財成果詳情專頁 </a:t>
            </a:r>
            <a:r>
              <a:rPr lang="en-US" altLang="zh-TW" sz="1100">
                <a:solidFill>
                  <a:srgbClr val="64748B"/>
                </a:solidFill>
                <a:latin typeface="微軟正黑體" panose="020B0604030504040204" pitchFamily="34" charset="-120"/>
              </a:rPr>
              <a:t>(#patent/PF-004) </a:t>
            </a:r>
            <a:r>
              <a:rPr lang="zh-TW" altLang="en-US" sz="1100">
                <a:solidFill>
                  <a:srgbClr val="64748B"/>
                </a:solidFill>
                <a:latin typeface="微軟正黑體" panose="020B0604030504040204" pitchFamily="34" charset="-120"/>
              </a:rPr>
              <a:t>｜ 院內案件編號：</a:t>
            </a:r>
            <a:r>
              <a:rPr lang="en-US" altLang="zh-TW" sz="1100">
                <a:solidFill>
                  <a:srgbClr val="64748B"/>
                </a:solidFill>
                <a:latin typeface="微軟正黑體" panose="020B0604030504040204" pitchFamily="34" charset="-120"/>
              </a:rPr>
              <a:t>34A-1150304</a:t>
            </a:r>
            <a:endParaRPr lang="zh-TW" altLang="en-US" sz="1100">
              <a:solidFill>
                <a:srgbClr val="64748B"/>
              </a:solidFill>
              <a:latin typeface="微軟正黑體" panose="020B0604030504040204" pitchFamily="34" charset="-120"/>
            </a:endParaRPr>
          </a:p>
        </p:txBody>
      </p:sp>
      <p:sp>
        <p:nvSpPr>
          <p:cNvPr id="6" name="矩形 5">
            <a:extLst>
              <a:ext uri="{FF2B5EF4-FFF2-40B4-BE49-F238E27FC236}">
                <a16:creationId xmlns:a16="http://schemas.microsoft.com/office/drawing/2014/main" id="{0D38D77F-4D13-9705-E474-2764550025E4}"/>
              </a:ext>
            </a:extLst>
          </p:cNvPr>
          <p:cNvSpPr/>
          <p:nvPr/>
        </p:nvSpPr>
        <p:spPr>
          <a:xfrm>
            <a:off x="508000" y="952500"/>
            <a:ext cx="7239000" cy="2603500"/>
          </a:xfrm>
          <a:prstGeom prst="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79FD476E-5270-C1D3-7751-DC9D7ABA5BDC}"/>
              </a:ext>
            </a:extLst>
          </p:cNvPr>
          <p:cNvSpPr txBox="1"/>
          <p:nvPr/>
        </p:nvSpPr>
        <p:spPr>
          <a:xfrm>
            <a:off x="698500" y="1041400"/>
            <a:ext cx="6858000" cy="276999"/>
          </a:xfrm>
          <a:prstGeom prst="rect">
            <a:avLst/>
          </a:prstGeom>
          <a:noFill/>
        </p:spPr>
        <p:txBody>
          <a:bodyPr vert="horz" rtlCol="0">
            <a:spAutoFit/>
          </a:bodyPr>
          <a:lstStyle/>
          <a:p>
            <a:r>
              <a:rPr lang="zh-TW" altLang="en-US" sz="1200" b="1">
                <a:solidFill>
                  <a:srgbClr val="0E387A"/>
                </a:solidFill>
                <a:latin typeface="微軟正黑體" panose="020B0604030504040204" pitchFamily="34" charset="-120"/>
              </a:rPr>
              <a:t>📄 官方技術摘要（點選下方文字方塊可直接編輯內文）：</a:t>
            </a:r>
          </a:p>
        </p:txBody>
      </p:sp>
      <p:sp>
        <p:nvSpPr>
          <p:cNvPr id="8" name="文字方塊 7">
            <a:extLst>
              <a:ext uri="{FF2B5EF4-FFF2-40B4-BE49-F238E27FC236}">
                <a16:creationId xmlns:a16="http://schemas.microsoft.com/office/drawing/2014/main" id="{B597B281-DA16-1DE1-7831-F0EC8511C522}"/>
              </a:ext>
            </a:extLst>
          </p:cNvPr>
          <p:cNvSpPr txBox="1"/>
          <p:nvPr/>
        </p:nvSpPr>
        <p:spPr>
          <a:xfrm>
            <a:off x="698500" y="1371600"/>
            <a:ext cx="6858000" cy="800219"/>
          </a:xfrm>
          <a:prstGeom prst="rect">
            <a:avLst/>
          </a:prstGeom>
          <a:noFill/>
        </p:spPr>
        <p:txBody>
          <a:bodyPr vert="horz" rtlCol="0">
            <a:spAutoFit/>
          </a:bodyPr>
          <a:lstStyle/>
          <a:p>
            <a:r>
              <a:rPr lang="zh-TW" altLang="en-US" sz="1150">
                <a:solidFill>
                  <a:srgbClr val="1E293B"/>
                </a:solidFill>
                <a:latin typeface="微軟正黑體" panose="020B0604030504040204" pitchFamily="34" charset="-120"/>
              </a:rPr>
              <a:t>在鈣鈦礦太陽能電池（</a:t>
            </a:r>
            <a:r>
              <a:rPr lang="en-US" altLang="zh-TW" sz="1150">
                <a:solidFill>
                  <a:srgbClr val="1E293B"/>
                </a:solidFill>
                <a:latin typeface="微軟正黑體" panose="020B0604030504040204" pitchFamily="34" charset="-120"/>
              </a:rPr>
              <a:t>PSCs</a:t>
            </a:r>
            <a:r>
              <a:rPr lang="zh-TW" altLang="en-US" sz="1150">
                <a:solidFill>
                  <a:srgbClr val="1E293B"/>
                </a:solidFill>
                <a:latin typeface="微軟正黑體" panose="020B0604030504040204" pitchFamily="34" charset="-120"/>
              </a:rPr>
              <a:t>）中，電洞傳輸材料（</a:t>
            </a:r>
            <a:r>
              <a:rPr lang="en-US" altLang="zh-TW" sz="1150">
                <a:solidFill>
                  <a:srgbClr val="1E293B"/>
                </a:solidFill>
                <a:latin typeface="微軟正黑體" panose="020B0604030504040204" pitchFamily="34" charset="-120"/>
              </a:rPr>
              <a:t>HTMs</a:t>
            </a:r>
            <a:r>
              <a:rPr lang="zh-TW" altLang="en-US" sz="1150">
                <a:solidFill>
                  <a:srgbClr val="1E293B"/>
                </a:solidFill>
                <a:latin typeface="微軟正黑體" panose="020B0604030504040204" pitchFamily="34" charset="-120"/>
              </a:rPr>
              <a:t>）的分子構型對電荷遷移率及元件效率至關重要。現有技術常面臨分子平面性不足導致電荷傳輸受阻，或能階不匹配造成介面能量損失，本發明旨在透過分子工程解決此痛點，顯著提升電荷移動率，減少載子於介面之複合。提升元件開路電壓（</a:t>
            </a:r>
            <a:r>
              <a:rPr lang="en-US" altLang="zh-TW" sz="1150">
                <a:solidFill>
                  <a:srgbClr val="1E293B"/>
                </a:solidFill>
                <a:latin typeface="微軟正黑體" panose="020B0604030504040204" pitchFamily="34" charset="-120"/>
              </a:rPr>
              <a:t>Voc</a:t>
            </a:r>
            <a:r>
              <a:rPr lang="zh-TW" altLang="en-US" sz="1150">
                <a:solidFill>
                  <a:srgbClr val="1E293B"/>
                </a:solidFill>
                <a:latin typeface="微軟正黑體" panose="020B0604030504040204" pitchFamily="34" charset="-120"/>
              </a:rPr>
              <a:t>）與整體效率。</a:t>
            </a:r>
          </a:p>
        </p:txBody>
      </p:sp>
      <p:sp>
        <p:nvSpPr>
          <p:cNvPr id="9" name="矩形 8">
            <a:extLst>
              <a:ext uri="{FF2B5EF4-FFF2-40B4-BE49-F238E27FC236}">
                <a16:creationId xmlns:a16="http://schemas.microsoft.com/office/drawing/2014/main" id="{2C2796BD-065E-E72C-A997-F88A87B89CCC}"/>
              </a:ext>
            </a:extLst>
          </p:cNvPr>
          <p:cNvSpPr/>
          <p:nvPr/>
        </p:nvSpPr>
        <p:spPr>
          <a:xfrm>
            <a:off x="7937500" y="952500"/>
            <a:ext cx="3746500" cy="2603500"/>
          </a:xfrm>
          <a:prstGeom prst="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6A0E63C8-C059-F53E-2768-905ABED9F324}"/>
              </a:ext>
            </a:extLst>
          </p:cNvPr>
          <p:cNvSpPr txBox="1"/>
          <p:nvPr/>
        </p:nvSpPr>
        <p:spPr>
          <a:xfrm>
            <a:off x="8128000" y="1041400"/>
            <a:ext cx="33655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基本資訊（點選可直接編輯文字）：</a:t>
            </a:r>
          </a:p>
        </p:txBody>
      </p:sp>
      <p:sp>
        <p:nvSpPr>
          <p:cNvPr id="11" name="文字方塊 10">
            <a:extLst>
              <a:ext uri="{FF2B5EF4-FFF2-40B4-BE49-F238E27FC236}">
                <a16:creationId xmlns:a16="http://schemas.microsoft.com/office/drawing/2014/main" id="{74AE9CDB-5855-6B93-F510-E72E9BC5974A}"/>
              </a:ext>
            </a:extLst>
          </p:cNvPr>
          <p:cNvSpPr txBox="1"/>
          <p:nvPr/>
        </p:nvSpPr>
        <p:spPr>
          <a:xfrm>
            <a:off x="8128000" y="1371600"/>
            <a:ext cx="3365500" cy="1708160"/>
          </a:xfrm>
          <a:prstGeom prst="rect">
            <a:avLst/>
          </a:prstGeom>
          <a:noFill/>
        </p:spPr>
        <p:txBody>
          <a:bodyPr vert="horz" rtlCol="0">
            <a:spAutoFit/>
          </a:bodyPr>
          <a:lstStyle/>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家族編號：</a:t>
            </a:r>
            <a:r>
              <a:rPr lang="en-US" altLang="zh-TW" sz="1050">
                <a:solidFill>
                  <a:srgbClr val="1E293B"/>
                </a:solidFill>
                <a:latin typeface="微軟正黑體" panose="020B0604030504040204" pitchFamily="34" charset="-120"/>
              </a:rPr>
              <a:t>PF-004</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院內案件編號：</a:t>
            </a:r>
            <a:r>
              <a:rPr lang="en-US" altLang="zh-TW" sz="1050">
                <a:solidFill>
                  <a:srgbClr val="1E293B"/>
                </a:solidFill>
                <a:latin typeface="微軟正黑體" panose="020B0604030504040204" pitchFamily="34" charset="-120"/>
              </a:rPr>
              <a:t>34A-1150304</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技術領域：太陽能</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發明人：朱治偉</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公開日／申請日：</a:t>
            </a:r>
            <a:r>
              <a:rPr lang="en-US" altLang="zh-TW" sz="1050">
                <a:solidFill>
                  <a:srgbClr val="1E293B"/>
                </a:solidFill>
                <a:latin typeface="微軟正黑體" panose="020B0604030504040204" pitchFamily="34" charset="-120"/>
              </a:rPr>
              <a:t>2026-03-13</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法律狀態：專利申請中</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關聯計畫：下世代太陽能電池研究計畫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官方專屬網址：</a:t>
            </a:r>
            <a:r>
              <a:rPr lang="en-US" altLang="zh-TW" sz="1050">
                <a:solidFill>
                  <a:srgbClr val="1E293B"/>
                </a:solidFill>
                <a:latin typeface="微軟正黑體" panose="020B0604030504040204" pitchFamily="34" charset="-120"/>
              </a:rPr>
              <a:t>https://ticket.apps.sinica.edu.tw/tech/34A-1150304</a:t>
            </a:r>
            <a:endParaRPr lang="zh-TW" altLang="en-US" sz="1050">
              <a:solidFill>
                <a:srgbClr val="1E293B"/>
              </a:solidFill>
              <a:latin typeface="微軟正黑體" panose="020B0604030504040204" pitchFamily="34" charset="-120"/>
            </a:endParaRPr>
          </a:p>
        </p:txBody>
      </p:sp>
      <p:sp>
        <p:nvSpPr>
          <p:cNvPr id="12" name="文字方塊 11">
            <a:extLst>
              <a:ext uri="{FF2B5EF4-FFF2-40B4-BE49-F238E27FC236}">
                <a16:creationId xmlns:a16="http://schemas.microsoft.com/office/drawing/2014/main" id="{978E9F4F-5C86-F3DC-D5B7-B6A958E9D661}"/>
              </a:ext>
            </a:extLst>
          </p:cNvPr>
          <p:cNvSpPr txBox="1"/>
          <p:nvPr/>
        </p:nvSpPr>
        <p:spPr>
          <a:xfrm>
            <a:off x="508000" y="3683000"/>
            <a:ext cx="111760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各國專利申請佈局明細表（點選表格儲存格可直接編輯案號、日期或備註）：</a:t>
            </a:r>
          </a:p>
        </p:txBody>
      </p:sp>
      <p:graphicFrame>
        <p:nvGraphicFramePr>
          <p:cNvPr id="13" name="表格 12">
            <a:extLst>
              <a:ext uri="{FF2B5EF4-FFF2-40B4-BE49-F238E27FC236}">
                <a16:creationId xmlns:a16="http://schemas.microsoft.com/office/drawing/2014/main" id="{6F7667B9-F2D7-9BC6-AA13-931807A06C7B}"/>
              </a:ext>
            </a:extLst>
          </p:cNvPr>
          <p:cNvGraphicFramePr>
            <a:graphicFrameLocks noGrp="1"/>
          </p:cNvGraphicFramePr>
          <p:nvPr>
            <p:extLst>
              <p:ext uri="{D42A27DB-BD31-4B8C-83A1-F6EECF244321}">
                <p14:modId xmlns:p14="http://schemas.microsoft.com/office/powerpoint/2010/main" val="4256957736"/>
              </p:ext>
            </p:extLst>
          </p:nvPr>
        </p:nvGraphicFramePr>
        <p:xfrm>
          <a:off x="508000" y="4038600"/>
          <a:ext cx="11176000" cy="2286000"/>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3892633381"/>
                    </a:ext>
                  </a:extLst>
                </a:gridCol>
                <a:gridCol w="1397000">
                  <a:extLst>
                    <a:ext uri="{9D8B030D-6E8A-4147-A177-3AD203B41FA5}">
                      <a16:colId xmlns:a16="http://schemas.microsoft.com/office/drawing/2014/main" val="46037870"/>
                    </a:ext>
                  </a:extLst>
                </a:gridCol>
                <a:gridCol w="1016000">
                  <a:extLst>
                    <a:ext uri="{9D8B030D-6E8A-4147-A177-3AD203B41FA5}">
                      <a16:colId xmlns:a16="http://schemas.microsoft.com/office/drawing/2014/main" val="3619407952"/>
                    </a:ext>
                  </a:extLst>
                </a:gridCol>
                <a:gridCol w="1587500">
                  <a:extLst>
                    <a:ext uri="{9D8B030D-6E8A-4147-A177-3AD203B41FA5}">
                      <a16:colId xmlns:a16="http://schemas.microsoft.com/office/drawing/2014/main" val="3070810756"/>
                    </a:ext>
                  </a:extLst>
                </a:gridCol>
                <a:gridCol w="1143000">
                  <a:extLst>
                    <a:ext uri="{9D8B030D-6E8A-4147-A177-3AD203B41FA5}">
                      <a16:colId xmlns:a16="http://schemas.microsoft.com/office/drawing/2014/main" val="2760097993"/>
                    </a:ext>
                  </a:extLst>
                </a:gridCol>
                <a:gridCol w="1270000">
                  <a:extLst>
                    <a:ext uri="{9D8B030D-6E8A-4147-A177-3AD203B41FA5}">
                      <a16:colId xmlns:a16="http://schemas.microsoft.com/office/drawing/2014/main" val="1778558215"/>
                    </a:ext>
                  </a:extLst>
                </a:gridCol>
                <a:gridCol w="3683000">
                  <a:extLst>
                    <a:ext uri="{9D8B030D-6E8A-4147-A177-3AD203B41FA5}">
                      <a16:colId xmlns:a16="http://schemas.microsoft.com/office/drawing/2014/main" val="3885640299"/>
                    </a:ext>
                  </a:extLst>
                </a:gridCol>
              </a:tblGrid>
              <a:tr h="1143000">
                <a:tc>
                  <a:txBody>
                    <a:bodyPr/>
                    <a:lstStyle/>
                    <a:p>
                      <a:r>
                        <a:rPr lang="zh-TW" altLang="en-US" sz="1000" b="1">
                          <a:solidFill>
                            <a:srgbClr val="FFFFFF"/>
                          </a:solidFill>
                          <a:latin typeface="微軟正黑體" panose="020B0604030504040204" pitchFamily="34" charset="-120"/>
                        </a:rPr>
                        <a:t>國家／地區</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案件編號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申請類型</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申請案號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申請日期</a:t>
                      </a:r>
                    </a:p>
                  </a:txBody>
                  <a:tcPr>
                    <a:solidFill>
                      <a:srgbClr val="334155"/>
                    </a:solidFill>
                  </a:tcPr>
                </a:tc>
                <a:tc>
                  <a:txBody>
                    <a:bodyPr/>
                    <a:lstStyle/>
                    <a:p>
                      <a:r>
                        <a:rPr lang="zh-TW" altLang="en-US" sz="1000" b="1">
                          <a:solidFill>
                            <a:srgbClr val="FFFFFF"/>
                          </a:solidFill>
                          <a:latin typeface="微軟正黑體" panose="020B0604030504040204" pitchFamily="34" charset="-120"/>
                        </a:rPr>
                        <a:t>專利證號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案件狀態／備註</a:t>
                      </a:r>
                    </a:p>
                  </a:txBody>
                  <a:tcPr>
                    <a:solidFill>
                      <a:srgbClr val="334155"/>
                    </a:solidFill>
                  </a:tcPr>
                </a:tc>
                <a:extLst>
                  <a:ext uri="{0D108BD9-81ED-4DB2-BD59-A6C34878D82A}">
                    <a16:rowId xmlns:a16="http://schemas.microsoft.com/office/drawing/2014/main" val="2460019263"/>
                  </a:ext>
                </a:extLst>
              </a:tr>
              <a:tr h="1143000">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34A-1150304</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臨時案</a:t>
                      </a:r>
                    </a:p>
                  </a:txBody>
                  <a:tcPr>
                    <a:solidFill>
                      <a:srgbClr val="FFFFFF"/>
                    </a:solidFill>
                  </a:tcPr>
                </a:tc>
                <a:tc>
                  <a:txBody>
                    <a:bodyPr/>
                    <a:lstStyle/>
                    <a:p>
                      <a:r>
                        <a:rPr lang="en-US" altLang="zh-TW" sz="950">
                          <a:solidFill>
                            <a:srgbClr val="1E293B"/>
                          </a:solidFill>
                          <a:latin typeface="微軟正黑體" panose="020B0604030504040204" pitchFamily="34" charset="-120"/>
                        </a:rPr>
                        <a:t>64/070,515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2026-05-20</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後續會再評估是否轉正式案（優先權案）</a:t>
                      </a:r>
                    </a:p>
                  </a:txBody>
                  <a:tcPr>
                    <a:solidFill>
                      <a:srgbClr val="FFFFFF"/>
                    </a:solidFill>
                  </a:tcPr>
                </a:tc>
                <a:extLst>
                  <a:ext uri="{0D108BD9-81ED-4DB2-BD59-A6C34878D82A}">
                    <a16:rowId xmlns:a16="http://schemas.microsoft.com/office/drawing/2014/main" val="1263501808"/>
                  </a:ext>
                </a:extLst>
              </a:tr>
            </a:tbl>
          </a:graphicData>
        </a:graphic>
      </p:graphicFrame>
    </p:spTree>
    <p:extLst>
      <p:ext uri="{BB962C8B-B14F-4D97-AF65-F5344CB8AC3E}">
        <p14:creationId xmlns:p14="http://schemas.microsoft.com/office/powerpoint/2010/main" val="2853408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297853F-D8EC-8B02-BDA7-A4EC4B185F03}"/>
              </a:ext>
            </a:extLst>
          </p:cNvPr>
          <p:cNvSpPr/>
          <p:nvPr/>
        </p:nvSpPr>
        <p:spPr>
          <a:xfrm>
            <a:off x="0" y="0"/>
            <a:ext cx="12192000" cy="762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0CFF92C2-5B50-71EA-3723-B1A34E84E331}"/>
              </a:ext>
            </a:extLst>
          </p:cNvPr>
          <p:cNvSpPr/>
          <p:nvPr/>
        </p:nvSpPr>
        <p:spPr>
          <a:xfrm>
            <a:off x="508000" y="254000"/>
            <a:ext cx="1206500" cy="3048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太陽能</a:t>
            </a:r>
          </a:p>
        </p:txBody>
      </p:sp>
      <p:sp>
        <p:nvSpPr>
          <p:cNvPr id="4" name="文字方塊 3">
            <a:extLst>
              <a:ext uri="{FF2B5EF4-FFF2-40B4-BE49-F238E27FC236}">
                <a16:creationId xmlns:a16="http://schemas.microsoft.com/office/drawing/2014/main" id="{5F705391-539F-8291-FE5E-89DBE27DF2C0}"/>
              </a:ext>
            </a:extLst>
          </p:cNvPr>
          <p:cNvSpPr txBox="1"/>
          <p:nvPr/>
        </p:nvSpPr>
        <p:spPr>
          <a:xfrm>
            <a:off x="1841500" y="177800"/>
            <a:ext cx="9842500" cy="307777"/>
          </a:xfrm>
          <a:prstGeom prst="rect">
            <a:avLst/>
          </a:prstGeom>
          <a:noFill/>
        </p:spPr>
        <p:txBody>
          <a:bodyPr vert="horz" lIns="0" tIns="0" rtlCol="0">
            <a:spAutoFit/>
          </a:bodyPr>
          <a:lstStyle/>
          <a:p>
            <a:r>
              <a:rPr lang="en-US" altLang="zh-TW" sz="1700" b="1">
                <a:solidFill>
                  <a:srgbClr val="0F172A"/>
                </a:solidFill>
                <a:latin typeface="微軟正黑體" panose="020B0604030504040204" pitchFamily="34" charset="-120"/>
              </a:rPr>
              <a:t>【PF-005】 </a:t>
            </a:r>
            <a:r>
              <a:rPr lang="zh-TW" altLang="en-US" sz="1700" b="1">
                <a:solidFill>
                  <a:srgbClr val="0F172A"/>
                </a:solidFill>
                <a:latin typeface="微軟正黑體" panose="020B0604030504040204" pitchFamily="34" charset="-120"/>
              </a:rPr>
              <a:t>應用於疊層光伏元件之複合蒸鍍－溶液法鈣鈦礦製程技術</a:t>
            </a:r>
          </a:p>
        </p:txBody>
      </p:sp>
      <p:sp>
        <p:nvSpPr>
          <p:cNvPr id="5" name="文字方塊 4">
            <a:extLst>
              <a:ext uri="{FF2B5EF4-FFF2-40B4-BE49-F238E27FC236}">
                <a16:creationId xmlns:a16="http://schemas.microsoft.com/office/drawing/2014/main" id="{ED6ECB3D-DBEE-1FD4-AD5F-80C6978626B3}"/>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智財成果詳情專頁 </a:t>
            </a:r>
            <a:r>
              <a:rPr lang="en-US" altLang="zh-TW" sz="1100">
                <a:solidFill>
                  <a:srgbClr val="64748B"/>
                </a:solidFill>
                <a:latin typeface="微軟正黑體" panose="020B0604030504040204" pitchFamily="34" charset="-120"/>
              </a:rPr>
              <a:t>(#patent/PF-005) </a:t>
            </a:r>
            <a:r>
              <a:rPr lang="zh-TW" altLang="en-US" sz="1100">
                <a:solidFill>
                  <a:srgbClr val="64748B"/>
                </a:solidFill>
                <a:latin typeface="微軟正黑體" panose="020B0604030504040204" pitchFamily="34" charset="-120"/>
              </a:rPr>
              <a:t>｜ 院內案件編號：</a:t>
            </a:r>
            <a:r>
              <a:rPr lang="en-US" altLang="zh-TW" sz="1100">
                <a:solidFill>
                  <a:srgbClr val="64748B"/>
                </a:solidFill>
                <a:latin typeface="微軟正黑體" panose="020B0604030504040204" pitchFamily="34" charset="-120"/>
              </a:rPr>
              <a:t>34A-1150305</a:t>
            </a:r>
            <a:endParaRPr lang="zh-TW" altLang="en-US" sz="1100">
              <a:solidFill>
                <a:srgbClr val="64748B"/>
              </a:solidFill>
              <a:latin typeface="微軟正黑體" panose="020B0604030504040204" pitchFamily="34" charset="-120"/>
            </a:endParaRPr>
          </a:p>
        </p:txBody>
      </p:sp>
      <p:sp>
        <p:nvSpPr>
          <p:cNvPr id="6" name="矩形 5">
            <a:extLst>
              <a:ext uri="{FF2B5EF4-FFF2-40B4-BE49-F238E27FC236}">
                <a16:creationId xmlns:a16="http://schemas.microsoft.com/office/drawing/2014/main" id="{41C86546-F6F6-1DAB-92C8-CBE8D7DBFB54}"/>
              </a:ext>
            </a:extLst>
          </p:cNvPr>
          <p:cNvSpPr/>
          <p:nvPr/>
        </p:nvSpPr>
        <p:spPr>
          <a:xfrm>
            <a:off x="508000" y="952500"/>
            <a:ext cx="7239000" cy="2603500"/>
          </a:xfrm>
          <a:prstGeom prst="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A99C447F-0834-76E2-8CE0-CB63D644493D}"/>
              </a:ext>
            </a:extLst>
          </p:cNvPr>
          <p:cNvSpPr txBox="1"/>
          <p:nvPr/>
        </p:nvSpPr>
        <p:spPr>
          <a:xfrm>
            <a:off x="698500" y="1041400"/>
            <a:ext cx="6858000" cy="276999"/>
          </a:xfrm>
          <a:prstGeom prst="rect">
            <a:avLst/>
          </a:prstGeom>
          <a:noFill/>
        </p:spPr>
        <p:txBody>
          <a:bodyPr vert="horz" rtlCol="0">
            <a:spAutoFit/>
          </a:bodyPr>
          <a:lstStyle/>
          <a:p>
            <a:r>
              <a:rPr lang="zh-TW" altLang="en-US" sz="1200" b="1">
                <a:solidFill>
                  <a:srgbClr val="0E387A"/>
                </a:solidFill>
                <a:latin typeface="微軟正黑體" panose="020B0604030504040204" pitchFamily="34" charset="-120"/>
              </a:rPr>
              <a:t>📄 官方技術摘要（點選下方文字方塊可直接編輯內文）：</a:t>
            </a:r>
          </a:p>
        </p:txBody>
      </p:sp>
      <p:sp>
        <p:nvSpPr>
          <p:cNvPr id="8" name="文字方塊 7">
            <a:extLst>
              <a:ext uri="{FF2B5EF4-FFF2-40B4-BE49-F238E27FC236}">
                <a16:creationId xmlns:a16="http://schemas.microsoft.com/office/drawing/2014/main" id="{2655B6ED-C632-8EF6-2277-83D3F04033FE}"/>
              </a:ext>
            </a:extLst>
          </p:cNvPr>
          <p:cNvSpPr txBox="1"/>
          <p:nvPr/>
        </p:nvSpPr>
        <p:spPr>
          <a:xfrm>
            <a:off x="698500" y="1371600"/>
            <a:ext cx="6858000" cy="1331134"/>
          </a:xfrm>
          <a:prstGeom prst="rect">
            <a:avLst/>
          </a:prstGeom>
          <a:noFill/>
        </p:spPr>
        <p:txBody>
          <a:bodyPr vert="horz" rtlCol="0">
            <a:spAutoFit/>
          </a:bodyPr>
          <a:lstStyle/>
          <a:p>
            <a:r>
              <a:rPr lang="zh-TW" altLang="en-US" sz="1150">
                <a:solidFill>
                  <a:srgbClr val="1E293B"/>
                </a:solidFill>
                <a:latin typeface="微軟正黑體" panose="020B0604030504040204" pitchFamily="34" charset="-120"/>
              </a:rPr>
              <a:t>疊層太陽能電池（如鈣鈦礦</a:t>
            </a:r>
            <a:r>
              <a:rPr lang="en-US" altLang="zh-TW" sz="1150">
                <a:solidFill>
                  <a:srgbClr val="1E293B"/>
                </a:solidFill>
                <a:latin typeface="微軟正黑體" panose="020B0604030504040204" pitchFamily="34" charset="-120"/>
              </a:rPr>
              <a:t>/</a:t>
            </a:r>
            <a:r>
              <a:rPr lang="zh-TW" altLang="en-US" sz="1150">
                <a:solidFill>
                  <a:srgbClr val="1E293B"/>
                </a:solidFill>
                <a:latin typeface="微軟正黑體" panose="020B0604030504040204" pitchFamily="34" charset="-120"/>
              </a:rPr>
              <a:t>矽疊層）為突破效率極限的關鍵技術。然而，傳統「全溶液製程」在面對底電池的微米級絨面（</a:t>
            </a:r>
            <a:r>
              <a:rPr lang="en-US" altLang="zh-TW" sz="1150">
                <a:solidFill>
                  <a:srgbClr val="1E293B"/>
                </a:solidFill>
                <a:latin typeface="微軟正黑體" panose="020B0604030504040204" pitchFamily="34" charset="-120"/>
              </a:rPr>
              <a:t>Textured</a:t>
            </a:r>
            <a:r>
              <a:rPr lang="zh-TW" altLang="en-US" sz="1150">
                <a:solidFill>
                  <a:srgbClr val="1E293B"/>
                </a:solidFill>
                <a:latin typeface="微軟正黑體" panose="020B0604030504040204" pitchFamily="34" charset="-120"/>
              </a:rPr>
              <a:t>）結構時，常因流體力學限制導致尖端覆蓋過薄或谷底積液，造成嚴重漏電（</a:t>
            </a:r>
            <a:r>
              <a:rPr lang="en-US" altLang="zh-TW" sz="1150">
                <a:solidFill>
                  <a:srgbClr val="1E293B"/>
                </a:solidFill>
                <a:latin typeface="微軟正黑體" panose="020B0604030504040204" pitchFamily="34" charset="-120"/>
              </a:rPr>
              <a:t>Shunt</a:t>
            </a:r>
            <a:r>
              <a:rPr lang="zh-TW" altLang="en-US" sz="1150">
                <a:solidFill>
                  <a:srgbClr val="1E293B"/>
                </a:solidFill>
                <a:latin typeface="微軟正黑體" panose="020B0604030504040204" pitchFamily="34" charset="-120"/>
              </a:rPr>
              <a:t>）與良率低下。現有的「全蒸鍍法」則面臨成本高昂及有機組分控制困難的問題。複合蒸鍍－溶液法鈣鈦礦製程技術具有蒸鍍法的優異基板共形性，因此能在平整或是粗糙的各種表面沉積鈣鈦礦。不過表面的粗糙度不同，會改變蒸鍍無機層的晶粒尺寸及結構，透過調整有機前驅溶液之溶劑種類或比例，並引入添加劑，有效調控結晶過程，獲得緻密且大晶粒的膜層，可以簡單有效的解決問題，製作出高品質的共形性鈣鈦礦，以應用於高效率疊層光伏元件。</a:t>
            </a:r>
          </a:p>
        </p:txBody>
      </p:sp>
      <p:sp>
        <p:nvSpPr>
          <p:cNvPr id="9" name="矩形 8">
            <a:extLst>
              <a:ext uri="{FF2B5EF4-FFF2-40B4-BE49-F238E27FC236}">
                <a16:creationId xmlns:a16="http://schemas.microsoft.com/office/drawing/2014/main" id="{4162F98C-D26A-F5D3-9A3A-17062AC4088A}"/>
              </a:ext>
            </a:extLst>
          </p:cNvPr>
          <p:cNvSpPr/>
          <p:nvPr/>
        </p:nvSpPr>
        <p:spPr>
          <a:xfrm>
            <a:off x="7937500" y="952500"/>
            <a:ext cx="3746500" cy="2603500"/>
          </a:xfrm>
          <a:prstGeom prst="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BDF96B22-2A58-B18A-241C-A967586E5398}"/>
              </a:ext>
            </a:extLst>
          </p:cNvPr>
          <p:cNvSpPr txBox="1"/>
          <p:nvPr/>
        </p:nvSpPr>
        <p:spPr>
          <a:xfrm>
            <a:off x="8128000" y="1041400"/>
            <a:ext cx="33655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基本資訊（點選可直接編輯文字）：</a:t>
            </a:r>
          </a:p>
        </p:txBody>
      </p:sp>
      <p:sp>
        <p:nvSpPr>
          <p:cNvPr id="11" name="文字方塊 10">
            <a:extLst>
              <a:ext uri="{FF2B5EF4-FFF2-40B4-BE49-F238E27FC236}">
                <a16:creationId xmlns:a16="http://schemas.microsoft.com/office/drawing/2014/main" id="{F21112BE-78DD-9720-987C-D6B37CDD0F3E}"/>
              </a:ext>
            </a:extLst>
          </p:cNvPr>
          <p:cNvSpPr txBox="1"/>
          <p:nvPr/>
        </p:nvSpPr>
        <p:spPr>
          <a:xfrm>
            <a:off x="8128000" y="1371600"/>
            <a:ext cx="3365500" cy="1708160"/>
          </a:xfrm>
          <a:prstGeom prst="rect">
            <a:avLst/>
          </a:prstGeom>
          <a:noFill/>
        </p:spPr>
        <p:txBody>
          <a:bodyPr vert="horz" rtlCol="0">
            <a:spAutoFit/>
          </a:bodyPr>
          <a:lstStyle/>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家族編號：</a:t>
            </a:r>
            <a:r>
              <a:rPr lang="en-US" altLang="zh-TW" sz="1050">
                <a:solidFill>
                  <a:srgbClr val="1E293B"/>
                </a:solidFill>
                <a:latin typeface="微軟正黑體" panose="020B0604030504040204" pitchFamily="34" charset="-120"/>
              </a:rPr>
              <a:t>PF-005</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院內案件編號：</a:t>
            </a:r>
            <a:r>
              <a:rPr lang="en-US" altLang="zh-TW" sz="1050">
                <a:solidFill>
                  <a:srgbClr val="1E293B"/>
                </a:solidFill>
                <a:latin typeface="微軟正黑體" panose="020B0604030504040204" pitchFamily="34" charset="-120"/>
              </a:rPr>
              <a:t>34A-1150305</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技術領域：太陽能</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發明人：朱治偉</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公開日／申請日：</a:t>
            </a:r>
            <a:r>
              <a:rPr lang="en-US" altLang="zh-TW" sz="1050">
                <a:solidFill>
                  <a:srgbClr val="1E293B"/>
                </a:solidFill>
                <a:latin typeface="微軟正黑體" panose="020B0604030504040204" pitchFamily="34" charset="-120"/>
              </a:rPr>
              <a:t>2026-03-13</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法律狀態：專利申請中</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關聯計畫：下世代太陽能電池研究計畫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官方專屬網址：</a:t>
            </a:r>
            <a:r>
              <a:rPr lang="en-US" altLang="zh-TW" sz="1050">
                <a:solidFill>
                  <a:srgbClr val="1E293B"/>
                </a:solidFill>
                <a:latin typeface="微軟正黑體" panose="020B0604030504040204" pitchFamily="34" charset="-120"/>
              </a:rPr>
              <a:t>https://ticket.apps.sinica.edu.tw/tech/34A-1150305</a:t>
            </a:r>
            <a:endParaRPr lang="zh-TW" altLang="en-US" sz="1050">
              <a:solidFill>
                <a:srgbClr val="1E293B"/>
              </a:solidFill>
              <a:latin typeface="微軟正黑體" panose="020B0604030504040204" pitchFamily="34" charset="-120"/>
            </a:endParaRPr>
          </a:p>
        </p:txBody>
      </p:sp>
      <p:sp>
        <p:nvSpPr>
          <p:cNvPr id="12" name="文字方塊 11">
            <a:extLst>
              <a:ext uri="{FF2B5EF4-FFF2-40B4-BE49-F238E27FC236}">
                <a16:creationId xmlns:a16="http://schemas.microsoft.com/office/drawing/2014/main" id="{A853139C-3192-4B08-F338-69D6EB92B761}"/>
              </a:ext>
            </a:extLst>
          </p:cNvPr>
          <p:cNvSpPr txBox="1"/>
          <p:nvPr/>
        </p:nvSpPr>
        <p:spPr>
          <a:xfrm>
            <a:off x="508000" y="3683000"/>
            <a:ext cx="111760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各國專利申請佈局明細表（點選表格儲存格可直接編輯案號、日期或備註）：</a:t>
            </a:r>
          </a:p>
        </p:txBody>
      </p:sp>
      <p:graphicFrame>
        <p:nvGraphicFramePr>
          <p:cNvPr id="13" name="表格 12">
            <a:extLst>
              <a:ext uri="{FF2B5EF4-FFF2-40B4-BE49-F238E27FC236}">
                <a16:creationId xmlns:a16="http://schemas.microsoft.com/office/drawing/2014/main" id="{8AFFD256-FFD8-3B79-0D9C-403DD598355F}"/>
              </a:ext>
            </a:extLst>
          </p:cNvPr>
          <p:cNvGraphicFramePr>
            <a:graphicFrameLocks noGrp="1"/>
          </p:cNvGraphicFramePr>
          <p:nvPr>
            <p:extLst>
              <p:ext uri="{D42A27DB-BD31-4B8C-83A1-F6EECF244321}">
                <p14:modId xmlns:p14="http://schemas.microsoft.com/office/powerpoint/2010/main" val="1913410065"/>
              </p:ext>
            </p:extLst>
          </p:nvPr>
        </p:nvGraphicFramePr>
        <p:xfrm>
          <a:off x="508000" y="4038600"/>
          <a:ext cx="11176000" cy="2286000"/>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4127885462"/>
                    </a:ext>
                  </a:extLst>
                </a:gridCol>
                <a:gridCol w="1397000">
                  <a:extLst>
                    <a:ext uri="{9D8B030D-6E8A-4147-A177-3AD203B41FA5}">
                      <a16:colId xmlns:a16="http://schemas.microsoft.com/office/drawing/2014/main" val="1967906802"/>
                    </a:ext>
                  </a:extLst>
                </a:gridCol>
                <a:gridCol w="1016000">
                  <a:extLst>
                    <a:ext uri="{9D8B030D-6E8A-4147-A177-3AD203B41FA5}">
                      <a16:colId xmlns:a16="http://schemas.microsoft.com/office/drawing/2014/main" val="1794353300"/>
                    </a:ext>
                  </a:extLst>
                </a:gridCol>
                <a:gridCol w="1587500">
                  <a:extLst>
                    <a:ext uri="{9D8B030D-6E8A-4147-A177-3AD203B41FA5}">
                      <a16:colId xmlns:a16="http://schemas.microsoft.com/office/drawing/2014/main" val="2945820483"/>
                    </a:ext>
                  </a:extLst>
                </a:gridCol>
                <a:gridCol w="1143000">
                  <a:extLst>
                    <a:ext uri="{9D8B030D-6E8A-4147-A177-3AD203B41FA5}">
                      <a16:colId xmlns:a16="http://schemas.microsoft.com/office/drawing/2014/main" val="406744957"/>
                    </a:ext>
                  </a:extLst>
                </a:gridCol>
                <a:gridCol w="1270000">
                  <a:extLst>
                    <a:ext uri="{9D8B030D-6E8A-4147-A177-3AD203B41FA5}">
                      <a16:colId xmlns:a16="http://schemas.microsoft.com/office/drawing/2014/main" val="3161550930"/>
                    </a:ext>
                  </a:extLst>
                </a:gridCol>
                <a:gridCol w="3683000">
                  <a:extLst>
                    <a:ext uri="{9D8B030D-6E8A-4147-A177-3AD203B41FA5}">
                      <a16:colId xmlns:a16="http://schemas.microsoft.com/office/drawing/2014/main" val="1878130066"/>
                    </a:ext>
                  </a:extLst>
                </a:gridCol>
              </a:tblGrid>
              <a:tr h="571500">
                <a:tc>
                  <a:txBody>
                    <a:bodyPr/>
                    <a:lstStyle/>
                    <a:p>
                      <a:r>
                        <a:rPr lang="zh-TW" altLang="en-US" sz="1000" b="1">
                          <a:solidFill>
                            <a:srgbClr val="FFFFFF"/>
                          </a:solidFill>
                          <a:latin typeface="微軟正黑體" panose="020B0604030504040204" pitchFamily="34" charset="-120"/>
                        </a:rPr>
                        <a:t>國家／地區</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案件編號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申請類型</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申請案號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申請日期</a:t>
                      </a:r>
                    </a:p>
                  </a:txBody>
                  <a:tcPr>
                    <a:solidFill>
                      <a:srgbClr val="334155"/>
                    </a:solidFill>
                  </a:tcPr>
                </a:tc>
                <a:tc>
                  <a:txBody>
                    <a:bodyPr/>
                    <a:lstStyle/>
                    <a:p>
                      <a:r>
                        <a:rPr lang="zh-TW" altLang="en-US" sz="1000" b="1">
                          <a:solidFill>
                            <a:srgbClr val="FFFFFF"/>
                          </a:solidFill>
                          <a:latin typeface="微軟正黑體" panose="020B0604030504040204" pitchFamily="34" charset="-120"/>
                        </a:rPr>
                        <a:t>專利證號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案件狀態／備註</a:t>
                      </a:r>
                    </a:p>
                  </a:txBody>
                  <a:tcPr>
                    <a:solidFill>
                      <a:srgbClr val="334155"/>
                    </a:solidFill>
                  </a:tcPr>
                </a:tc>
                <a:extLst>
                  <a:ext uri="{0D108BD9-81ED-4DB2-BD59-A6C34878D82A}">
                    <a16:rowId xmlns:a16="http://schemas.microsoft.com/office/drawing/2014/main" val="4251281769"/>
                  </a:ext>
                </a:extLst>
              </a:tr>
              <a:tr h="571500">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34A-1150305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發明</a:t>
                      </a:r>
                    </a:p>
                  </a:txBody>
                  <a:tcPr>
                    <a:solidFill>
                      <a:srgbClr val="FFFFFF"/>
                    </a:solidFill>
                  </a:tcPr>
                </a:tc>
                <a:tc>
                  <a:txBody>
                    <a:bodyPr/>
                    <a:lstStyle/>
                    <a:p>
                      <a:r>
                        <a:rPr lang="en-US" altLang="zh-TW" sz="950">
                          <a:solidFill>
                            <a:srgbClr val="1E293B"/>
                          </a:solidFill>
                          <a:latin typeface="微軟正黑體" panose="020B0604030504040204" pitchFamily="34" charset="-120"/>
                        </a:rPr>
                        <a:t>19/697,366</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2026-06-03</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直接正式案，同族案</a:t>
                      </a:r>
                    </a:p>
                  </a:txBody>
                  <a:tcPr>
                    <a:solidFill>
                      <a:srgbClr val="FFFFFF"/>
                    </a:solidFill>
                  </a:tcPr>
                </a:tc>
                <a:extLst>
                  <a:ext uri="{0D108BD9-81ED-4DB2-BD59-A6C34878D82A}">
                    <a16:rowId xmlns:a16="http://schemas.microsoft.com/office/drawing/2014/main" val="3198909240"/>
                  </a:ext>
                </a:extLst>
              </a:tr>
              <a:tr h="571500">
                <a:tc>
                  <a:txBody>
                    <a:bodyPr/>
                    <a:lstStyle/>
                    <a:p>
                      <a:r>
                        <a:rPr lang="en-US" altLang="zh-TW" sz="950">
                          <a:solidFill>
                            <a:srgbClr val="1E293B"/>
                          </a:solidFill>
                          <a:latin typeface="微軟正黑體" panose="020B0604030504040204" pitchFamily="34" charset="-120"/>
                        </a:rPr>
                        <a:t>TW</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34A-1150305</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發明</a:t>
                      </a:r>
                    </a:p>
                  </a:txBody>
                  <a:tcPr>
                    <a:solidFill>
                      <a:srgbClr val="F8FAFC"/>
                    </a:solidFill>
                  </a:tcPr>
                </a:tc>
                <a:tc>
                  <a:txBody>
                    <a:bodyPr/>
                    <a:lstStyle/>
                    <a:p>
                      <a:r>
                        <a:rPr lang="en-US" altLang="zh-TW" sz="950">
                          <a:solidFill>
                            <a:srgbClr val="1E293B"/>
                          </a:solidFill>
                          <a:latin typeface="微軟正黑體" panose="020B0604030504040204" pitchFamily="34" charset="-120"/>
                        </a:rPr>
                        <a:t>115121813</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2026-06-03</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外文本提申，補正中文本中</a:t>
                      </a:r>
                    </a:p>
                  </a:txBody>
                  <a:tcPr>
                    <a:solidFill>
                      <a:srgbClr val="F8FAFC"/>
                    </a:solidFill>
                  </a:tcPr>
                </a:tc>
                <a:extLst>
                  <a:ext uri="{0D108BD9-81ED-4DB2-BD59-A6C34878D82A}">
                    <a16:rowId xmlns:a16="http://schemas.microsoft.com/office/drawing/2014/main" val="1788923935"/>
                  </a:ext>
                </a:extLst>
              </a:tr>
              <a:tr h="571500">
                <a:tc>
                  <a:txBody>
                    <a:bodyPr/>
                    <a:lstStyle/>
                    <a:p>
                      <a:r>
                        <a:rPr lang="en-US" altLang="zh-TW" sz="950">
                          <a:solidFill>
                            <a:srgbClr val="1E293B"/>
                          </a:solidFill>
                          <a:latin typeface="微軟正黑體" panose="020B0604030504040204" pitchFamily="34" charset="-120"/>
                        </a:rPr>
                        <a:t>CN</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34A-1150305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發明</a:t>
                      </a:r>
                    </a:p>
                  </a:txBody>
                  <a:tcPr>
                    <a:solidFill>
                      <a:srgbClr val="FFFFFF"/>
                    </a:solidFill>
                  </a:tcPr>
                </a:tc>
                <a:tc>
                  <a:txBody>
                    <a:bodyPr/>
                    <a:lstStyle/>
                    <a:p>
                      <a:r>
                        <a:rPr lang="en-US" altLang="zh-TW" sz="950">
                          <a:solidFill>
                            <a:srgbClr val="1E293B"/>
                          </a:solidFill>
                          <a:latin typeface="微軟正黑體" panose="020B0604030504040204" pitchFamily="34" charset="-120"/>
                        </a:rPr>
                        <a:t>202611243346</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2026-08-17</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外文本提申，補正中文本中</a:t>
                      </a:r>
                    </a:p>
                  </a:txBody>
                  <a:tcPr>
                    <a:solidFill>
                      <a:srgbClr val="FFFFFF"/>
                    </a:solidFill>
                  </a:tcPr>
                </a:tc>
                <a:extLst>
                  <a:ext uri="{0D108BD9-81ED-4DB2-BD59-A6C34878D82A}">
                    <a16:rowId xmlns:a16="http://schemas.microsoft.com/office/drawing/2014/main" val="1290058851"/>
                  </a:ext>
                </a:extLst>
              </a:tr>
            </a:tbl>
          </a:graphicData>
        </a:graphic>
      </p:graphicFrame>
    </p:spTree>
    <p:extLst>
      <p:ext uri="{BB962C8B-B14F-4D97-AF65-F5344CB8AC3E}">
        <p14:creationId xmlns:p14="http://schemas.microsoft.com/office/powerpoint/2010/main" val="1391395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1A10BDE-A03D-7294-BFCA-052CBFA4F73A}"/>
              </a:ext>
            </a:extLst>
          </p:cNvPr>
          <p:cNvSpPr/>
          <p:nvPr/>
        </p:nvSpPr>
        <p:spPr>
          <a:xfrm>
            <a:off x="0" y="0"/>
            <a:ext cx="12192000" cy="762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44F94C9D-79FB-572D-42F3-17A2A053139A}"/>
              </a:ext>
            </a:extLst>
          </p:cNvPr>
          <p:cNvSpPr/>
          <p:nvPr/>
        </p:nvSpPr>
        <p:spPr>
          <a:xfrm>
            <a:off x="508000" y="254000"/>
            <a:ext cx="1206500" cy="3048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太陽能</a:t>
            </a:r>
          </a:p>
        </p:txBody>
      </p:sp>
      <p:sp>
        <p:nvSpPr>
          <p:cNvPr id="4" name="文字方塊 3">
            <a:extLst>
              <a:ext uri="{FF2B5EF4-FFF2-40B4-BE49-F238E27FC236}">
                <a16:creationId xmlns:a16="http://schemas.microsoft.com/office/drawing/2014/main" id="{194138DB-5E0D-5807-AEB9-5A851D79B0FC}"/>
              </a:ext>
            </a:extLst>
          </p:cNvPr>
          <p:cNvSpPr txBox="1"/>
          <p:nvPr/>
        </p:nvSpPr>
        <p:spPr>
          <a:xfrm>
            <a:off x="1841500" y="177800"/>
            <a:ext cx="9842500" cy="307777"/>
          </a:xfrm>
          <a:prstGeom prst="rect">
            <a:avLst/>
          </a:prstGeom>
          <a:noFill/>
        </p:spPr>
        <p:txBody>
          <a:bodyPr vert="horz" lIns="0" tIns="0" rtlCol="0">
            <a:spAutoFit/>
          </a:bodyPr>
          <a:lstStyle/>
          <a:p>
            <a:r>
              <a:rPr lang="en-US" altLang="zh-TW" sz="1700" b="1">
                <a:solidFill>
                  <a:srgbClr val="0F172A"/>
                </a:solidFill>
                <a:latin typeface="微軟正黑體" panose="020B0604030504040204" pitchFamily="34" charset="-120"/>
              </a:rPr>
              <a:t>【PF-006】 </a:t>
            </a:r>
            <a:r>
              <a:rPr lang="zh-TW" altLang="en-US" sz="1700" b="1">
                <a:solidFill>
                  <a:srgbClr val="0F172A"/>
                </a:solidFill>
                <a:latin typeface="微軟正黑體" panose="020B0604030504040204" pitchFamily="34" charset="-120"/>
              </a:rPr>
              <a:t>一種用於鈣鈦礦太陽能電池之氧化錫緩衝層及其優化製程</a:t>
            </a:r>
          </a:p>
        </p:txBody>
      </p:sp>
      <p:sp>
        <p:nvSpPr>
          <p:cNvPr id="5" name="文字方塊 4">
            <a:extLst>
              <a:ext uri="{FF2B5EF4-FFF2-40B4-BE49-F238E27FC236}">
                <a16:creationId xmlns:a16="http://schemas.microsoft.com/office/drawing/2014/main" id="{D7A785B0-D482-F6C0-EF8F-A5D32F5FF1CA}"/>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智財成果詳情專頁 </a:t>
            </a:r>
            <a:r>
              <a:rPr lang="en-US" altLang="zh-TW" sz="1100">
                <a:solidFill>
                  <a:srgbClr val="64748B"/>
                </a:solidFill>
                <a:latin typeface="微軟正黑體" panose="020B0604030504040204" pitchFamily="34" charset="-120"/>
              </a:rPr>
              <a:t>(#patent/PF-006) </a:t>
            </a:r>
            <a:r>
              <a:rPr lang="zh-TW" altLang="en-US" sz="1100">
                <a:solidFill>
                  <a:srgbClr val="64748B"/>
                </a:solidFill>
                <a:latin typeface="微軟正黑體" panose="020B0604030504040204" pitchFamily="34" charset="-120"/>
              </a:rPr>
              <a:t>｜ 院內案件編號：</a:t>
            </a:r>
            <a:r>
              <a:rPr lang="en-US" altLang="zh-TW" sz="1100">
                <a:solidFill>
                  <a:srgbClr val="64748B"/>
                </a:solidFill>
                <a:latin typeface="微軟正黑體" panose="020B0604030504040204" pitchFamily="34" charset="-120"/>
              </a:rPr>
              <a:t>34A-1150325</a:t>
            </a:r>
            <a:endParaRPr lang="zh-TW" altLang="en-US" sz="1100">
              <a:solidFill>
                <a:srgbClr val="64748B"/>
              </a:solidFill>
              <a:latin typeface="微軟正黑體" panose="020B0604030504040204" pitchFamily="34" charset="-120"/>
            </a:endParaRPr>
          </a:p>
        </p:txBody>
      </p:sp>
      <p:sp>
        <p:nvSpPr>
          <p:cNvPr id="6" name="矩形 5">
            <a:extLst>
              <a:ext uri="{FF2B5EF4-FFF2-40B4-BE49-F238E27FC236}">
                <a16:creationId xmlns:a16="http://schemas.microsoft.com/office/drawing/2014/main" id="{7E0E0FED-8646-E641-EB3C-D37C26106CA1}"/>
              </a:ext>
            </a:extLst>
          </p:cNvPr>
          <p:cNvSpPr/>
          <p:nvPr/>
        </p:nvSpPr>
        <p:spPr>
          <a:xfrm>
            <a:off x="508000" y="952500"/>
            <a:ext cx="7239000" cy="2603500"/>
          </a:xfrm>
          <a:prstGeom prst="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A1A28905-BF8F-13DE-7C5F-FE75FC0FB0BE}"/>
              </a:ext>
            </a:extLst>
          </p:cNvPr>
          <p:cNvSpPr txBox="1"/>
          <p:nvPr/>
        </p:nvSpPr>
        <p:spPr>
          <a:xfrm>
            <a:off x="698500" y="1041400"/>
            <a:ext cx="6858000" cy="276999"/>
          </a:xfrm>
          <a:prstGeom prst="rect">
            <a:avLst/>
          </a:prstGeom>
          <a:noFill/>
        </p:spPr>
        <p:txBody>
          <a:bodyPr vert="horz" rtlCol="0">
            <a:spAutoFit/>
          </a:bodyPr>
          <a:lstStyle/>
          <a:p>
            <a:r>
              <a:rPr lang="zh-TW" altLang="en-US" sz="1200" b="1">
                <a:solidFill>
                  <a:srgbClr val="0E387A"/>
                </a:solidFill>
                <a:latin typeface="微軟正黑體" panose="020B0604030504040204" pitchFamily="34" charset="-120"/>
              </a:rPr>
              <a:t>📄 官方技術摘要（點選下方文字方塊可直接編輯內文）：</a:t>
            </a:r>
          </a:p>
        </p:txBody>
      </p:sp>
      <p:sp>
        <p:nvSpPr>
          <p:cNvPr id="8" name="文字方塊 7">
            <a:extLst>
              <a:ext uri="{FF2B5EF4-FFF2-40B4-BE49-F238E27FC236}">
                <a16:creationId xmlns:a16="http://schemas.microsoft.com/office/drawing/2014/main" id="{EF4B0B0C-33EF-A52C-2D61-6460F239F4E5}"/>
              </a:ext>
            </a:extLst>
          </p:cNvPr>
          <p:cNvSpPr txBox="1"/>
          <p:nvPr/>
        </p:nvSpPr>
        <p:spPr>
          <a:xfrm>
            <a:off x="698500" y="1371600"/>
            <a:ext cx="6858000" cy="623248"/>
          </a:xfrm>
          <a:prstGeom prst="rect">
            <a:avLst/>
          </a:prstGeom>
          <a:noFill/>
        </p:spPr>
        <p:txBody>
          <a:bodyPr vert="horz" rtlCol="0">
            <a:spAutoFit/>
          </a:bodyPr>
          <a:lstStyle/>
          <a:p>
            <a:r>
              <a:rPr lang="zh-TW" altLang="en-US" sz="1150">
                <a:solidFill>
                  <a:srgbClr val="1E293B"/>
                </a:solidFill>
                <a:latin typeface="微軟正黑體" panose="020B0604030504040204" pitchFamily="34" charset="-120"/>
              </a:rPr>
              <a:t>本技術針對鈣鈦礦疊層電池，開發出一種可取代傳統昂貴原子層沉積</a:t>
            </a:r>
            <a:r>
              <a:rPr lang="en-US" altLang="zh-TW" sz="1150">
                <a:solidFill>
                  <a:srgbClr val="1E293B"/>
                </a:solidFill>
                <a:latin typeface="微軟正黑體" panose="020B0604030504040204" pitchFamily="34" charset="-120"/>
              </a:rPr>
              <a:t>(ALD)</a:t>
            </a:r>
            <a:r>
              <a:rPr lang="zh-TW" altLang="en-US" sz="1150">
                <a:solidFill>
                  <a:srgbClr val="1E293B"/>
                </a:solidFill>
                <a:latin typeface="微軟正黑體" panose="020B0604030504040204" pitchFamily="34" charset="-120"/>
              </a:rPr>
              <a:t>製程的氧化錫緩衝層技術。透過特殊製程獲得穩定的奈米氧化錫分散液，並運用簡易技術製備出高品質且均勻的緩衝層，不僅能有效萃取電荷並維持元件穩定性，更具備低成本、製程簡便且易於大面積生產的商業潛力。</a:t>
            </a:r>
          </a:p>
        </p:txBody>
      </p:sp>
      <p:sp>
        <p:nvSpPr>
          <p:cNvPr id="9" name="矩形 8">
            <a:extLst>
              <a:ext uri="{FF2B5EF4-FFF2-40B4-BE49-F238E27FC236}">
                <a16:creationId xmlns:a16="http://schemas.microsoft.com/office/drawing/2014/main" id="{8D6A7477-D497-F672-E842-A974CCF48C9B}"/>
              </a:ext>
            </a:extLst>
          </p:cNvPr>
          <p:cNvSpPr/>
          <p:nvPr/>
        </p:nvSpPr>
        <p:spPr>
          <a:xfrm>
            <a:off x="7937500" y="952500"/>
            <a:ext cx="3746500" cy="2603500"/>
          </a:xfrm>
          <a:prstGeom prst="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14DC47EC-9439-B677-A891-9EF20ADF3B7E}"/>
              </a:ext>
            </a:extLst>
          </p:cNvPr>
          <p:cNvSpPr txBox="1"/>
          <p:nvPr/>
        </p:nvSpPr>
        <p:spPr>
          <a:xfrm>
            <a:off x="8128000" y="1041400"/>
            <a:ext cx="33655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基本資訊（點選可直接編輯文字）：</a:t>
            </a:r>
          </a:p>
        </p:txBody>
      </p:sp>
      <p:sp>
        <p:nvSpPr>
          <p:cNvPr id="11" name="文字方塊 10">
            <a:extLst>
              <a:ext uri="{FF2B5EF4-FFF2-40B4-BE49-F238E27FC236}">
                <a16:creationId xmlns:a16="http://schemas.microsoft.com/office/drawing/2014/main" id="{90CCDE66-608E-CA57-CE23-1EAB2E0935FC}"/>
              </a:ext>
            </a:extLst>
          </p:cNvPr>
          <p:cNvSpPr txBox="1"/>
          <p:nvPr/>
        </p:nvSpPr>
        <p:spPr>
          <a:xfrm>
            <a:off x="8128000" y="1371600"/>
            <a:ext cx="3365500" cy="1708160"/>
          </a:xfrm>
          <a:prstGeom prst="rect">
            <a:avLst/>
          </a:prstGeom>
          <a:noFill/>
        </p:spPr>
        <p:txBody>
          <a:bodyPr vert="horz" rtlCol="0">
            <a:spAutoFit/>
          </a:bodyPr>
          <a:lstStyle/>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家族編號：</a:t>
            </a:r>
            <a:r>
              <a:rPr lang="en-US" altLang="zh-TW" sz="1050">
                <a:solidFill>
                  <a:srgbClr val="1E293B"/>
                </a:solidFill>
                <a:latin typeface="微軟正黑體" panose="020B0604030504040204" pitchFamily="34" charset="-120"/>
              </a:rPr>
              <a:t>PF-006</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院內案件編號：</a:t>
            </a:r>
            <a:r>
              <a:rPr lang="en-US" altLang="zh-TW" sz="1050">
                <a:solidFill>
                  <a:srgbClr val="1E293B"/>
                </a:solidFill>
                <a:latin typeface="微軟正黑體" panose="020B0604030504040204" pitchFamily="34" charset="-120"/>
              </a:rPr>
              <a:t>34A-1150325</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技術領域：太陽能</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發明人：朱治偉</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公開日／申請日：</a:t>
            </a:r>
            <a:r>
              <a:rPr lang="en-US" altLang="zh-TW" sz="1050">
                <a:solidFill>
                  <a:srgbClr val="1E293B"/>
                </a:solidFill>
                <a:latin typeface="微軟正黑體" panose="020B0604030504040204" pitchFamily="34" charset="-120"/>
              </a:rPr>
              <a:t>2026-04-13</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法律狀態：專利申請中</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關聯計畫：下世代太陽能電池研究計畫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官方專屬網址：</a:t>
            </a:r>
            <a:r>
              <a:rPr lang="en-US" altLang="zh-TW" sz="1050">
                <a:solidFill>
                  <a:srgbClr val="1E293B"/>
                </a:solidFill>
                <a:latin typeface="微軟正黑體" panose="020B0604030504040204" pitchFamily="34" charset="-120"/>
              </a:rPr>
              <a:t>https://ticket.apps.sinica.edu.tw/tech/34A-1150325</a:t>
            </a:r>
            <a:endParaRPr lang="zh-TW" altLang="en-US" sz="1050">
              <a:solidFill>
                <a:srgbClr val="1E293B"/>
              </a:solidFill>
              <a:latin typeface="微軟正黑體" panose="020B0604030504040204" pitchFamily="34" charset="-120"/>
            </a:endParaRPr>
          </a:p>
        </p:txBody>
      </p:sp>
      <p:sp>
        <p:nvSpPr>
          <p:cNvPr id="12" name="文字方塊 11">
            <a:extLst>
              <a:ext uri="{FF2B5EF4-FFF2-40B4-BE49-F238E27FC236}">
                <a16:creationId xmlns:a16="http://schemas.microsoft.com/office/drawing/2014/main" id="{174A303C-26C0-3123-6086-7ADF0387A2E5}"/>
              </a:ext>
            </a:extLst>
          </p:cNvPr>
          <p:cNvSpPr txBox="1"/>
          <p:nvPr/>
        </p:nvSpPr>
        <p:spPr>
          <a:xfrm>
            <a:off x="508000" y="3683000"/>
            <a:ext cx="111760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各國專利申請佈局明細表（點選表格儲存格可直接編輯案號、日期或備註）：</a:t>
            </a:r>
          </a:p>
        </p:txBody>
      </p:sp>
      <p:graphicFrame>
        <p:nvGraphicFramePr>
          <p:cNvPr id="13" name="表格 12">
            <a:extLst>
              <a:ext uri="{FF2B5EF4-FFF2-40B4-BE49-F238E27FC236}">
                <a16:creationId xmlns:a16="http://schemas.microsoft.com/office/drawing/2014/main" id="{668F9DBA-E3EB-5741-0C8B-B201A1CA3535}"/>
              </a:ext>
            </a:extLst>
          </p:cNvPr>
          <p:cNvGraphicFramePr>
            <a:graphicFrameLocks noGrp="1"/>
          </p:cNvGraphicFramePr>
          <p:nvPr>
            <p:extLst>
              <p:ext uri="{D42A27DB-BD31-4B8C-83A1-F6EECF244321}">
                <p14:modId xmlns:p14="http://schemas.microsoft.com/office/powerpoint/2010/main" val="2143034198"/>
              </p:ext>
            </p:extLst>
          </p:nvPr>
        </p:nvGraphicFramePr>
        <p:xfrm>
          <a:off x="508000" y="4038600"/>
          <a:ext cx="11176000" cy="2286000"/>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3716227825"/>
                    </a:ext>
                  </a:extLst>
                </a:gridCol>
                <a:gridCol w="1397000">
                  <a:extLst>
                    <a:ext uri="{9D8B030D-6E8A-4147-A177-3AD203B41FA5}">
                      <a16:colId xmlns:a16="http://schemas.microsoft.com/office/drawing/2014/main" val="2045573548"/>
                    </a:ext>
                  </a:extLst>
                </a:gridCol>
                <a:gridCol w="1016000">
                  <a:extLst>
                    <a:ext uri="{9D8B030D-6E8A-4147-A177-3AD203B41FA5}">
                      <a16:colId xmlns:a16="http://schemas.microsoft.com/office/drawing/2014/main" val="1678852279"/>
                    </a:ext>
                  </a:extLst>
                </a:gridCol>
                <a:gridCol w="1587500">
                  <a:extLst>
                    <a:ext uri="{9D8B030D-6E8A-4147-A177-3AD203B41FA5}">
                      <a16:colId xmlns:a16="http://schemas.microsoft.com/office/drawing/2014/main" val="113645582"/>
                    </a:ext>
                  </a:extLst>
                </a:gridCol>
                <a:gridCol w="1143000">
                  <a:extLst>
                    <a:ext uri="{9D8B030D-6E8A-4147-A177-3AD203B41FA5}">
                      <a16:colId xmlns:a16="http://schemas.microsoft.com/office/drawing/2014/main" val="1759629439"/>
                    </a:ext>
                  </a:extLst>
                </a:gridCol>
                <a:gridCol w="1270000">
                  <a:extLst>
                    <a:ext uri="{9D8B030D-6E8A-4147-A177-3AD203B41FA5}">
                      <a16:colId xmlns:a16="http://schemas.microsoft.com/office/drawing/2014/main" val="3939153382"/>
                    </a:ext>
                  </a:extLst>
                </a:gridCol>
                <a:gridCol w="3683000">
                  <a:extLst>
                    <a:ext uri="{9D8B030D-6E8A-4147-A177-3AD203B41FA5}">
                      <a16:colId xmlns:a16="http://schemas.microsoft.com/office/drawing/2014/main" val="672423873"/>
                    </a:ext>
                  </a:extLst>
                </a:gridCol>
              </a:tblGrid>
              <a:tr h="1143000">
                <a:tc>
                  <a:txBody>
                    <a:bodyPr/>
                    <a:lstStyle/>
                    <a:p>
                      <a:r>
                        <a:rPr lang="zh-TW" altLang="en-US" sz="1000" b="1">
                          <a:solidFill>
                            <a:srgbClr val="FFFFFF"/>
                          </a:solidFill>
                          <a:latin typeface="微軟正黑體" panose="020B0604030504040204" pitchFamily="34" charset="-120"/>
                        </a:rPr>
                        <a:t>國家／地區</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案件編號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申請類型</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申請案號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申請日期</a:t>
                      </a:r>
                    </a:p>
                  </a:txBody>
                  <a:tcPr>
                    <a:solidFill>
                      <a:srgbClr val="334155"/>
                    </a:solidFill>
                  </a:tcPr>
                </a:tc>
                <a:tc>
                  <a:txBody>
                    <a:bodyPr/>
                    <a:lstStyle/>
                    <a:p>
                      <a:r>
                        <a:rPr lang="zh-TW" altLang="en-US" sz="1000" b="1">
                          <a:solidFill>
                            <a:srgbClr val="FFFFFF"/>
                          </a:solidFill>
                          <a:latin typeface="微軟正黑體" panose="020B0604030504040204" pitchFamily="34" charset="-120"/>
                        </a:rPr>
                        <a:t>專利證號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案件狀態／備註</a:t>
                      </a:r>
                    </a:p>
                  </a:txBody>
                  <a:tcPr>
                    <a:solidFill>
                      <a:srgbClr val="334155"/>
                    </a:solidFill>
                  </a:tcPr>
                </a:tc>
                <a:extLst>
                  <a:ext uri="{0D108BD9-81ED-4DB2-BD59-A6C34878D82A}">
                    <a16:rowId xmlns:a16="http://schemas.microsoft.com/office/drawing/2014/main" val="2829468231"/>
                  </a:ext>
                </a:extLst>
              </a:tr>
              <a:tr h="1143000">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34A-1150325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臨時案</a:t>
                      </a:r>
                    </a:p>
                  </a:txBody>
                  <a:tcPr>
                    <a:solidFill>
                      <a:srgbClr val="FFFFFF"/>
                    </a:solidFill>
                  </a:tcPr>
                </a:tc>
                <a:tc>
                  <a:txBody>
                    <a:bodyPr/>
                    <a:lstStyle/>
                    <a:p>
                      <a:r>
                        <a:rPr lang="en-US" altLang="zh-TW" sz="950">
                          <a:solidFill>
                            <a:srgbClr val="1E293B"/>
                          </a:solidFill>
                          <a:latin typeface="微軟正黑體" panose="020B0604030504040204" pitchFamily="34" charset="-120"/>
                        </a:rPr>
                        <a:t>64/112,455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2026-07-15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後續會再考慮是否轉正式案（</a:t>
                      </a:r>
                      <a:r>
                        <a:rPr lang="en-US" altLang="zh-TW" sz="950">
                          <a:solidFill>
                            <a:srgbClr val="1E293B"/>
                          </a:solidFill>
                          <a:latin typeface="微軟正黑體" panose="020B0604030504040204" pitchFamily="34" charset="-120"/>
                        </a:rPr>
                        <a:t>SnO₂ Spray Patent</a:t>
                      </a:r>
                      <a:r>
                        <a:rPr lang="zh-TW" altLang="en-US" sz="950">
                          <a:solidFill>
                            <a:srgbClr val="1E293B"/>
                          </a:solidFill>
                          <a:latin typeface="微軟正黑體" panose="020B0604030504040204" pitchFamily="34" charset="-120"/>
                        </a:rPr>
                        <a:t>）</a:t>
                      </a:r>
                    </a:p>
                  </a:txBody>
                  <a:tcPr>
                    <a:solidFill>
                      <a:srgbClr val="FFFFFF"/>
                    </a:solidFill>
                  </a:tcPr>
                </a:tc>
                <a:extLst>
                  <a:ext uri="{0D108BD9-81ED-4DB2-BD59-A6C34878D82A}">
                    <a16:rowId xmlns:a16="http://schemas.microsoft.com/office/drawing/2014/main" val="4011307717"/>
                  </a:ext>
                </a:extLst>
              </a:tr>
            </a:tbl>
          </a:graphicData>
        </a:graphic>
      </p:graphicFrame>
    </p:spTree>
    <p:extLst>
      <p:ext uri="{BB962C8B-B14F-4D97-AF65-F5344CB8AC3E}">
        <p14:creationId xmlns:p14="http://schemas.microsoft.com/office/powerpoint/2010/main" val="2787463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DB04C84-A190-F61D-DE86-713822402A2A}"/>
              </a:ext>
            </a:extLst>
          </p:cNvPr>
          <p:cNvSpPr/>
          <p:nvPr/>
        </p:nvSpPr>
        <p:spPr>
          <a:xfrm>
            <a:off x="0" y="0"/>
            <a:ext cx="12192000" cy="762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8CD3C5A2-3183-4DD1-5A0A-01C9E16B0AFE}"/>
              </a:ext>
            </a:extLst>
          </p:cNvPr>
          <p:cNvSpPr/>
          <p:nvPr/>
        </p:nvSpPr>
        <p:spPr>
          <a:xfrm>
            <a:off x="508000" y="254000"/>
            <a:ext cx="1206500" cy="3048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去碳燃氫</a:t>
            </a:r>
          </a:p>
        </p:txBody>
      </p:sp>
      <p:sp>
        <p:nvSpPr>
          <p:cNvPr id="4" name="文字方塊 3">
            <a:extLst>
              <a:ext uri="{FF2B5EF4-FFF2-40B4-BE49-F238E27FC236}">
                <a16:creationId xmlns:a16="http://schemas.microsoft.com/office/drawing/2014/main" id="{4037DC04-41C9-8A2B-0381-F477AA0955AC}"/>
              </a:ext>
            </a:extLst>
          </p:cNvPr>
          <p:cNvSpPr txBox="1"/>
          <p:nvPr/>
        </p:nvSpPr>
        <p:spPr>
          <a:xfrm>
            <a:off x="1841500" y="177800"/>
            <a:ext cx="9842500" cy="307777"/>
          </a:xfrm>
          <a:prstGeom prst="rect">
            <a:avLst/>
          </a:prstGeom>
          <a:noFill/>
        </p:spPr>
        <p:txBody>
          <a:bodyPr vert="horz" lIns="0" tIns="0" rtlCol="0">
            <a:spAutoFit/>
          </a:bodyPr>
          <a:lstStyle/>
          <a:p>
            <a:r>
              <a:rPr lang="en-US" altLang="zh-TW" sz="1700" b="1">
                <a:solidFill>
                  <a:srgbClr val="0F172A"/>
                </a:solidFill>
                <a:latin typeface="微軟正黑體" panose="020B0604030504040204" pitchFamily="34" charset="-120"/>
              </a:rPr>
              <a:t>【PF-007】 </a:t>
            </a:r>
            <a:r>
              <a:rPr lang="zh-TW" altLang="en-US" sz="1700" b="1">
                <a:solidFill>
                  <a:srgbClr val="0F172A"/>
                </a:solidFill>
                <a:latin typeface="微軟正黑體" panose="020B0604030504040204" pitchFamily="34" charset="-120"/>
              </a:rPr>
              <a:t>以電漿裂解碳氫化合物氣體同時產生碳和氫氣的方法</a:t>
            </a:r>
          </a:p>
        </p:txBody>
      </p:sp>
      <p:sp>
        <p:nvSpPr>
          <p:cNvPr id="5" name="文字方塊 4">
            <a:extLst>
              <a:ext uri="{FF2B5EF4-FFF2-40B4-BE49-F238E27FC236}">
                <a16:creationId xmlns:a16="http://schemas.microsoft.com/office/drawing/2014/main" id="{CC00554B-97DF-0A70-FD7C-9B6425C5FC6D}"/>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智財成果詳情專頁 </a:t>
            </a:r>
            <a:r>
              <a:rPr lang="en-US" altLang="zh-TW" sz="1100">
                <a:solidFill>
                  <a:srgbClr val="64748B"/>
                </a:solidFill>
                <a:latin typeface="微軟正黑體" panose="020B0604030504040204" pitchFamily="34" charset="-120"/>
              </a:rPr>
              <a:t>(#patent/PF-007) </a:t>
            </a:r>
            <a:r>
              <a:rPr lang="zh-TW" altLang="en-US" sz="1100">
                <a:solidFill>
                  <a:srgbClr val="64748B"/>
                </a:solidFill>
                <a:latin typeface="微軟正黑體" panose="020B0604030504040204" pitchFamily="34" charset="-120"/>
              </a:rPr>
              <a:t>｜ 院內案件編號：</a:t>
            </a:r>
            <a:r>
              <a:rPr lang="en-US" altLang="zh-TW" sz="1100">
                <a:solidFill>
                  <a:srgbClr val="64748B"/>
                </a:solidFill>
                <a:latin typeface="微軟正黑體" panose="020B0604030504040204" pitchFamily="34" charset="-120"/>
              </a:rPr>
              <a:t>02A-1110615</a:t>
            </a:r>
            <a:endParaRPr lang="zh-TW" altLang="en-US" sz="1100">
              <a:solidFill>
                <a:srgbClr val="64748B"/>
              </a:solidFill>
              <a:latin typeface="微軟正黑體" panose="020B0604030504040204" pitchFamily="34" charset="-120"/>
            </a:endParaRPr>
          </a:p>
        </p:txBody>
      </p:sp>
      <p:sp>
        <p:nvSpPr>
          <p:cNvPr id="6" name="矩形 5">
            <a:extLst>
              <a:ext uri="{FF2B5EF4-FFF2-40B4-BE49-F238E27FC236}">
                <a16:creationId xmlns:a16="http://schemas.microsoft.com/office/drawing/2014/main" id="{988ADF2B-A6A0-9B5E-FFD1-A73BB4394FC7}"/>
              </a:ext>
            </a:extLst>
          </p:cNvPr>
          <p:cNvSpPr/>
          <p:nvPr/>
        </p:nvSpPr>
        <p:spPr>
          <a:xfrm>
            <a:off x="508000" y="952500"/>
            <a:ext cx="7239000" cy="2603500"/>
          </a:xfrm>
          <a:prstGeom prst="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0CB8E827-6615-D566-4FF3-2A780D349C6C}"/>
              </a:ext>
            </a:extLst>
          </p:cNvPr>
          <p:cNvSpPr txBox="1"/>
          <p:nvPr/>
        </p:nvSpPr>
        <p:spPr>
          <a:xfrm>
            <a:off x="698500" y="1041400"/>
            <a:ext cx="6858000" cy="276999"/>
          </a:xfrm>
          <a:prstGeom prst="rect">
            <a:avLst/>
          </a:prstGeom>
          <a:noFill/>
        </p:spPr>
        <p:txBody>
          <a:bodyPr vert="horz" rtlCol="0">
            <a:spAutoFit/>
          </a:bodyPr>
          <a:lstStyle/>
          <a:p>
            <a:r>
              <a:rPr lang="zh-TW" altLang="en-US" sz="1200" b="1">
                <a:solidFill>
                  <a:srgbClr val="0E387A"/>
                </a:solidFill>
                <a:latin typeface="微軟正黑體" panose="020B0604030504040204" pitchFamily="34" charset="-120"/>
              </a:rPr>
              <a:t>📄 官方技術摘要（點選下方文字方塊可直接編輯內文）：</a:t>
            </a:r>
          </a:p>
        </p:txBody>
      </p:sp>
      <p:sp>
        <p:nvSpPr>
          <p:cNvPr id="8" name="文字方塊 7">
            <a:extLst>
              <a:ext uri="{FF2B5EF4-FFF2-40B4-BE49-F238E27FC236}">
                <a16:creationId xmlns:a16="http://schemas.microsoft.com/office/drawing/2014/main" id="{B13715FB-F80A-25E5-D715-B5AA06C9E23C}"/>
              </a:ext>
            </a:extLst>
          </p:cNvPr>
          <p:cNvSpPr txBox="1"/>
          <p:nvPr/>
        </p:nvSpPr>
        <p:spPr>
          <a:xfrm>
            <a:off x="698500" y="1371600"/>
            <a:ext cx="6858000" cy="446276"/>
          </a:xfrm>
          <a:prstGeom prst="rect">
            <a:avLst/>
          </a:prstGeom>
          <a:noFill/>
        </p:spPr>
        <p:txBody>
          <a:bodyPr vert="horz" rtlCol="0">
            <a:spAutoFit/>
          </a:bodyPr>
          <a:lstStyle/>
          <a:p>
            <a:r>
              <a:rPr lang="zh-TW" altLang="en-US" sz="1150">
                <a:solidFill>
                  <a:srgbClr val="1E293B"/>
                </a:solidFill>
                <a:latin typeface="微軟正黑體" panose="020B0604030504040204" pitchFamily="34" charset="-120"/>
              </a:rPr>
              <a:t>利用高溫電漿裂解甲烷等碳氫化合物氣體，在無氧環境下將氣體直接裂解為固態碳黑與潔淨氫氣，達成零直接二氧化碳排放之產氫技術，兼具固碳與能源轉型之關鍵工業應用價值。</a:t>
            </a:r>
          </a:p>
        </p:txBody>
      </p:sp>
      <p:sp>
        <p:nvSpPr>
          <p:cNvPr id="9" name="矩形 8">
            <a:extLst>
              <a:ext uri="{FF2B5EF4-FFF2-40B4-BE49-F238E27FC236}">
                <a16:creationId xmlns:a16="http://schemas.microsoft.com/office/drawing/2014/main" id="{EDC5B956-DAC7-50EF-13B8-A1571C371785}"/>
              </a:ext>
            </a:extLst>
          </p:cNvPr>
          <p:cNvSpPr/>
          <p:nvPr/>
        </p:nvSpPr>
        <p:spPr>
          <a:xfrm>
            <a:off x="7937500" y="952500"/>
            <a:ext cx="3746500" cy="2603500"/>
          </a:xfrm>
          <a:prstGeom prst="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2A8C62FD-1C3E-3C37-8771-9CF6CEF9F884}"/>
              </a:ext>
            </a:extLst>
          </p:cNvPr>
          <p:cNvSpPr txBox="1"/>
          <p:nvPr/>
        </p:nvSpPr>
        <p:spPr>
          <a:xfrm>
            <a:off x="8128000" y="1041400"/>
            <a:ext cx="33655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基本資訊（點選可直接編輯文字）：</a:t>
            </a:r>
          </a:p>
        </p:txBody>
      </p:sp>
      <p:sp>
        <p:nvSpPr>
          <p:cNvPr id="11" name="文字方塊 10">
            <a:extLst>
              <a:ext uri="{FF2B5EF4-FFF2-40B4-BE49-F238E27FC236}">
                <a16:creationId xmlns:a16="http://schemas.microsoft.com/office/drawing/2014/main" id="{E44F5698-2159-B467-D35D-1BB6C1C712E3}"/>
              </a:ext>
            </a:extLst>
          </p:cNvPr>
          <p:cNvSpPr txBox="1"/>
          <p:nvPr/>
        </p:nvSpPr>
        <p:spPr>
          <a:xfrm>
            <a:off x="8128000" y="1371600"/>
            <a:ext cx="3365500" cy="1708160"/>
          </a:xfrm>
          <a:prstGeom prst="rect">
            <a:avLst/>
          </a:prstGeom>
          <a:noFill/>
        </p:spPr>
        <p:txBody>
          <a:bodyPr vert="horz" rtlCol="0">
            <a:spAutoFit/>
          </a:bodyPr>
          <a:lstStyle/>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家族編號：</a:t>
            </a:r>
            <a:r>
              <a:rPr lang="en-US" altLang="zh-TW" sz="1050">
                <a:solidFill>
                  <a:srgbClr val="1E293B"/>
                </a:solidFill>
                <a:latin typeface="微軟正黑體" panose="020B0604030504040204" pitchFamily="34" charset="-120"/>
              </a:rPr>
              <a:t>PF-007</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院內案件編號：</a:t>
            </a:r>
            <a:r>
              <a:rPr lang="en-US" altLang="zh-TW" sz="1050">
                <a:solidFill>
                  <a:srgbClr val="1E293B"/>
                </a:solidFill>
                <a:latin typeface="微軟正黑體" panose="020B0604030504040204" pitchFamily="34" charset="-120"/>
              </a:rPr>
              <a:t>02A-1110615</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技術領域：去碳燃氫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發明人：去碳燃氫研發團隊</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公開日／申請日：</a:t>
            </a:r>
            <a:r>
              <a:rPr lang="en-US" altLang="zh-TW" sz="1050">
                <a:solidFill>
                  <a:srgbClr val="1E293B"/>
                </a:solidFill>
                <a:latin typeface="微軟正黑體" panose="020B0604030504040204" pitchFamily="34" charset="-120"/>
              </a:rPr>
              <a:t>2023-07-21</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法律狀態：已獲證（多國）</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關聯計畫：去碳燃氫研究計畫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官方專屬網址：</a:t>
            </a:r>
            <a:r>
              <a:rPr lang="en-US" altLang="zh-TW" sz="1050">
                <a:solidFill>
                  <a:srgbClr val="1E293B"/>
                </a:solidFill>
                <a:latin typeface="微軟正黑體" panose="020B0604030504040204" pitchFamily="34" charset="-120"/>
              </a:rPr>
              <a:t>https://ticket.apps.sinica.edu.tw/tech/02A-1110615</a:t>
            </a:r>
            <a:endParaRPr lang="zh-TW" altLang="en-US" sz="1050">
              <a:solidFill>
                <a:srgbClr val="1E293B"/>
              </a:solidFill>
              <a:latin typeface="微軟正黑體" panose="020B0604030504040204" pitchFamily="34" charset="-120"/>
            </a:endParaRPr>
          </a:p>
        </p:txBody>
      </p:sp>
      <p:sp>
        <p:nvSpPr>
          <p:cNvPr id="12" name="文字方塊 11">
            <a:extLst>
              <a:ext uri="{FF2B5EF4-FFF2-40B4-BE49-F238E27FC236}">
                <a16:creationId xmlns:a16="http://schemas.microsoft.com/office/drawing/2014/main" id="{AFD42E71-803A-9B67-23E4-0B8E6BD184C1}"/>
              </a:ext>
            </a:extLst>
          </p:cNvPr>
          <p:cNvSpPr txBox="1"/>
          <p:nvPr/>
        </p:nvSpPr>
        <p:spPr>
          <a:xfrm>
            <a:off x="508000" y="3683000"/>
            <a:ext cx="111760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各國專利申請佈局明細表（點選表格儲存格可直接編輯案號、日期或備註）：</a:t>
            </a:r>
          </a:p>
        </p:txBody>
      </p:sp>
      <p:graphicFrame>
        <p:nvGraphicFramePr>
          <p:cNvPr id="13" name="表格 12">
            <a:extLst>
              <a:ext uri="{FF2B5EF4-FFF2-40B4-BE49-F238E27FC236}">
                <a16:creationId xmlns:a16="http://schemas.microsoft.com/office/drawing/2014/main" id="{F64789A7-8004-D831-6DBA-9A1458F2CFF0}"/>
              </a:ext>
            </a:extLst>
          </p:cNvPr>
          <p:cNvGraphicFramePr>
            <a:graphicFrameLocks noGrp="1"/>
          </p:cNvGraphicFramePr>
          <p:nvPr>
            <p:extLst>
              <p:ext uri="{D42A27DB-BD31-4B8C-83A1-F6EECF244321}">
                <p14:modId xmlns:p14="http://schemas.microsoft.com/office/powerpoint/2010/main" val="717812615"/>
              </p:ext>
            </p:extLst>
          </p:nvPr>
        </p:nvGraphicFramePr>
        <p:xfrm>
          <a:off x="508000" y="4038600"/>
          <a:ext cx="11176000" cy="2286000"/>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4237317015"/>
                    </a:ext>
                  </a:extLst>
                </a:gridCol>
                <a:gridCol w="1397000">
                  <a:extLst>
                    <a:ext uri="{9D8B030D-6E8A-4147-A177-3AD203B41FA5}">
                      <a16:colId xmlns:a16="http://schemas.microsoft.com/office/drawing/2014/main" val="3259792191"/>
                    </a:ext>
                  </a:extLst>
                </a:gridCol>
                <a:gridCol w="1016000">
                  <a:extLst>
                    <a:ext uri="{9D8B030D-6E8A-4147-A177-3AD203B41FA5}">
                      <a16:colId xmlns:a16="http://schemas.microsoft.com/office/drawing/2014/main" val="3090276709"/>
                    </a:ext>
                  </a:extLst>
                </a:gridCol>
                <a:gridCol w="1587500">
                  <a:extLst>
                    <a:ext uri="{9D8B030D-6E8A-4147-A177-3AD203B41FA5}">
                      <a16:colId xmlns:a16="http://schemas.microsoft.com/office/drawing/2014/main" val="1614452960"/>
                    </a:ext>
                  </a:extLst>
                </a:gridCol>
                <a:gridCol w="1143000">
                  <a:extLst>
                    <a:ext uri="{9D8B030D-6E8A-4147-A177-3AD203B41FA5}">
                      <a16:colId xmlns:a16="http://schemas.microsoft.com/office/drawing/2014/main" val="1361633479"/>
                    </a:ext>
                  </a:extLst>
                </a:gridCol>
                <a:gridCol w="1270000">
                  <a:extLst>
                    <a:ext uri="{9D8B030D-6E8A-4147-A177-3AD203B41FA5}">
                      <a16:colId xmlns:a16="http://schemas.microsoft.com/office/drawing/2014/main" val="4240850997"/>
                    </a:ext>
                  </a:extLst>
                </a:gridCol>
                <a:gridCol w="3683000">
                  <a:extLst>
                    <a:ext uri="{9D8B030D-6E8A-4147-A177-3AD203B41FA5}">
                      <a16:colId xmlns:a16="http://schemas.microsoft.com/office/drawing/2014/main" val="2055322047"/>
                    </a:ext>
                  </a:extLst>
                </a:gridCol>
              </a:tblGrid>
              <a:tr h="457200">
                <a:tc>
                  <a:txBody>
                    <a:bodyPr/>
                    <a:lstStyle/>
                    <a:p>
                      <a:r>
                        <a:rPr lang="zh-TW" altLang="en-US" sz="1000" b="1">
                          <a:solidFill>
                            <a:srgbClr val="FFFFFF"/>
                          </a:solidFill>
                          <a:latin typeface="微軟正黑體" panose="020B0604030504040204" pitchFamily="34" charset="-120"/>
                        </a:rPr>
                        <a:t>國家／地區</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案件編號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申請類型</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申請案號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申請日期</a:t>
                      </a:r>
                    </a:p>
                  </a:txBody>
                  <a:tcPr>
                    <a:solidFill>
                      <a:srgbClr val="334155"/>
                    </a:solidFill>
                  </a:tcPr>
                </a:tc>
                <a:tc>
                  <a:txBody>
                    <a:bodyPr/>
                    <a:lstStyle/>
                    <a:p>
                      <a:r>
                        <a:rPr lang="zh-TW" altLang="en-US" sz="1000" b="1">
                          <a:solidFill>
                            <a:srgbClr val="FFFFFF"/>
                          </a:solidFill>
                          <a:latin typeface="微軟正黑體" panose="020B0604030504040204" pitchFamily="34" charset="-120"/>
                        </a:rPr>
                        <a:t>專利證號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案件狀態／備註</a:t>
                      </a:r>
                    </a:p>
                  </a:txBody>
                  <a:tcPr>
                    <a:solidFill>
                      <a:srgbClr val="334155"/>
                    </a:solidFill>
                  </a:tcPr>
                </a:tc>
                <a:extLst>
                  <a:ext uri="{0D108BD9-81ED-4DB2-BD59-A6C34878D82A}">
                    <a16:rowId xmlns:a16="http://schemas.microsoft.com/office/drawing/2014/main" val="1849209323"/>
                  </a:ext>
                </a:extLst>
              </a:tr>
              <a:tr h="457200">
                <a:tc>
                  <a:txBody>
                    <a:bodyPr/>
                    <a:lstStyle/>
                    <a:p>
                      <a:r>
                        <a:rPr lang="en-US" altLang="zh-TW" sz="950">
                          <a:solidFill>
                            <a:srgbClr val="1E293B"/>
                          </a:solidFill>
                          <a:latin typeface="微軟正黑體" panose="020B0604030504040204" pitchFamily="34" charset="-120"/>
                        </a:rPr>
                        <a:t>TW</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02A-1110615-TW</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發明</a:t>
                      </a:r>
                    </a:p>
                  </a:txBody>
                  <a:tcPr>
                    <a:solidFill>
                      <a:srgbClr val="FFFFFF"/>
                    </a:solidFill>
                  </a:tcPr>
                </a:tc>
                <a:tc>
                  <a:txBody>
                    <a:bodyPr/>
                    <a:lstStyle/>
                    <a:p>
                      <a:r>
                        <a:rPr lang="en-US" altLang="zh-TW" sz="950">
                          <a:solidFill>
                            <a:srgbClr val="1E293B"/>
                          </a:solidFill>
                          <a:latin typeface="微軟正黑體" panose="020B0604030504040204" pitchFamily="34" charset="-120"/>
                        </a:rPr>
                        <a:t>112127426</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2023-07-21</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I 905526</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已獲證（發明專利）</a:t>
                      </a:r>
                    </a:p>
                  </a:txBody>
                  <a:tcPr>
                    <a:solidFill>
                      <a:srgbClr val="FFFFFF"/>
                    </a:solidFill>
                  </a:tcPr>
                </a:tc>
                <a:extLst>
                  <a:ext uri="{0D108BD9-81ED-4DB2-BD59-A6C34878D82A}">
                    <a16:rowId xmlns:a16="http://schemas.microsoft.com/office/drawing/2014/main" val="3392559313"/>
                  </a:ext>
                </a:extLst>
              </a:tr>
              <a:tr h="457200">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02A-1110615-USP</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臨時案</a:t>
                      </a:r>
                    </a:p>
                  </a:txBody>
                  <a:tcPr>
                    <a:solidFill>
                      <a:srgbClr val="F8FAFC"/>
                    </a:solidFill>
                  </a:tcPr>
                </a:tc>
                <a:tc>
                  <a:txBody>
                    <a:bodyPr/>
                    <a:lstStyle/>
                    <a:p>
                      <a:r>
                        <a:rPr lang="en-US" altLang="zh-TW" sz="950">
                          <a:solidFill>
                            <a:srgbClr val="1E293B"/>
                          </a:solidFill>
                          <a:latin typeface="微軟正黑體" panose="020B0604030504040204" pitchFamily="34" charset="-120"/>
                        </a:rPr>
                        <a:t>63/391,421</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2022-07-22</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已申請</a:t>
                      </a:r>
                    </a:p>
                  </a:txBody>
                  <a:tcPr>
                    <a:solidFill>
                      <a:srgbClr val="F8FAFC"/>
                    </a:solidFill>
                  </a:tcPr>
                </a:tc>
                <a:extLst>
                  <a:ext uri="{0D108BD9-81ED-4DB2-BD59-A6C34878D82A}">
                    <a16:rowId xmlns:a16="http://schemas.microsoft.com/office/drawing/2014/main" val="2790451466"/>
                  </a:ext>
                </a:extLst>
              </a:tr>
              <a:tr h="457200">
                <a:tc>
                  <a:txBody>
                    <a:bodyPr/>
                    <a:lstStyle/>
                    <a:p>
                      <a:r>
                        <a:rPr lang="en-US" altLang="zh-TW" sz="950">
                          <a:solidFill>
                            <a:srgbClr val="1E293B"/>
                          </a:solidFill>
                          <a:latin typeface="微軟正黑體" panose="020B0604030504040204" pitchFamily="34" charset="-120"/>
                        </a:rPr>
                        <a:t>PCT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02A-1110615-PCT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PCT</a:t>
                      </a:r>
                      <a:r>
                        <a:rPr lang="zh-TW" altLang="en-US" sz="950">
                          <a:solidFill>
                            <a:srgbClr val="1E293B"/>
                          </a:solidFill>
                          <a:latin typeface="微軟正黑體" panose="020B0604030504040204" pitchFamily="34" charset="-120"/>
                        </a:rPr>
                        <a:t>國際申請</a:t>
                      </a:r>
                    </a:p>
                  </a:txBody>
                  <a:tcPr>
                    <a:solidFill>
                      <a:srgbClr val="FFFFFF"/>
                    </a:solidFill>
                  </a:tcPr>
                </a:tc>
                <a:tc>
                  <a:txBody>
                    <a:bodyPr/>
                    <a:lstStyle/>
                    <a:p>
                      <a:r>
                        <a:rPr lang="en-US" altLang="zh-TW" sz="950">
                          <a:solidFill>
                            <a:srgbClr val="1E293B"/>
                          </a:solidFill>
                          <a:latin typeface="微軟正黑體" panose="020B0604030504040204" pitchFamily="34" charset="-120"/>
                        </a:rPr>
                        <a:t>PCT/US2023/070654</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2023-07-21</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已申請</a:t>
                      </a:r>
                    </a:p>
                  </a:txBody>
                  <a:tcPr>
                    <a:solidFill>
                      <a:srgbClr val="FFFFFF"/>
                    </a:solidFill>
                  </a:tcPr>
                </a:tc>
                <a:extLst>
                  <a:ext uri="{0D108BD9-81ED-4DB2-BD59-A6C34878D82A}">
                    <a16:rowId xmlns:a16="http://schemas.microsoft.com/office/drawing/2014/main" val="2932109189"/>
                  </a:ext>
                </a:extLst>
              </a:tr>
              <a:tr h="457200">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02A-1110615-PCT-US</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發明</a:t>
                      </a:r>
                      <a:r>
                        <a:rPr lang="en-US" altLang="zh-TW" sz="950">
                          <a:solidFill>
                            <a:srgbClr val="1E293B"/>
                          </a:solidFill>
                          <a:latin typeface="微軟正黑體" panose="020B0604030504040204" pitchFamily="34" charset="-120"/>
                        </a:rPr>
                        <a:t>(PCT</a:t>
                      </a:r>
                      <a:r>
                        <a:rPr lang="zh-TW" altLang="en-US" sz="950">
                          <a:solidFill>
                            <a:srgbClr val="1E293B"/>
                          </a:solidFill>
                          <a:latin typeface="微軟正黑體" panose="020B0604030504040204" pitchFamily="34" charset="-120"/>
                        </a:rPr>
                        <a:t>進入</a:t>
                      </a:r>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18997518</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2025-01-22</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已申請進入美國國家階段</a:t>
                      </a:r>
                    </a:p>
                  </a:txBody>
                  <a:tcPr>
                    <a:solidFill>
                      <a:srgbClr val="F8FAFC"/>
                    </a:solidFill>
                  </a:tcPr>
                </a:tc>
                <a:extLst>
                  <a:ext uri="{0D108BD9-81ED-4DB2-BD59-A6C34878D82A}">
                    <a16:rowId xmlns:a16="http://schemas.microsoft.com/office/drawing/2014/main" val="1333841363"/>
                  </a:ext>
                </a:extLst>
              </a:tr>
            </a:tbl>
          </a:graphicData>
        </a:graphic>
      </p:graphicFrame>
    </p:spTree>
    <p:extLst>
      <p:ext uri="{BB962C8B-B14F-4D97-AF65-F5344CB8AC3E}">
        <p14:creationId xmlns:p14="http://schemas.microsoft.com/office/powerpoint/2010/main" val="1838031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EB4F7CC-8F08-475B-60C6-BF3C4510BF80}"/>
              </a:ext>
            </a:extLst>
          </p:cNvPr>
          <p:cNvSpPr/>
          <p:nvPr/>
        </p:nvSpPr>
        <p:spPr>
          <a:xfrm>
            <a:off x="0" y="0"/>
            <a:ext cx="12192000" cy="762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96A80A22-F5C8-636C-032E-C2F56547F8CA}"/>
              </a:ext>
            </a:extLst>
          </p:cNvPr>
          <p:cNvSpPr/>
          <p:nvPr/>
        </p:nvSpPr>
        <p:spPr>
          <a:xfrm>
            <a:off x="508000" y="254000"/>
            <a:ext cx="1206500" cy="3048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去碳燃氫</a:t>
            </a:r>
          </a:p>
        </p:txBody>
      </p:sp>
      <p:sp>
        <p:nvSpPr>
          <p:cNvPr id="4" name="文字方塊 3">
            <a:extLst>
              <a:ext uri="{FF2B5EF4-FFF2-40B4-BE49-F238E27FC236}">
                <a16:creationId xmlns:a16="http://schemas.microsoft.com/office/drawing/2014/main" id="{A71C151C-6EC6-4E05-636E-63933029AA4A}"/>
              </a:ext>
            </a:extLst>
          </p:cNvPr>
          <p:cNvSpPr txBox="1"/>
          <p:nvPr/>
        </p:nvSpPr>
        <p:spPr>
          <a:xfrm>
            <a:off x="1841500" y="177800"/>
            <a:ext cx="9842500" cy="307777"/>
          </a:xfrm>
          <a:prstGeom prst="rect">
            <a:avLst/>
          </a:prstGeom>
          <a:noFill/>
        </p:spPr>
        <p:txBody>
          <a:bodyPr vert="horz" lIns="0" tIns="0" rtlCol="0">
            <a:spAutoFit/>
          </a:bodyPr>
          <a:lstStyle/>
          <a:p>
            <a:r>
              <a:rPr lang="en-US" altLang="zh-TW" sz="1700" b="1">
                <a:solidFill>
                  <a:srgbClr val="0F172A"/>
                </a:solidFill>
                <a:latin typeface="微軟正黑體" panose="020B0604030504040204" pitchFamily="34" charset="-120"/>
              </a:rPr>
              <a:t>【PF-008】 </a:t>
            </a:r>
            <a:r>
              <a:rPr lang="zh-TW" altLang="en-US" sz="1700" b="1">
                <a:solidFill>
                  <a:srgbClr val="0F172A"/>
                </a:solidFill>
                <a:latin typeface="微軟正黑體" panose="020B0604030504040204" pitchFamily="34" charset="-120"/>
              </a:rPr>
              <a:t>具分離式點火電漿源與反應電漿源之氣體裂解系統</a:t>
            </a:r>
          </a:p>
        </p:txBody>
      </p:sp>
      <p:sp>
        <p:nvSpPr>
          <p:cNvPr id="5" name="文字方塊 4">
            <a:extLst>
              <a:ext uri="{FF2B5EF4-FFF2-40B4-BE49-F238E27FC236}">
                <a16:creationId xmlns:a16="http://schemas.microsoft.com/office/drawing/2014/main" id="{F3A41662-FDF8-9BB7-5D94-7B0049E28D26}"/>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智財成果詳情專頁 </a:t>
            </a:r>
            <a:r>
              <a:rPr lang="en-US" altLang="zh-TW" sz="1100">
                <a:solidFill>
                  <a:srgbClr val="64748B"/>
                </a:solidFill>
                <a:latin typeface="微軟正黑體" panose="020B0604030504040204" pitchFamily="34" charset="-120"/>
              </a:rPr>
              <a:t>(#patent/PF-008) </a:t>
            </a:r>
            <a:r>
              <a:rPr lang="zh-TW" altLang="en-US" sz="1100">
                <a:solidFill>
                  <a:srgbClr val="64748B"/>
                </a:solidFill>
                <a:latin typeface="微軟正黑體" panose="020B0604030504040204" pitchFamily="34" charset="-120"/>
              </a:rPr>
              <a:t>｜ 院內案件編號：</a:t>
            </a:r>
            <a:r>
              <a:rPr lang="en-US" altLang="zh-TW" sz="1100">
                <a:solidFill>
                  <a:srgbClr val="64748B"/>
                </a:solidFill>
                <a:latin typeface="微軟正黑體" panose="020B0604030504040204" pitchFamily="34" charset="-120"/>
              </a:rPr>
              <a:t>34A-1150903</a:t>
            </a:r>
            <a:endParaRPr lang="zh-TW" altLang="en-US" sz="1100">
              <a:solidFill>
                <a:srgbClr val="64748B"/>
              </a:solidFill>
              <a:latin typeface="微軟正黑體" panose="020B0604030504040204" pitchFamily="34" charset="-120"/>
            </a:endParaRPr>
          </a:p>
        </p:txBody>
      </p:sp>
      <p:sp>
        <p:nvSpPr>
          <p:cNvPr id="6" name="矩形 5">
            <a:extLst>
              <a:ext uri="{FF2B5EF4-FFF2-40B4-BE49-F238E27FC236}">
                <a16:creationId xmlns:a16="http://schemas.microsoft.com/office/drawing/2014/main" id="{455F8E96-BFB1-FF29-C008-9D736A833877}"/>
              </a:ext>
            </a:extLst>
          </p:cNvPr>
          <p:cNvSpPr/>
          <p:nvPr/>
        </p:nvSpPr>
        <p:spPr>
          <a:xfrm>
            <a:off x="508000" y="952500"/>
            <a:ext cx="7239000" cy="2603500"/>
          </a:xfrm>
          <a:prstGeom prst="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E62D8EBD-57AE-8CB1-E03F-5C2AEFE62653}"/>
              </a:ext>
            </a:extLst>
          </p:cNvPr>
          <p:cNvSpPr txBox="1"/>
          <p:nvPr/>
        </p:nvSpPr>
        <p:spPr>
          <a:xfrm>
            <a:off x="698500" y="1041400"/>
            <a:ext cx="6858000" cy="276999"/>
          </a:xfrm>
          <a:prstGeom prst="rect">
            <a:avLst/>
          </a:prstGeom>
          <a:noFill/>
        </p:spPr>
        <p:txBody>
          <a:bodyPr vert="horz" rtlCol="0">
            <a:spAutoFit/>
          </a:bodyPr>
          <a:lstStyle/>
          <a:p>
            <a:r>
              <a:rPr lang="zh-TW" altLang="en-US" sz="1200" b="1">
                <a:solidFill>
                  <a:srgbClr val="0E387A"/>
                </a:solidFill>
                <a:latin typeface="微軟正黑體" panose="020B0604030504040204" pitchFamily="34" charset="-120"/>
              </a:rPr>
              <a:t>📄 官方技術摘要（點選下方文字方塊可直接編輯內文）：</a:t>
            </a:r>
          </a:p>
        </p:txBody>
      </p:sp>
      <p:sp>
        <p:nvSpPr>
          <p:cNvPr id="8" name="文字方塊 7">
            <a:extLst>
              <a:ext uri="{FF2B5EF4-FFF2-40B4-BE49-F238E27FC236}">
                <a16:creationId xmlns:a16="http://schemas.microsoft.com/office/drawing/2014/main" id="{3B64325D-E7FE-254C-C711-02BEBE375B34}"/>
              </a:ext>
            </a:extLst>
          </p:cNvPr>
          <p:cNvSpPr txBox="1"/>
          <p:nvPr/>
        </p:nvSpPr>
        <p:spPr>
          <a:xfrm>
            <a:off x="698500" y="1371600"/>
            <a:ext cx="6858000" cy="269304"/>
          </a:xfrm>
          <a:prstGeom prst="rect">
            <a:avLst/>
          </a:prstGeom>
          <a:noFill/>
        </p:spPr>
        <p:txBody>
          <a:bodyPr vert="horz" rtlCol="0">
            <a:spAutoFit/>
          </a:bodyPr>
          <a:lstStyle/>
          <a:p>
            <a:r>
              <a:rPr lang="en-US" altLang="zh-TW" sz="1150">
                <a:solidFill>
                  <a:srgbClr val="64748B"/>
                </a:solidFill>
                <a:latin typeface="微軟正黑體" panose="020B0604030504040204" pitchFamily="34" charset="-120"/>
              </a:rPr>
              <a:t>【</a:t>
            </a:r>
            <a:r>
              <a:rPr lang="zh-TW" altLang="en-US" sz="1150">
                <a:solidFill>
                  <a:srgbClr val="64748B"/>
                </a:solidFill>
                <a:latin typeface="微軟正黑體" panose="020B0604030504040204" pitchFamily="34" charset="-120"/>
              </a:rPr>
              <a:t>目前尚未填寫技術摘要，您可直接在此方塊中輸入或貼上最新摘要內容</a:t>
            </a:r>
            <a:r>
              <a:rPr lang="en-US" altLang="zh-TW" sz="1150">
                <a:solidFill>
                  <a:srgbClr val="64748B"/>
                </a:solidFill>
                <a:latin typeface="微軟正黑體" panose="020B0604030504040204" pitchFamily="34" charset="-120"/>
              </a:rPr>
              <a:t>】</a:t>
            </a:r>
            <a:endParaRPr lang="zh-TW" altLang="en-US" sz="1150">
              <a:solidFill>
                <a:srgbClr val="64748B"/>
              </a:solidFill>
              <a:latin typeface="微軟正黑體" panose="020B0604030504040204" pitchFamily="34" charset="-120"/>
            </a:endParaRPr>
          </a:p>
        </p:txBody>
      </p:sp>
      <p:sp>
        <p:nvSpPr>
          <p:cNvPr id="9" name="矩形 8">
            <a:extLst>
              <a:ext uri="{FF2B5EF4-FFF2-40B4-BE49-F238E27FC236}">
                <a16:creationId xmlns:a16="http://schemas.microsoft.com/office/drawing/2014/main" id="{E1D0DA31-5CA2-DB95-8487-ABF0D6F5C347}"/>
              </a:ext>
            </a:extLst>
          </p:cNvPr>
          <p:cNvSpPr/>
          <p:nvPr/>
        </p:nvSpPr>
        <p:spPr>
          <a:xfrm>
            <a:off x="7937500" y="952500"/>
            <a:ext cx="3746500" cy="2603500"/>
          </a:xfrm>
          <a:prstGeom prst="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C0CCC7C5-5AC1-B806-FAEA-2D827E54DB88}"/>
              </a:ext>
            </a:extLst>
          </p:cNvPr>
          <p:cNvSpPr txBox="1"/>
          <p:nvPr/>
        </p:nvSpPr>
        <p:spPr>
          <a:xfrm>
            <a:off x="8128000" y="1041400"/>
            <a:ext cx="33655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基本資訊（點選可直接編輯文字）：</a:t>
            </a:r>
          </a:p>
        </p:txBody>
      </p:sp>
      <p:sp>
        <p:nvSpPr>
          <p:cNvPr id="11" name="文字方塊 10">
            <a:extLst>
              <a:ext uri="{FF2B5EF4-FFF2-40B4-BE49-F238E27FC236}">
                <a16:creationId xmlns:a16="http://schemas.microsoft.com/office/drawing/2014/main" id="{7CAA6BD3-8A4D-7B31-1644-8B3C0CDE0A47}"/>
              </a:ext>
            </a:extLst>
          </p:cNvPr>
          <p:cNvSpPr txBox="1"/>
          <p:nvPr/>
        </p:nvSpPr>
        <p:spPr>
          <a:xfrm>
            <a:off x="8128000" y="1371600"/>
            <a:ext cx="3365500" cy="1384995"/>
          </a:xfrm>
          <a:prstGeom prst="rect">
            <a:avLst/>
          </a:prstGeom>
          <a:noFill/>
        </p:spPr>
        <p:txBody>
          <a:bodyPr vert="horz" rtlCol="0">
            <a:spAutoFit/>
          </a:bodyPr>
          <a:lstStyle/>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家族編號：</a:t>
            </a:r>
            <a:r>
              <a:rPr lang="en-US" altLang="zh-TW" sz="1050">
                <a:solidFill>
                  <a:srgbClr val="1E293B"/>
                </a:solidFill>
                <a:latin typeface="微軟正黑體" panose="020B0604030504040204" pitchFamily="34" charset="-120"/>
              </a:rPr>
              <a:t>PF-008</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院內案件編號：</a:t>
            </a:r>
            <a:r>
              <a:rPr lang="en-US" altLang="zh-TW" sz="1050">
                <a:solidFill>
                  <a:srgbClr val="1E293B"/>
                </a:solidFill>
                <a:latin typeface="微軟正黑體" panose="020B0604030504040204" pitchFamily="34" charset="-120"/>
              </a:rPr>
              <a:t>34A-1150903</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技術領域：去碳燃氫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發明人：</a:t>
            </a:r>
            <a:r>
              <a:rPr lang="en-US" altLang="zh-TW" sz="1050">
                <a:solidFill>
                  <a:srgbClr val="1E293B"/>
                </a:solidFill>
                <a:latin typeface="微軟正黑體" panose="020B0604030504040204" pitchFamily="34" charset="-120"/>
              </a:rPr>
              <a:t>【</a:t>
            </a:r>
            <a:r>
              <a:rPr lang="zh-TW" altLang="en-US" sz="1050">
                <a:solidFill>
                  <a:srgbClr val="1E293B"/>
                </a:solidFill>
                <a:latin typeface="微軟正黑體" panose="020B0604030504040204" pitchFamily="34" charset="-120"/>
              </a:rPr>
              <a:t>待填寫</a:t>
            </a:r>
            <a:r>
              <a:rPr lang="en-US" altLang="zh-TW" sz="1050">
                <a:solidFill>
                  <a:srgbClr val="1E293B"/>
                </a:solidFill>
                <a:latin typeface="微軟正黑體" panose="020B0604030504040204" pitchFamily="34" charset="-120"/>
              </a:rPr>
              <a:t>】</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公開日／申請日：</a:t>
            </a:r>
            <a:r>
              <a:rPr lang="en-US" altLang="zh-TW" sz="1050">
                <a:solidFill>
                  <a:srgbClr val="1E293B"/>
                </a:solidFill>
                <a:latin typeface="微軟正黑體" panose="020B0604030504040204" pitchFamily="34" charset="-120"/>
              </a:rPr>
              <a:t>【</a:t>
            </a:r>
            <a:r>
              <a:rPr lang="zh-TW" altLang="en-US" sz="1050">
                <a:solidFill>
                  <a:srgbClr val="1E293B"/>
                </a:solidFill>
                <a:latin typeface="微軟正黑體" panose="020B0604030504040204" pitchFamily="34" charset="-120"/>
              </a:rPr>
              <a:t>待填寫</a:t>
            </a:r>
            <a:r>
              <a:rPr lang="en-US" altLang="zh-TW" sz="1050">
                <a:solidFill>
                  <a:srgbClr val="1E293B"/>
                </a:solidFill>
                <a:latin typeface="微軟正黑體" panose="020B0604030504040204" pitchFamily="34" charset="-120"/>
              </a:rPr>
              <a:t>】</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法律狀態：</a:t>
            </a:r>
            <a:r>
              <a:rPr lang="en-US" altLang="zh-TW" sz="1050">
                <a:solidFill>
                  <a:srgbClr val="1E293B"/>
                </a:solidFill>
                <a:latin typeface="微軟正黑體" panose="020B0604030504040204" pitchFamily="34" charset="-120"/>
              </a:rPr>
              <a:t>【</a:t>
            </a:r>
            <a:r>
              <a:rPr lang="zh-TW" altLang="en-US" sz="1050">
                <a:solidFill>
                  <a:srgbClr val="1E293B"/>
                </a:solidFill>
                <a:latin typeface="微軟正黑體" panose="020B0604030504040204" pitchFamily="34" charset="-120"/>
              </a:rPr>
              <a:t>待填寫</a:t>
            </a:r>
            <a:r>
              <a:rPr lang="en-US" altLang="zh-TW" sz="1050">
                <a:solidFill>
                  <a:srgbClr val="1E293B"/>
                </a:solidFill>
                <a:latin typeface="微軟正黑體" panose="020B0604030504040204" pitchFamily="34" charset="-120"/>
              </a:rPr>
              <a:t>】</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關聯計畫：去碳燃氫研究計畫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官方專屬網址：</a:t>
            </a:r>
            <a:r>
              <a:rPr lang="en-US" altLang="zh-TW" sz="1050">
                <a:solidFill>
                  <a:srgbClr val="1E293B"/>
                </a:solidFill>
                <a:latin typeface="微軟正黑體" panose="020B0604030504040204" pitchFamily="34" charset="-120"/>
              </a:rPr>
              <a:t>【</a:t>
            </a:r>
            <a:r>
              <a:rPr lang="zh-TW" altLang="en-US" sz="1050">
                <a:solidFill>
                  <a:srgbClr val="1E293B"/>
                </a:solidFill>
                <a:latin typeface="微軟正黑體" panose="020B0604030504040204" pitchFamily="34" charset="-120"/>
              </a:rPr>
              <a:t>待填寫</a:t>
            </a:r>
            <a:r>
              <a:rPr lang="en-US" altLang="zh-TW" sz="1050">
                <a:solidFill>
                  <a:srgbClr val="1E293B"/>
                </a:solidFill>
                <a:latin typeface="微軟正黑體" panose="020B0604030504040204" pitchFamily="34" charset="-120"/>
              </a:rPr>
              <a:t>】</a:t>
            </a:r>
            <a:endParaRPr lang="zh-TW" altLang="en-US" sz="1050">
              <a:solidFill>
                <a:srgbClr val="1E293B"/>
              </a:solidFill>
              <a:latin typeface="微軟正黑體" panose="020B0604030504040204" pitchFamily="34" charset="-120"/>
            </a:endParaRPr>
          </a:p>
        </p:txBody>
      </p:sp>
      <p:sp>
        <p:nvSpPr>
          <p:cNvPr id="12" name="文字方塊 11">
            <a:extLst>
              <a:ext uri="{FF2B5EF4-FFF2-40B4-BE49-F238E27FC236}">
                <a16:creationId xmlns:a16="http://schemas.microsoft.com/office/drawing/2014/main" id="{1FF336DF-1D0A-047B-A0AA-196E201DD897}"/>
              </a:ext>
            </a:extLst>
          </p:cNvPr>
          <p:cNvSpPr txBox="1"/>
          <p:nvPr/>
        </p:nvSpPr>
        <p:spPr>
          <a:xfrm>
            <a:off x="508000" y="3683000"/>
            <a:ext cx="111760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各國專利申請佈局明細表（點選表格儲存格可直接編輯案號、日期或備註）：</a:t>
            </a:r>
          </a:p>
        </p:txBody>
      </p:sp>
      <p:graphicFrame>
        <p:nvGraphicFramePr>
          <p:cNvPr id="13" name="表格 12">
            <a:extLst>
              <a:ext uri="{FF2B5EF4-FFF2-40B4-BE49-F238E27FC236}">
                <a16:creationId xmlns:a16="http://schemas.microsoft.com/office/drawing/2014/main" id="{2FF825DB-DFDF-CA37-999C-31583D9162A6}"/>
              </a:ext>
            </a:extLst>
          </p:cNvPr>
          <p:cNvGraphicFramePr>
            <a:graphicFrameLocks noGrp="1"/>
          </p:cNvGraphicFramePr>
          <p:nvPr>
            <p:extLst>
              <p:ext uri="{D42A27DB-BD31-4B8C-83A1-F6EECF244321}">
                <p14:modId xmlns:p14="http://schemas.microsoft.com/office/powerpoint/2010/main" val="1684249283"/>
              </p:ext>
            </p:extLst>
          </p:nvPr>
        </p:nvGraphicFramePr>
        <p:xfrm>
          <a:off x="508000" y="4038600"/>
          <a:ext cx="11176000" cy="2286000"/>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2490541835"/>
                    </a:ext>
                  </a:extLst>
                </a:gridCol>
                <a:gridCol w="1397000">
                  <a:extLst>
                    <a:ext uri="{9D8B030D-6E8A-4147-A177-3AD203B41FA5}">
                      <a16:colId xmlns:a16="http://schemas.microsoft.com/office/drawing/2014/main" val="3950719203"/>
                    </a:ext>
                  </a:extLst>
                </a:gridCol>
                <a:gridCol w="1016000">
                  <a:extLst>
                    <a:ext uri="{9D8B030D-6E8A-4147-A177-3AD203B41FA5}">
                      <a16:colId xmlns:a16="http://schemas.microsoft.com/office/drawing/2014/main" val="2185586005"/>
                    </a:ext>
                  </a:extLst>
                </a:gridCol>
                <a:gridCol w="1587500">
                  <a:extLst>
                    <a:ext uri="{9D8B030D-6E8A-4147-A177-3AD203B41FA5}">
                      <a16:colId xmlns:a16="http://schemas.microsoft.com/office/drawing/2014/main" val="3698800151"/>
                    </a:ext>
                  </a:extLst>
                </a:gridCol>
                <a:gridCol w="1143000">
                  <a:extLst>
                    <a:ext uri="{9D8B030D-6E8A-4147-A177-3AD203B41FA5}">
                      <a16:colId xmlns:a16="http://schemas.microsoft.com/office/drawing/2014/main" val="3969230069"/>
                    </a:ext>
                  </a:extLst>
                </a:gridCol>
                <a:gridCol w="1270000">
                  <a:extLst>
                    <a:ext uri="{9D8B030D-6E8A-4147-A177-3AD203B41FA5}">
                      <a16:colId xmlns:a16="http://schemas.microsoft.com/office/drawing/2014/main" val="1002228720"/>
                    </a:ext>
                  </a:extLst>
                </a:gridCol>
                <a:gridCol w="3683000">
                  <a:extLst>
                    <a:ext uri="{9D8B030D-6E8A-4147-A177-3AD203B41FA5}">
                      <a16:colId xmlns:a16="http://schemas.microsoft.com/office/drawing/2014/main" val="4276384424"/>
                    </a:ext>
                  </a:extLst>
                </a:gridCol>
              </a:tblGrid>
              <a:tr h="1143000">
                <a:tc>
                  <a:txBody>
                    <a:bodyPr/>
                    <a:lstStyle/>
                    <a:p>
                      <a:r>
                        <a:rPr lang="zh-TW" altLang="en-US" sz="1000" b="1">
                          <a:solidFill>
                            <a:srgbClr val="FFFFFF"/>
                          </a:solidFill>
                          <a:latin typeface="微軟正黑體" panose="020B0604030504040204" pitchFamily="34" charset="-120"/>
                        </a:rPr>
                        <a:t>國家／地區</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案件編號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申請類型</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申請案號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申請日期</a:t>
                      </a:r>
                    </a:p>
                  </a:txBody>
                  <a:tcPr>
                    <a:solidFill>
                      <a:srgbClr val="334155"/>
                    </a:solidFill>
                  </a:tcPr>
                </a:tc>
                <a:tc>
                  <a:txBody>
                    <a:bodyPr/>
                    <a:lstStyle/>
                    <a:p>
                      <a:r>
                        <a:rPr lang="zh-TW" altLang="en-US" sz="1000" b="1">
                          <a:solidFill>
                            <a:srgbClr val="FFFFFF"/>
                          </a:solidFill>
                          <a:latin typeface="微軟正黑體" panose="020B0604030504040204" pitchFamily="34" charset="-120"/>
                        </a:rPr>
                        <a:t>專利證號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案件狀態／備註</a:t>
                      </a:r>
                    </a:p>
                  </a:txBody>
                  <a:tcPr>
                    <a:solidFill>
                      <a:srgbClr val="334155"/>
                    </a:solidFill>
                  </a:tcPr>
                </a:tc>
                <a:extLst>
                  <a:ext uri="{0D108BD9-81ED-4DB2-BD59-A6C34878D82A}">
                    <a16:rowId xmlns:a16="http://schemas.microsoft.com/office/drawing/2014/main" val="1015809302"/>
                  </a:ext>
                </a:extLst>
              </a:tr>
              <a:tr h="1143000">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34A-1150903</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r>
                        <a:rPr lang="zh-TW" altLang="en-US" sz="950">
                          <a:solidFill>
                            <a:srgbClr val="1E293B"/>
                          </a:solidFill>
                          <a:latin typeface="微軟正黑體" panose="020B0604030504040204" pitchFamily="34" charset="-120"/>
                        </a:rPr>
                        <a:t>待填寫申請案件明細</a:t>
                      </a:r>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extLst>
                  <a:ext uri="{0D108BD9-81ED-4DB2-BD59-A6C34878D82A}">
                    <a16:rowId xmlns:a16="http://schemas.microsoft.com/office/drawing/2014/main" val="24619148"/>
                  </a:ext>
                </a:extLst>
              </a:tr>
            </a:tbl>
          </a:graphicData>
        </a:graphic>
      </p:graphicFrame>
    </p:spTree>
    <p:extLst>
      <p:ext uri="{BB962C8B-B14F-4D97-AF65-F5344CB8AC3E}">
        <p14:creationId xmlns:p14="http://schemas.microsoft.com/office/powerpoint/2010/main" val="724845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F505DEB-5658-2148-22AF-7162A19FF00A}"/>
              </a:ext>
            </a:extLst>
          </p:cNvPr>
          <p:cNvSpPr/>
          <p:nvPr/>
        </p:nvSpPr>
        <p:spPr>
          <a:xfrm>
            <a:off x="0" y="0"/>
            <a:ext cx="12192000" cy="762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03C5779C-0989-FDEE-644A-05098E3B775F}"/>
              </a:ext>
            </a:extLst>
          </p:cNvPr>
          <p:cNvSpPr/>
          <p:nvPr/>
        </p:nvSpPr>
        <p:spPr>
          <a:xfrm>
            <a:off x="508000" y="254000"/>
            <a:ext cx="1206500" cy="3048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去碳燃氫</a:t>
            </a:r>
          </a:p>
        </p:txBody>
      </p:sp>
      <p:sp>
        <p:nvSpPr>
          <p:cNvPr id="4" name="文字方塊 3">
            <a:extLst>
              <a:ext uri="{FF2B5EF4-FFF2-40B4-BE49-F238E27FC236}">
                <a16:creationId xmlns:a16="http://schemas.microsoft.com/office/drawing/2014/main" id="{DC70740E-38A7-EF68-0623-C258CEF6DBA3}"/>
              </a:ext>
            </a:extLst>
          </p:cNvPr>
          <p:cNvSpPr txBox="1"/>
          <p:nvPr/>
        </p:nvSpPr>
        <p:spPr>
          <a:xfrm>
            <a:off x="1841500" y="177800"/>
            <a:ext cx="9842500" cy="307777"/>
          </a:xfrm>
          <a:prstGeom prst="rect">
            <a:avLst/>
          </a:prstGeom>
          <a:noFill/>
        </p:spPr>
        <p:txBody>
          <a:bodyPr vert="horz" lIns="0" tIns="0" rtlCol="0">
            <a:spAutoFit/>
          </a:bodyPr>
          <a:lstStyle/>
          <a:p>
            <a:r>
              <a:rPr lang="en-US" altLang="zh-TW" sz="1700" b="1">
                <a:solidFill>
                  <a:srgbClr val="0F172A"/>
                </a:solidFill>
                <a:latin typeface="微軟正黑體" panose="020B0604030504040204" pitchFamily="34" charset="-120"/>
              </a:rPr>
              <a:t>【PF-009】 </a:t>
            </a:r>
            <a:r>
              <a:rPr lang="zh-TW" altLang="en-US" sz="1700" b="1">
                <a:solidFill>
                  <a:srgbClr val="0F172A"/>
                </a:solidFill>
                <a:latin typeface="微軟正黑體" panose="020B0604030504040204" pitchFamily="34" charset="-120"/>
              </a:rPr>
              <a:t>多組分可調式墨水及其製備方法</a:t>
            </a:r>
          </a:p>
        </p:txBody>
      </p:sp>
      <p:sp>
        <p:nvSpPr>
          <p:cNvPr id="5" name="文字方塊 4">
            <a:extLst>
              <a:ext uri="{FF2B5EF4-FFF2-40B4-BE49-F238E27FC236}">
                <a16:creationId xmlns:a16="http://schemas.microsoft.com/office/drawing/2014/main" id="{A56B2EB4-1387-F2E9-56B8-4AFCABEE936B}"/>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智財成果詳情專頁 </a:t>
            </a:r>
            <a:r>
              <a:rPr lang="en-US" altLang="zh-TW" sz="1100">
                <a:solidFill>
                  <a:srgbClr val="64748B"/>
                </a:solidFill>
                <a:latin typeface="微軟正黑體" panose="020B0604030504040204" pitchFamily="34" charset="-120"/>
              </a:rPr>
              <a:t>(#patent/PF-009) </a:t>
            </a:r>
            <a:r>
              <a:rPr lang="zh-TW" altLang="en-US" sz="1100">
                <a:solidFill>
                  <a:srgbClr val="64748B"/>
                </a:solidFill>
                <a:latin typeface="微軟正黑體" panose="020B0604030504040204" pitchFamily="34" charset="-120"/>
              </a:rPr>
              <a:t>｜ 院內案件編號：</a:t>
            </a:r>
            <a:r>
              <a:rPr lang="en-US" altLang="zh-TW" sz="1100">
                <a:solidFill>
                  <a:srgbClr val="64748B"/>
                </a:solidFill>
                <a:latin typeface="微軟正黑體" panose="020B0604030504040204" pitchFamily="34" charset="-120"/>
              </a:rPr>
              <a:t>34A-1151006</a:t>
            </a:r>
            <a:endParaRPr lang="zh-TW" altLang="en-US" sz="1100">
              <a:solidFill>
                <a:srgbClr val="64748B"/>
              </a:solidFill>
              <a:latin typeface="微軟正黑體" panose="020B0604030504040204" pitchFamily="34" charset="-120"/>
            </a:endParaRPr>
          </a:p>
        </p:txBody>
      </p:sp>
      <p:sp>
        <p:nvSpPr>
          <p:cNvPr id="6" name="矩形 5">
            <a:extLst>
              <a:ext uri="{FF2B5EF4-FFF2-40B4-BE49-F238E27FC236}">
                <a16:creationId xmlns:a16="http://schemas.microsoft.com/office/drawing/2014/main" id="{9564E47F-4CD9-FABB-85F4-09492269FF37}"/>
              </a:ext>
            </a:extLst>
          </p:cNvPr>
          <p:cNvSpPr/>
          <p:nvPr/>
        </p:nvSpPr>
        <p:spPr>
          <a:xfrm>
            <a:off x="508000" y="952500"/>
            <a:ext cx="7239000" cy="2603500"/>
          </a:xfrm>
          <a:prstGeom prst="rect">
            <a:avLst/>
          </a:prstGeom>
          <a:solidFill>
            <a:srgbClr val="F8FAFC"/>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63DC5521-0378-8AF3-3896-D8481E24E3FD}"/>
              </a:ext>
            </a:extLst>
          </p:cNvPr>
          <p:cNvSpPr txBox="1"/>
          <p:nvPr/>
        </p:nvSpPr>
        <p:spPr>
          <a:xfrm>
            <a:off x="698500" y="1041400"/>
            <a:ext cx="6858000" cy="276999"/>
          </a:xfrm>
          <a:prstGeom prst="rect">
            <a:avLst/>
          </a:prstGeom>
          <a:noFill/>
        </p:spPr>
        <p:txBody>
          <a:bodyPr vert="horz" rtlCol="0">
            <a:spAutoFit/>
          </a:bodyPr>
          <a:lstStyle/>
          <a:p>
            <a:r>
              <a:rPr lang="zh-TW" altLang="en-US" sz="1200" b="1">
                <a:solidFill>
                  <a:srgbClr val="0E387A"/>
                </a:solidFill>
                <a:latin typeface="微軟正黑體" panose="020B0604030504040204" pitchFamily="34" charset="-120"/>
              </a:rPr>
              <a:t>📄 官方技術摘要（點選下方文字方塊可直接編輯內文）：</a:t>
            </a:r>
          </a:p>
        </p:txBody>
      </p:sp>
      <p:sp>
        <p:nvSpPr>
          <p:cNvPr id="8" name="文字方塊 7">
            <a:extLst>
              <a:ext uri="{FF2B5EF4-FFF2-40B4-BE49-F238E27FC236}">
                <a16:creationId xmlns:a16="http://schemas.microsoft.com/office/drawing/2014/main" id="{171367CD-0A8A-4495-AACF-67C3FA280179}"/>
              </a:ext>
            </a:extLst>
          </p:cNvPr>
          <p:cNvSpPr txBox="1"/>
          <p:nvPr/>
        </p:nvSpPr>
        <p:spPr>
          <a:xfrm>
            <a:off x="698500" y="1371600"/>
            <a:ext cx="6858000" cy="269304"/>
          </a:xfrm>
          <a:prstGeom prst="rect">
            <a:avLst/>
          </a:prstGeom>
          <a:noFill/>
        </p:spPr>
        <p:txBody>
          <a:bodyPr vert="horz" rtlCol="0">
            <a:spAutoFit/>
          </a:bodyPr>
          <a:lstStyle/>
          <a:p>
            <a:r>
              <a:rPr lang="en-US" altLang="zh-TW" sz="1150">
                <a:solidFill>
                  <a:srgbClr val="64748B"/>
                </a:solidFill>
                <a:latin typeface="微軟正黑體" panose="020B0604030504040204" pitchFamily="34" charset="-120"/>
              </a:rPr>
              <a:t>【</a:t>
            </a:r>
            <a:r>
              <a:rPr lang="zh-TW" altLang="en-US" sz="1150">
                <a:solidFill>
                  <a:srgbClr val="64748B"/>
                </a:solidFill>
                <a:latin typeface="微軟正黑體" panose="020B0604030504040204" pitchFamily="34" charset="-120"/>
              </a:rPr>
              <a:t>目前尚未填寫技術摘要，您可直接在此方塊中輸入或貼上最新摘要內容</a:t>
            </a:r>
            <a:r>
              <a:rPr lang="en-US" altLang="zh-TW" sz="1150">
                <a:solidFill>
                  <a:srgbClr val="64748B"/>
                </a:solidFill>
                <a:latin typeface="微軟正黑體" panose="020B0604030504040204" pitchFamily="34" charset="-120"/>
              </a:rPr>
              <a:t>】</a:t>
            </a:r>
            <a:endParaRPr lang="zh-TW" altLang="en-US" sz="1150">
              <a:solidFill>
                <a:srgbClr val="64748B"/>
              </a:solidFill>
              <a:latin typeface="微軟正黑體" panose="020B0604030504040204" pitchFamily="34" charset="-120"/>
            </a:endParaRPr>
          </a:p>
        </p:txBody>
      </p:sp>
      <p:sp>
        <p:nvSpPr>
          <p:cNvPr id="9" name="矩形 8">
            <a:extLst>
              <a:ext uri="{FF2B5EF4-FFF2-40B4-BE49-F238E27FC236}">
                <a16:creationId xmlns:a16="http://schemas.microsoft.com/office/drawing/2014/main" id="{38A594E1-1239-E64F-B11E-5D052F7E197F}"/>
              </a:ext>
            </a:extLst>
          </p:cNvPr>
          <p:cNvSpPr/>
          <p:nvPr/>
        </p:nvSpPr>
        <p:spPr>
          <a:xfrm>
            <a:off x="7937500" y="952500"/>
            <a:ext cx="3746500" cy="2603500"/>
          </a:xfrm>
          <a:prstGeom prst="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id="{724C3972-EE5D-6999-0FCE-7A3A117AC829}"/>
              </a:ext>
            </a:extLst>
          </p:cNvPr>
          <p:cNvSpPr txBox="1"/>
          <p:nvPr/>
        </p:nvSpPr>
        <p:spPr>
          <a:xfrm>
            <a:off x="8128000" y="1041400"/>
            <a:ext cx="33655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基本資訊（點選可直接編輯文字）：</a:t>
            </a:r>
          </a:p>
        </p:txBody>
      </p:sp>
      <p:sp>
        <p:nvSpPr>
          <p:cNvPr id="11" name="文字方塊 10">
            <a:extLst>
              <a:ext uri="{FF2B5EF4-FFF2-40B4-BE49-F238E27FC236}">
                <a16:creationId xmlns:a16="http://schemas.microsoft.com/office/drawing/2014/main" id="{5D560597-989A-F6FA-586C-0C24C469CC32}"/>
              </a:ext>
            </a:extLst>
          </p:cNvPr>
          <p:cNvSpPr txBox="1"/>
          <p:nvPr/>
        </p:nvSpPr>
        <p:spPr>
          <a:xfrm>
            <a:off x="8128000" y="1371600"/>
            <a:ext cx="3365500" cy="1384995"/>
          </a:xfrm>
          <a:prstGeom prst="rect">
            <a:avLst/>
          </a:prstGeom>
          <a:noFill/>
        </p:spPr>
        <p:txBody>
          <a:bodyPr vert="horz" rtlCol="0">
            <a:spAutoFit/>
          </a:bodyPr>
          <a:lstStyle/>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家族編號：</a:t>
            </a:r>
            <a:r>
              <a:rPr lang="en-US" altLang="zh-TW" sz="1050">
                <a:solidFill>
                  <a:srgbClr val="1E293B"/>
                </a:solidFill>
                <a:latin typeface="微軟正黑體" panose="020B0604030504040204" pitchFamily="34" charset="-120"/>
              </a:rPr>
              <a:t>PF-009</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院內案件編號：</a:t>
            </a:r>
            <a:r>
              <a:rPr lang="en-US" altLang="zh-TW" sz="1050">
                <a:solidFill>
                  <a:srgbClr val="1E293B"/>
                </a:solidFill>
                <a:latin typeface="微軟正黑體" panose="020B0604030504040204" pitchFamily="34" charset="-120"/>
              </a:rPr>
              <a:t>34A-1151006</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技術領域：去碳燃氫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發明人：</a:t>
            </a:r>
            <a:r>
              <a:rPr lang="en-US" altLang="zh-TW" sz="1050">
                <a:solidFill>
                  <a:srgbClr val="1E293B"/>
                </a:solidFill>
                <a:latin typeface="微軟正黑體" panose="020B0604030504040204" pitchFamily="34" charset="-120"/>
              </a:rPr>
              <a:t>【</a:t>
            </a:r>
            <a:r>
              <a:rPr lang="zh-TW" altLang="en-US" sz="1050">
                <a:solidFill>
                  <a:srgbClr val="1E293B"/>
                </a:solidFill>
                <a:latin typeface="微軟正黑體" panose="020B0604030504040204" pitchFamily="34" charset="-120"/>
              </a:rPr>
              <a:t>待填寫</a:t>
            </a:r>
            <a:r>
              <a:rPr lang="en-US" altLang="zh-TW" sz="1050">
                <a:solidFill>
                  <a:srgbClr val="1E293B"/>
                </a:solidFill>
                <a:latin typeface="微軟正黑體" panose="020B0604030504040204" pitchFamily="34" charset="-120"/>
              </a:rPr>
              <a:t>】</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公開日／申請日：</a:t>
            </a:r>
            <a:r>
              <a:rPr lang="en-US" altLang="zh-TW" sz="1050">
                <a:solidFill>
                  <a:srgbClr val="1E293B"/>
                </a:solidFill>
                <a:latin typeface="微軟正黑體" panose="020B0604030504040204" pitchFamily="34" charset="-120"/>
              </a:rPr>
              <a:t>【</a:t>
            </a:r>
            <a:r>
              <a:rPr lang="zh-TW" altLang="en-US" sz="1050">
                <a:solidFill>
                  <a:srgbClr val="1E293B"/>
                </a:solidFill>
                <a:latin typeface="微軟正黑體" panose="020B0604030504040204" pitchFamily="34" charset="-120"/>
              </a:rPr>
              <a:t>待填寫</a:t>
            </a:r>
            <a:r>
              <a:rPr lang="en-US" altLang="zh-TW" sz="1050">
                <a:solidFill>
                  <a:srgbClr val="1E293B"/>
                </a:solidFill>
                <a:latin typeface="微軟正黑體" panose="020B0604030504040204" pitchFamily="34" charset="-120"/>
              </a:rPr>
              <a:t>】</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法律狀態：</a:t>
            </a:r>
            <a:r>
              <a:rPr lang="en-US" altLang="zh-TW" sz="1050">
                <a:solidFill>
                  <a:srgbClr val="1E293B"/>
                </a:solidFill>
                <a:latin typeface="微軟正黑體" panose="020B0604030504040204" pitchFamily="34" charset="-120"/>
              </a:rPr>
              <a:t>【</a:t>
            </a:r>
            <a:r>
              <a:rPr lang="zh-TW" altLang="en-US" sz="1050">
                <a:solidFill>
                  <a:srgbClr val="1E293B"/>
                </a:solidFill>
                <a:latin typeface="微軟正黑體" panose="020B0604030504040204" pitchFamily="34" charset="-120"/>
              </a:rPr>
              <a:t>待填寫</a:t>
            </a:r>
            <a:r>
              <a:rPr lang="en-US" altLang="zh-TW" sz="1050">
                <a:solidFill>
                  <a:srgbClr val="1E293B"/>
                </a:solidFill>
                <a:latin typeface="微軟正黑體" panose="020B0604030504040204" pitchFamily="34" charset="-120"/>
              </a:rPr>
              <a:t>】</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關聯計畫：去碳燃氫研究計畫</a:t>
            </a:r>
          </a:p>
          <a:p>
            <a:r>
              <a:rPr lang="en-US" altLang="zh-TW" sz="1050">
                <a:solidFill>
                  <a:srgbClr val="1E293B"/>
                </a:solidFill>
                <a:latin typeface="微軟正黑體" panose="020B0604030504040204" pitchFamily="34" charset="-120"/>
              </a:rPr>
              <a:t>• </a:t>
            </a:r>
            <a:r>
              <a:rPr lang="zh-TW" altLang="en-US" sz="1050">
                <a:solidFill>
                  <a:srgbClr val="1E293B"/>
                </a:solidFill>
                <a:latin typeface="微軟正黑體" panose="020B0604030504040204" pitchFamily="34" charset="-120"/>
              </a:rPr>
              <a:t>官方專屬網址：</a:t>
            </a:r>
            <a:r>
              <a:rPr lang="en-US" altLang="zh-TW" sz="1050">
                <a:solidFill>
                  <a:srgbClr val="1E293B"/>
                </a:solidFill>
                <a:latin typeface="微軟正黑體" panose="020B0604030504040204" pitchFamily="34" charset="-120"/>
              </a:rPr>
              <a:t>【</a:t>
            </a:r>
            <a:r>
              <a:rPr lang="zh-TW" altLang="en-US" sz="1050">
                <a:solidFill>
                  <a:srgbClr val="1E293B"/>
                </a:solidFill>
                <a:latin typeface="微軟正黑體" panose="020B0604030504040204" pitchFamily="34" charset="-120"/>
              </a:rPr>
              <a:t>待填寫</a:t>
            </a:r>
            <a:r>
              <a:rPr lang="en-US" altLang="zh-TW" sz="1050">
                <a:solidFill>
                  <a:srgbClr val="1E293B"/>
                </a:solidFill>
                <a:latin typeface="微軟正黑體" panose="020B0604030504040204" pitchFamily="34" charset="-120"/>
              </a:rPr>
              <a:t>】</a:t>
            </a:r>
            <a:endParaRPr lang="zh-TW" altLang="en-US" sz="1050">
              <a:solidFill>
                <a:srgbClr val="1E293B"/>
              </a:solidFill>
              <a:latin typeface="微軟正黑體" panose="020B0604030504040204" pitchFamily="34" charset="-120"/>
            </a:endParaRPr>
          </a:p>
        </p:txBody>
      </p:sp>
      <p:sp>
        <p:nvSpPr>
          <p:cNvPr id="12" name="文字方塊 11">
            <a:extLst>
              <a:ext uri="{FF2B5EF4-FFF2-40B4-BE49-F238E27FC236}">
                <a16:creationId xmlns:a16="http://schemas.microsoft.com/office/drawing/2014/main" id="{89341726-C50C-4D19-DCA1-2B0F6466F555}"/>
              </a:ext>
            </a:extLst>
          </p:cNvPr>
          <p:cNvSpPr txBox="1"/>
          <p:nvPr/>
        </p:nvSpPr>
        <p:spPr>
          <a:xfrm>
            <a:off x="508000" y="3683000"/>
            <a:ext cx="11176000" cy="276999"/>
          </a:xfrm>
          <a:prstGeom prst="rect">
            <a:avLst/>
          </a:prstGeom>
          <a:noFill/>
        </p:spPr>
        <p:txBody>
          <a:bodyPr vert="horz" rtlCol="0">
            <a:spAutoFit/>
          </a:bodyPr>
          <a:lstStyle/>
          <a:p>
            <a:r>
              <a:rPr lang="zh-TW" altLang="en-US" sz="1200" b="1">
                <a:solidFill>
                  <a:srgbClr val="0F172A"/>
                </a:solidFill>
                <a:latin typeface="微軟正黑體" panose="020B0604030504040204" pitchFamily="34" charset="-120"/>
              </a:rPr>
              <a:t>🌐 各國專利申請佈局明細表（點選表格儲存格可直接編輯案號、日期或備註）：</a:t>
            </a:r>
          </a:p>
        </p:txBody>
      </p:sp>
      <p:graphicFrame>
        <p:nvGraphicFramePr>
          <p:cNvPr id="13" name="表格 12">
            <a:extLst>
              <a:ext uri="{FF2B5EF4-FFF2-40B4-BE49-F238E27FC236}">
                <a16:creationId xmlns:a16="http://schemas.microsoft.com/office/drawing/2014/main" id="{FF7B0B0B-31A5-B1E6-5042-7924B406264B}"/>
              </a:ext>
            </a:extLst>
          </p:cNvPr>
          <p:cNvGraphicFramePr>
            <a:graphicFrameLocks noGrp="1"/>
          </p:cNvGraphicFramePr>
          <p:nvPr>
            <p:extLst>
              <p:ext uri="{D42A27DB-BD31-4B8C-83A1-F6EECF244321}">
                <p14:modId xmlns:p14="http://schemas.microsoft.com/office/powerpoint/2010/main" val="2832604290"/>
              </p:ext>
            </p:extLst>
          </p:nvPr>
        </p:nvGraphicFramePr>
        <p:xfrm>
          <a:off x="508000" y="4038600"/>
          <a:ext cx="11176000" cy="2286000"/>
        </p:xfrm>
        <a:graphic>
          <a:graphicData uri="http://schemas.openxmlformats.org/drawingml/2006/table">
            <a:tbl>
              <a:tblPr firstRow="1" bandRow="1">
                <a:tableStyleId>{5C22544A-7EE6-4342-B048-85BDC9FD1C3A}</a:tableStyleId>
              </a:tblPr>
              <a:tblGrid>
                <a:gridCol w="1079500">
                  <a:extLst>
                    <a:ext uri="{9D8B030D-6E8A-4147-A177-3AD203B41FA5}">
                      <a16:colId xmlns:a16="http://schemas.microsoft.com/office/drawing/2014/main" val="2051600265"/>
                    </a:ext>
                  </a:extLst>
                </a:gridCol>
                <a:gridCol w="1397000">
                  <a:extLst>
                    <a:ext uri="{9D8B030D-6E8A-4147-A177-3AD203B41FA5}">
                      <a16:colId xmlns:a16="http://schemas.microsoft.com/office/drawing/2014/main" val="1958019212"/>
                    </a:ext>
                  </a:extLst>
                </a:gridCol>
                <a:gridCol w="1016000">
                  <a:extLst>
                    <a:ext uri="{9D8B030D-6E8A-4147-A177-3AD203B41FA5}">
                      <a16:colId xmlns:a16="http://schemas.microsoft.com/office/drawing/2014/main" val="917783456"/>
                    </a:ext>
                  </a:extLst>
                </a:gridCol>
                <a:gridCol w="1587500">
                  <a:extLst>
                    <a:ext uri="{9D8B030D-6E8A-4147-A177-3AD203B41FA5}">
                      <a16:colId xmlns:a16="http://schemas.microsoft.com/office/drawing/2014/main" val="3647286233"/>
                    </a:ext>
                  </a:extLst>
                </a:gridCol>
                <a:gridCol w="1143000">
                  <a:extLst>
                    <a:ext uri="{9D8B030D-6E8A-4147-A177-3AD203B41FA5}">
                      <a16:colId xmlns:a16="http://schemas.microsoft.com/office/drawing/2014/main" val="1526395123"/>
                    </a:ext>
                  </a:extLst>
                </a:gridCol>
                <a:gridCol w="1270000">
                  <a:extLst>
                    <a:ext uri="{9D8B030D-6E8A-4147-A177-3AD203B41FA5}">
                      <a16:colId xmlns:a16="http://schemas.microsoft.com/office/drawing/2014/main" val="4061250168"/>
                    </a:ext>
                  </a:extLst>
                </a:gridCol>
                <a:gridCol w="3683000">
                  <a:extLst>
                    <a:ext uri="{9D8B030D-6E8A-4147-A177-3AD203B41FA5}">
                      <a16:colId xmlns:a16="http://schemas.microsoft.com/office/drawing/2014/main" val="1472897153"/>
                    </a:ext>
                  </a:extLst>
                </a:gridCol>
              </a:tblGrid>
              <a:tr h="1143000">
                <a:tc>
                  <a:txBody>
                    <a:bodyPr/>
                    <a:lstStyle/>
                    <a:p>
                      <a:r>
                        <a:rPr lang="zh-TW" altLang="en-US" sz="1000" b="1">
                          <a:solidFill>
                            <a:srgbClr val="FFFFFF"/>
                          </a:solidFill>
                          <a:latin typeface="微軟正黑體" panose="020B0604030504040204" pitchFamily="34" charset="-120"/>
                        </a:rPr>
                        <a:t>國家／地區</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案件編號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申請類型</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申請案號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申請日期</a:t>
                      </a:r>
                    </a:p>
                  </a:txBody>
                  <a:tcPr>
                    <a:solidFill>
                      <a:srgbClr val="334155"/>
                    </a:solidFill>
                  </a:tcPr>
                </a:tc>
                <a:tc>
                  <a:txBody>
                    <a:bodyPr/>
                    <a:lstStyle/>
                    <a:p>
                      <a:r>
                        <a:rPr lang="zh-TW" altLang="en-US" sz="1000" b="1">
                          <a:solidFill>
                            <a:srgbClr val="FFFFFF"/>
                          </a:solidFill>
                          <a:latin typeface="微軟正黑體" panose="020B0604030504040204" pitchFamily="34" charset="-120"/>
                        </a:rPr>
                        <a:t>專利證號</a:t>
                      </a:r>
                    </a:p>
                  </a:txBody>
                  <a:tcPr>
                    <a:solidFill>
                      <a:srgbClr val="334155"/>
                    </a:solidFill>
                  </a:tcPr>
                </a:tc>
                <a:tc>
                  <a:txBody>
                    <a:bodyPr/>
                    <a:lstStyle/>
                    <a:p>
                      <a:r>
                        <a:rPr lang="zh-TW" altLang="en-US" sz="1000" b="1">
                          <a:solidFill>
                            <a:srgbClr val="FFFFFF"/>
                          </a:solidFill>
                          <a:latin typeface="微軟正黑體" panose="020B0604030504040204" pitchFamily="34" charset="-120"/>
                        </a:rPr>
                        <a:t>案件狀態／備註</a:t>
                      </a:r>
                    </a:p>
                  </a:txBody>
                  <a:tcPr>
                    <a:solidFill>
                      <a:srgbClr val="334155"/>
                    </a:solidFill>
                  </a:tcPr>
                </a:tc>
                <a:extLst>
                  <a:ext uri="{0D108BD9-81ED-4DB2-BD59-A6C34878D82A}">
                    <a16:rowId xmlns:a16="http://schemas.microsoft.com/office/drawing/2014/main" val="2804028092"/>
                  </a:ext>
                </a:extLst>
              </a:tr>
              <a:tr h="1143000">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34A-1151006</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a:t>
                      </a:r>
                      <a:r>
                        <a:rPr lang="zh-TW" altLang="en-US" sz="950">
                          <a:solidFill>
                            <a:srgbClr val="1E293B"/>
                          </a:solidFill>
                          <a:latin typeface="微軟正黑體" panose="020B0604030504040204" pitchFamily="34" charset="-120"/>
                        </a:rPr>
                        <a:t>待填寫申請案件明細</a:t>
                      </a:r>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extLst>
                  <a:ext uri="{0D108BD9-81ED-4DB2-BD59-A6C34878D82A}">
                    <a16:rowId xmlns:a16="http://schemas.microsoft.com/office/drawing/2014/main" val="3272164606"/>
                  </a:ext>
                </a:extLst>
              </a:tr>
            </a:tbl>
          </a:graphicData>
        </a:graphic>
      </p:graphicFrame>
    </p:spTree>
    <p:extLst>
      <p:ext uri="{BB962C8B-B14F-4D97-AF65-F5344CB8AC3E}">
        <p14:creationId xmlns:p14="http://schemas.microsoft.com/office/powerpoint/2010/main" val="2732228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0935908-100A-D2B2-004A-D163A458AF25}"/>
              </a:ext>
            </a:extLst>
          </p:cNvPr>
          <p:cNvSpPr/>
          <p:nvPr/>
        </p:nvSpPr>
        <p:spPr>
          <a:xfrm>
            <a:off x="0" y="0"/>
            <a:ext cx="12192000" cy="762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819882A0-E9FC-49AA-2831-162164D07C21}"/>
              </a:ext>
            </a:extLst>
          </p:cNvPr>
          <p:cNvSpPr/>
          <p:nvPr/>
        </p:nvSpPr>
        <p:spPr>
          <a:xfrm>
            <a:off x="508000" y="254000"/>
            <a:ext cx="1206500" cy="304800"/>
          </a:xfrm>
          <a:prstGeom prst="rect">
            <a:avLst/>
          </a:prstGeom>
          <a:solidFill>
            <a:srgbClr val="0F172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100" b="1">
                <a:solidFill>
                  <a:srgbClr val="FFFFFF"/>
                </a:solidFill>
                <a:latin typeface="微軟正黑體" panose="020B0604030504040204" pitchFamily="34" charset="-120"/>
              </a:rPr>
              <a:t>附錄總表</a:t>
            </a:r>
          </a:p>
        </p:txBody>
      </p:sp>
      <p:sp>
        <p:nvSpPr>
          <p:cNvPr id="4" name="文字方塊 3">
            <a:extLst>
              <a:ext uri="{FF2B5EF4-FFF2-40B4-BE49-F238E27FC236}">
                <a16:creationId xmlns:a16="http://schemas.microsoft.com/office/drawing/2014/main" id="{E5EFAB68-0F8E-D754-66E1-436E18582619}"/>
              </a:ext>
            </a:extLst>
          </p:cNvPr>
          <p:cNvSpPr txBox="1"/>
          <p:nvPr/>
        </p:nvSpPr>
        <p:spPr>
          <a:xfrm>
            <a:off x="1841500" y="177800"/>
            <a:ext cx="9842500" cy="307777"/>
          </a:xfrm>
          <a:prstGeom prst="rect">
            <a:avLst/>
          </a:prstGeom>
          <a:noFill/>
        </p:spPr>
        <p:txBody>
          <a:bodyPr vert="horz" lIns="0" tIns="0" rtlCol="0">
            <a:spAutoFit/>
          </a:bodyPr>
          <a:lstStyle/>
          <a:p>
            <a:r>
              <a:rPr lang="zh-TW" altLang="en-US" sz="1700" b="1">
                <a:solidFill>
                  <a:srgbClr val="0F172A"/>
                </a:solidFill>
                <a:latin typeface="微軟正黑體" panose="020B0604030504040204" pitchFamily="34" charset="-120"/>
              </a:rPr>
              <a:t>各國申請案件全域資料庫 </a:t>
            </a:r>
            <a:r>
              <a:rPr lang="en-US" altLang="zh-TW" sz="1700" b="1">
                <a:solidFill>
                  <a:srgbClr val="0F172A"/>
                </a:solidFill>
                <a:latin typeface="微軟正黑體" panose="020B0604030504040204" pitchFamily="34" charset="-120"/>
              </a:rPr>
              <a:t>(26</a:t>
            </a:r>
            <a:r>
              <a:rPr lang="zh-TW" altLang="en-US" sz="1700" b="1">
                <a:solidFill>
                  <a:srgbClr val="0F172A"/>
                </a:solidFill>
                <a:latin typeface="微軟正黑體" panose="020B0604030504040204" pitchFamily="34" charset="-120"/>
              </a:rPr>
              <a:t>筆專利申請案總覽</a:t>
            </a:r>
            <a:r>
              <a:rPr lang="en-US" altLang="zh-TW" sz="1700" b="1">
                <a:solidFill>
                  <a:srgbClr val="0F172A"/>
                </a:solidFill>
                <a:latin typeface="微軟正黑體" panose="020B0604030504040204" pitchFamily="34" charset="-120"/>
              </a:rPr>
              <a:t>)</a:t>
            </a:r>
            <a:endParaRPr lang="zh-TW" altLang="en-US" sz="1700" b="1">
              <a:solidFill>
                <a:srgbClr val="0F172A"/>
              </a:solidFill>
              <a:latin typeface="微軟正黑體" panose="020B0604030504040204" pitchFamily="34" charset="-120"/>
            </a:endParaRPr>
          </a:p>
        </p:txBody>
      </p:sp>
      <p:sp>
        <p:nvSpPr>
          <p:cNvPr id="5" name="文字方塊 4">
            <a:extLst>
              <a:ext uri="{FF2B5EF4-FFF2-40B4-BE49-F238E27FC236}">
                <a16:creationId xmlns:a16="http://schemas.microsoft.com/office/drawing/2014/main" id="{AEB824CE-1FE7-C278-72DC-EA26713DA187}"/>
              </a:ext>
            </a:extLst>
          </p:cNvPr>
          <p:cNvSpPr txBox="1"/>
          <p:nvPr/>
        </p:nvSpPr>
        <p:spPr>
          <a:xfrm>
            <a:off x="1841500" y="584200"/>
            <a:ext cx="9842500" cy="215444"/>
          </a:xfrm>
          <a:prstGeom prst="rect">
            <a:avLst/>
          </a:prstGeom>
          <a:noFill/>
        </p:spPr>
        <p:txBody>
          <a:bodyPr vert="horz" lIns="0" tIns="0" rtlCol="0">
            <a:spAutoFit/>
          </a:bodyPr>
          <a:lstStyle/>
          <a:p>
            <a:r>
              <a:rPr lang="zh-TW" altLang="en-US" sz="1100">
                <a:solidFill>
                  <a:srgbClr val="64748B"/>
                </a:solidFill>
                <a:latin typeface="微軟正黑體" panose="020B0604030504040204" pitchFamily="34" charset="-120"/>
              </a:rPr>
              <a:t>對應網站「各國申請案件完整總表」視圖 ｜ 包含 </a:t>
            </a:r>
            <a:r>
              <a:rPr lang="en-US" altLang="zh-TW" sz="1100">
                <a:solidFill>
                  <a:srgbClr val="64748B"/>
                </a:solidFill>
                <a:latin typeface="微軟正黑體" panose="020B0604030504040204" pitchFamily="34" charset="-120"/>
              </a:rPr>
              <a:t>US, TW, CN, PCT </a:t>
            </a:r>
            <a:r>
              <a:rPr lang="zh-TW" altLang="en-US" sz="1100">
                <a:solidFill>
                  <a:srgbClr val="64748B"/>
                </a:solidFill>
                <a:latin typeface="微軟正黑體" panose="020B0604030504040204" pitchFamily="34" charset="-120"/>
              </a:rPr>
              <a:t>等</a:t>
            </a:r>
          </a:p>
        </p:txBody>
      </p:sp>
      <p:graphicFrame>
        <p:nvGraphicFramePr>
          <p:cNvPr id="6" name="表格 5">
            <a:extLst>
              <a:ext uri="{FF2B5EF4-FFF2-40B4-BE49-F238E27FC236}">
                <a16:creationId xmlns:a16="http://schemas.microsoft.com/office/drawing/2014/main" id="{438E31A4-3685-F628-2C7B-CBDC95CBB383}"/>
              </a:ext>
            </a:extLst>
          </p:cNvPr>
          <p:cNvGraphicFramePr>
            <a:graphicFrameLocks noGrp="1"/>
          </p:cNvGraphicFramePr>
          <p:nvPr>
            <p:extLst>
              <p:ext uri="{D42A27DB-BD31-4B8C-83A1-F6EECF244321}">
                <p14:modId xmlns:p14="http://schemas.microsoft.com/office/powerpoint/2010/main" val="1823995695"/>
              </p:ext>
            </p:extLst>
          </p:nvPr>
        </p:nvGraphicFramePr>
        <p:xfrm>
          <a:off x="508000" y="1016000"/>
          <a:ext cx="11176000" cy="5334000"/>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3634818884"/>
                    </a:ext>
                  </a:extLst>
                </a:gridCol>
                <a:gridCol w="1397000">
                  <a:extLst>
                    <a:ext uri="{9D8B030D-6E8A-4147-A177-3AD203B41FA5}">
                      <a16:colId xmlns:a16="http://schemas.microsoft.com/office/drawing/2014/main" val="908232982"/>
                    </a:ext>
                  </a:extLst>
                </a:gridCol>
                <a:gridCol w="635000">
                  <a:extLst>
                    <a:ext uri="{9D8B030D-6E8A-4147-A177-3AD203B41FA5}">
                      <a16:colId xmlns:a16="http://schemas.microsoft.com/office/drawing/2014/main" val="2647894554"/>
                    </a:ext>
                  </a:extLst>
                </a:gridCol>
                <a:gridCol w="952500">
                  <a:extLst>
                    <a:ext uri="{9D8B030D-6E8A-4147-A177-3AD203B41FA5}">
                      <a16:colId xmlns:a16="http://schemas.microsoft.com/office/drawing/2014/main" val="3704102598"/>
                    </a:ext>
                  </a:extLst>
                </a:gridCol>
                <a:gridCol w="5588000">
                  <a:extLst>
                    <a:ext uri="{9D8B030D-6E8A-4147-A177-3AD203B41FA5}">
                      <a16:colId xmlns:a16="http://schemas.microsoft.com/office/drawing/2014/main" val="3865929123"/>
                    </a:ext>
                  </a:extLst>
                </a:gridCol>
                <a:gridCol w="1651000">
                  <a:extLst>
                    <a:ext uri="{9D8B030D-6E8A-4147-A177-3AD203B41FA5}">
                      <a16:colId xmlns:a16="http://schemas.microsoft.com/office/drawing/2014/main" val="3324257814"/>
                    </a:ext>
                  </a:extLst>
                </a:gridCol>
              </a:tblGrid>
              <a:tr h="381000">
                <a:tc>
                  <a:txBody>
                    <a:bodyPr/>
                    <a:lstStyle/>
                    <a:p>
                      <a:r>
                        <a:rPr lang="zh-TW" altLang="en-US" sz="1000" b="1">
                          <a:solidFill>
                            <a:srgbClr val="FFFFFF"/>
                          </a:solidFill>
                          <a:latin typeface="微軟正黑體" panose="020B0604030504040204" pitchFamily="34" charset="-120"/>
                        </a:rPr>
                        <a:t>家族編號</a:t>
                      </a:r>
                    </a:p>
                  </a:txBody>
                  <a:tcPr>
                    <a:solidFill>
                      <a:srgbClr val="0F172A"/>
                    </a:solidFill>
                  </a:tcPr>
                </a:tc>
                <a:tc>
                  <a:txBody>
                    <a:bodyPr/>
                    <a:lstStyle/>
                    <a:p>
                      <a:r>
                        <a:rPr lang="zh-TW" altLang="en-US" sz="1000" b="1">
                          <a:solidFill>
                            <a:srgbClr val="FFFFFF"/>
                          </a:solidFill>
                          <a:latin typeface="微軟正黑體" panose="020B0604030504040204" pitchFamily="34" charset="-120"/>
                        </a:rPr>
                        <a:t>案件編號</a:t>
                      </a:r>
                    </a:p>
                  </a:txBody>
                  <a:tcPr>
                    <a:solidFill>
                      <a:srgbClr val="0F172A"/>
                    </a:solidFill>
                  </a:tcPr>
                </a:tc>
                <a:tc>
                  <a:txBody>
                    <a:bodyPr/>
                    <a:lstStyle/>
                    <a:p>
                      <a:r>
                        <a:rPr lang="zh-TW" altLang="en-US" sz="1000" b="1">
                          <a:solidFill>
                            <a:srgbClr val="FFFFFF"/>
                          </a:solidFill>
                          <a:latin typeface="微軟正黑體" panose="020B0604030504040204" pitchFamily="34" charset="-120"/>
                        </a:rPr>
                        <a:t>國別</a:t>
                      </a:r>
                    </a:p>
                  </a:txBody>
                  <a:tcPr>
                    <a:solidFill>
                      <a:srgbClr val="0F172A"/>
                    </a:solidFill>
                  </a:tcPr>
                </a:tc>
                <a:tc>
                  <a:txBody>
                    <a:bodyPr/>
                    <a:lstStyle/>
                    <a:p>
                      <a:r>
                        <a:rPr lang="zh-TW" altLang="en-US" sz="1000" b="1">
                          <a:solidFill>
                            <a:srgbClr val="FFFFFF"/>
                          </a:solidFill>
                          <a:latin typeface="微軟正黑體" panose="020B0604030504040204" pitchFamily="34" charset="-120"/>
                        </a:rPr>
                        <a:t>類型</a:t>
                      </a:r>
                    </a:p>
                  </a:txBody>
                  <a:tcPr>
                    <a:solidFill>
                      <a:srgbClr val="0F172A"/>
                    </a:solidFill>
                  </a:tcPr>
                </a:tc>
                <a:tc>
                  <a:txBody>
                    <a:bodyPr/>
                    <a:lstStyle/>
                    <a:p>
                      <a:r>
                        <a:rPr lang="zh-TW" altLang="en-US" sz="1000" b="1">
                          <a:solidFill>
                            <a:srgbClr val="FFFFFF"/>
                          </a:solidFill>
                          <a:latin typeface="微軟正黑體" panose="020B0604030504040204" pitchFamily="34" charset="-120"/>
                        </a:rPr>
                        <a:t>專利名稱</a:t>
                      </a:r>
                    </a:p>
                  </a:txBody>
                  <a:tcPr>
                    <a:solidFill>
                      <a:srgbClr val="0F172A"/>
                    </a:solidFill>
                  </a:tcPr>
                </a:tc>
                <a:tc>
                  <a:txBody>
                    <a:bodyPr/>
                    <a:lstStyle/>
                    <a:p>
                      <a:r>
                        <a:rPr lang="zh-TW" altLang="en-US" sz="1000" b="1">
                          <a:solidFill>
                            <a:srgbClr val="FFFFFF"/>
                          </a:solidFill>
                          <a:latin typeface="微軟正黑體" panose="020B0604030504040204" pitchFamily="34" charset="-120"/>
                        </a:rPr>
                        <a:t>申請號</a:t>
                      </a:r>
                    </a:p>
                  </a:txBody>
                  <a:tcPr>
                    <a:solidFill>
                      <a:srgbClr val="0F172A"/>
                    </a:solidFill>
                  </a:tcPr>
                </a:tc>
                <a:extLst>
                  <a:ext uri="{0D108BD9-81ED-4DB2-BD59-A6C34878D82A}">
                    <a16:rowId xmlns:a16="http://schemas.microsoft.com/office/drawing/2014/main" val="2671119873"/>
                  </a:ext>
                </a:extLst>
              </a:tr>
              <a:tr h="381000">
                <a:tc>
                  <a:txBody>
                    <a:bodyPr/>
                    <a:lstStyle/>
                    <a:p>
                      <a:r>
                        <a:rPr lang="en-US" altLang="zh-TW" sz="950">
                          <a:solidFill>
                            <a:srgbClr val="1E293B"/>
                          </a:solidFill>
                          <a:latin typeface="微軟正黑體" panose="020B0604030504040204" pitchFamily="34" charset="-120"/>
                        </a:rPr>
                        <a:t>PF-001</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34A-1131114</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臨時案</a:t>
                      </a:r>
                    </a:p>
                  </a:txBody>
                  <a:tcPr>
                    <a:solidFill>
                      <a:srgbClr val="FFFFFF"/>
                    </a:solidFill>
                  </a:tcPr>
                </a:tc>
                <a:tc>
                  <a:txBody>
                    <a:bodyPr/>
                    <a:lstStyle/>
                    <a:p>
                      <a:r>
                        <a:rPr lang="zh-TW" altLang="en-US" sz="950">
                          <a:solidFill>
                            <a:srgbClr val="1E293B"/>
                          </a:solidFill>
                          <a:latin typeface="微軟正黑體" panose="020B0604030504040204" pitchFamily="34" charset="-120"/>
                        </a:rPr>
                        <a:t>高品質超導金屬材料蝕刻與氧化製程</a:t>
                      </a:r>
                    </a:p>
                  </a:txBody>
                  <a:tcPr>
                    <a:solidFill>
                      <a:srgbClr val="FFFFFF"/>
                    </a:solidFill>
                  </a:tcPr>
                </a:tc>
                <a:tc>
                  <a:txBody>
                    <a:bodyPr/>
                    <a:lstStyle/>
                    <a:p>
                      <a:r>
                        <a:rPr lang="en-US" altLang="zh-TW" sz="950">
                          <a:solidFill>
                            <a:srgbClr val="1E293B"/>
                          </a:solidFill>
                          <a:latin typeface="微軟正黑體" panose="020B0604030504040204" pitchFamily="34" charset="-120"/>
                        </a:rPr>
                        <a:t>63/748,971</a:t>
                      </a:r>
                      <a:endParaRPr lang="zh-TW" altLang="en-US" sz="950">
                        <a:solidFill>
                          <a:srgbClr val="1E293B"/>
                        </a:solidFill>
                        <a:latin typeface="微軟正黑體" panose="020B0604030504040204" pitchFamily="34" charset="-120"/>
                      </a:endParaRPr>
                    </a:p>
                  </a:txBody>
                  <a:tcPr>
                    <a:solidFill>
                      <a:srgbClr val="FFFFFF"/>
                    </a:solidFill>
                  </a:tcPr>
                </a:tc>
                <a:extLst>
                  <a:ext uri="{0D108BD9-81ED-4DB2-BD59-A6C34878D82A}">
                    <a16:rowId xmlns:a16="http://schemas.microsoft.com/office/drawing/2014/main" val="2757252120"/>
                  </a:ext>
                </a:extLst>
              </a:tr>
              <a:tr h="381000">
                <a:tc>
                  <a:txBody>
                    <a:bodyPr/>
                    <a:lstStyle/>
                    <a:p>
                      <a:r>
                        <a:rPr lang="en-US" altLang="zh-TW" sz="950">
                          <a:solidFill>
                            <a:srgbClr val="1E293B"/>
                          </a:solidFill>
                          <a:latin typeface="微軟正黑體" panose="020B0604030504040204" pitchFamily="34" charset="-120"/>
                        </a:rPr>
                        <a:t>PF-001</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34A-1131114b</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臨時案</a:t>
                      </a:r>
                    </a:p>
                  </a:txBody>
                  <a:tcPr>
                    <a:solidFill>
                      <a:srgbClr val="F8FAFC"/>
                    </a:solidFill>
                  </a:tcPr>
                </a:tc>
                <a:tc>
                  <a:txBody>
                    <a:bodyPr/>
                    <a:lstStyle/>
                    <a:p>
                      <a:r>
                        <a:rPr lang="zh-TW" altLang="en-US" sz="950">
                          <a:solidFill>
                            <a:srgbClr val="1E293B"/>
                          </a:solidFill>
                          <a:latin typeface="微軟正黑體" panose="020B0604030504040204" pitchFamily="34" charset="-120"/>
                        </a:rPr>
                        <a:t>高品質超導金屬材料蝕刻與氧化製程</a:t>
                      </a:r>
                    </a:p>
                  </a:txBody>
                  <a:tcPr>
                    <a:solidFill>
                      <a:srgbClr val="F8FAFC"/>
                    </a:solidFill>
                  </a:tcPr>
                </a:tc>
                <a:tc>
                  <a:txBody>
                    <a:bodyPr/>
                    <a:lstStyle/>
                    <a:p>
                      <a:r>
                        <a:rPr lang="en-US" altLang="zh-TW" sz="950">
                          <a:solidFill>
                            <a:srgbClr val="1E293B"/>
                          </a:solidFill>
                          <a:latin typeface="微軟正黑體" panose="020B0604030504040204" pitchFamily="34" charset="-120"/>
                        </a:rPr>
                        <a:t>64/056,264</a:t>
                      </a:r>
                      <a:endParaRPr lang="zh-TW" altLang="en-US" sz="950">
                        <a:solidFill>
                          <a:srgbClr val="1E293B"/>
                        </a:solidFill>
                        <a:latin typeface="微軟正黑體" panose="020B0604030504040204" pitchFamily="34" charset="-120"/>
                      </a:endParaRPr>
                    </a:p>
                  </a:txBody>
                  <a:tcPr>
                    <a:solidFill>
                      <a:srgbClr val="F8FAFC"/>
                    </a:solidFill>
                  </a:tcPr>
                </a:tc>
                <a:extLst>
                  <a:ext uri="{0D108BD9-81ED-4DB2-BD59-A6C34878D82A}">
                    <a16:rowId xmlns:a16="http://schemas.microsoft.com/office/drawing/2014/main" val="1610251582"/>
                  </a:ext>
                </a:extLst>
              </a:tr>
              <a:tr h="381000">
                <a:tc>
                  <a:txBody>
                    <a:bodyPr/>
                    <a:lstStyle/>
                    <a:p>
                      <a:r>
                        <a:rPr lang="en-US" altLang="zh-TW" sz="950">
                          <a:solidFill>
                            <a:srgbClr val="1E293B"/>
                          </a:solidFill>
                          <a:latin typeface="微軟正黑體" panose="020B0604030504040204" pitchFamily="34" charset="-120"/>
                        </a:rPr>
                        <a:t>PF-002</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34A-1140709</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臨時案</a:t>
                      </a:r>
                    </a:p>
                  </a:txBody>
                  <a:tcPr>
                    <a:solidFill>
                      <a:srgbClr val="FFFFFF"/>
                    </a:solidFill>
                  </a:tcPr>
                </a:tc>
                <a:tc>
                  <a:txBody>
                    <a:bodyPr/>
                    <a:lstStyle/>
                    <a:p>
                      <a:r>
                        <a:rPr lang="zh-TW" altLang="en-US" sz="950">
                          <a:solidFill>
                            <a:srgbClr val="1E293B"/>
                          </a:solidFill>
                          <a:latin typeface="微軟正黑體" panose="020B0604030504040204" pitchFamily="34" charset="-120"/>
                        </a:rPr>
                        <a:t>一種適用太陽電池穩定度量測之外包裝真空盒</a:t>
                      </a:r>
                    </a:p>
                  </a:txBody>
                  <a:tcPr>
                    <a:solidFill>
                      <a:srgbClr val="FFFFFF"/>
                    </a:solidFill>
                  </a:tcPr>
                </a:tc>
                <a:tc>
                  <a:txBody>
                    <a:bodyPr/>
                    <a:lstStyle/>
                    <a:p>
                      <a:r>
                        <a:rPr lang="en-US" altLang="zh-TW" sz="950">
                          <a:solidFill>
                            <a:srgbClr val="1E293B"/>
                          </a:solidFill>
                          <a:latin typeface="微軟正黑體" panose="020B0604030504040204" pitchFamily="34" charset="-120"/>
                        </a:rPr>
                        <a:t>63/899829</a:t>
                      </a:r>
                      <a:endParaRPr lang="zh-TW" altLang="en-US" sz="950">
                        <a:solidFill>
                          <a:srgbClr val="1E293B"/>
                        </a:solidFill>
                        <a:latin typeface="微軟正黑體" panose="020B0604030504040204" pitchFamily="34" charset="-120"/>
                      </a:endParaRPr>
                    </a:p>
                  </a:txBody>
                  <a:tcPr>
                    <a:solidFill>
                      <a:srgbClr val="FFFFFF"/>
                    </a:solidFill>
                  </a:tcPr>
                </a:tc>
                <a:extLst>
                  <a:ext uri="{0D108BD9-81ED-4DB2-BD59-A6C34878D82A}">
                    <a16:rowId xmlns:a16="http://schemas.microsoft.com/office/drawing/2014/main" val="3637030172"/>
                  </a:ext>
                </a:extLst>
              </a:tr>
              <a:tr h="381000">
                <a:tc>
                  <a:txBody>
                    <a:bodyPr/>
                    <a:lstStyle/>
                    <a:p>
                      <a:r>
                        <a:rPr lang="en-US" altLang="zh-TW" sz="950">
                          <a:solidFill>
                            <a:srgbClr val="1E293B"/>
                          </a:solidFill>
                          <a:latin typeface="微軟正黑體" panose="020B0604030504040204" pitchFamily="34" charset="-120"/>
                        </a:rPr>
                        <a:t>PF-003</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34A-1150223</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發明</a:t>
                      </a:r>
                    </a:p>
                  </a:txBody>
                  <a:tcPr>
                    <a:solidFill>
                      <a:srgbClr val="F8FAFC"/>
                    </a:solidFill>
                  </a:tcPr>
                </a:tc>
                <a:tc>
                  <a:txBody>
                    <a:bodyPr/>
                    <a:lstStyle/>
                    <a:p>
                      <a:r>
                        <a:rPr lang="zh-TW" altLang="en-US" sz="950">
                          <a:solidFill>
                            <a:srgbClr val="1E293B"/>
                          </a:solidFill>
                          <a:latin typeface="微軟正黑體" panose="020B0604030504040204" pitchFamily="34" charset="-120"/>
                        </a:rPr>
                        <a:t>一種適用於疊層電池可量產化太陽能產業產品前處理方式</a:t>
                      </a:r>
                    </a:p>
                  </a:txBody>
                  <a:tcPr>
                    <a:solidFill>
                      <a:srgbClr val="F8FAFC"/>
                    </a:solidFill>
                  </a:tcPr>
                </a:tc>
                <a:tc>
                  <a:txBody>
                    <a:bodyPr/>
                    <a:lstStyle/>
                    <a:p>
                      <a:r>
                        <a:rPr lang="en-US" altLang="zh-TW" sz="950">
                          <a:solidFill>
                            <a:srgbClr val="1E293B"/>
                          </a:solidFill>
                          <a:latin typeface="微軟正黑體" panose="020B0604030504040204" pitchFamily="34" charset="-120"/>
                        </a:rPr>
                        <a:t>19/688,082</a:t>
                      </a:r>
                      <a:endParaRPr lang="zh-TW" altLang="en-US" sz="950">
                        <a:solidFill>
                          <a:srgbClr val="1E293B"/>
                        </a:solidFill>
                        <a:latin typeface="微軟正黑體" panose="020B0604030504040204" pitchFamily="34" charset="-120"/>
                      </a:endParaRPr>
                    </a:p>
                  </a:txBody>
                  <a:tcPr>
                    <a:solidFill>
                      <a:srgbClr val="F8FAFC"/>
                    </a:solidFill>
                  </a:tcPr>
                </a:tc>
                <a:extLst>
                  <a:ext uri="{0D108BD9-81ED-4DB2-BD59-A6C34878D82A}">
                    <a16:rowId xmlns:a16="http://schemas.microsoft.com/office/drawing/2014/main" val="3982918917"/>
                  </a:ext>
                </a:extLst>
              </a:tr>
              <a:tr h="381000">
                <a:tc>
                  <a:txBody>
                    <a:bodyPr/>
                    <a:lstStyle/>
                    <a:p>
                      <a:r>
                        <a:rPr lang="en-US" altLang="zh-TW" sz="950">
                          <a:solidFill>
                            <a:srgbClr val="1E293B"/>
                          </a:solidFill>
                          <a:latin typeface="微軟正黑體" panose="020B0604030504040204" pitchFamily="34" charset="-120"/>
                        </a:rPr>
                        <a:t>PF-003</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34A-1150223</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TW</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發明</a:t>
                      </a:r>
                    </a:p>
                  </a:txBody>
                  <a:tcPr>
                    <a:solidFill>
                      <a:srgbClr val="FFFFFF"/>
                    </a:solidFill>
                  </a:tcPr>
                </a:tc>
                <a:tc>
                  <a:txBody>
                    <a:bodyPr/>
                    <a:lstStyle/>
                    <a:p>
                      <a:r>
                        <a:rPr lang="zh-TW" altLang="en-US" sz="950">
                          <a:solidFill>
                            <a:srgbClr val="1E293B"/>
                          </a:solidFill>
                          <a:latin typeface="微軟正黑體" panose="020B0604030504040204" pitchFamily="34" charset="-120"/>
                        </a:rPr>
                        <a:t>一種適用於疊層電池可量產化太陽能產業產品前處理方式</a:t>
                      </a:r>
                    </a:p>
                  </a:txBody>
                  <a:tcPr>
                    <a:solidFill>
                      <a:srgbClr val="FFFFFF"/>
                    </a:solidFill>
                  </a:tcPr>
                </a:tc>
                <a:tc>
                  <a:txBody>
                    <a:bodyPr/>
                    <a:lstStyle/>
                    <a:p>
                      <a:r>
                        <a:rPr lang="en-US" altLang="zh-TW" sz="950">
                          <a:solidFill>
                            <a:srgbClr val="1E293B"/>
                          </a:solidFill>
                          <a:latin typeface="微軟正黑體" panose="020B0604030504040204" pitchFamily="34" charset="-120"/>
                        </a:rPr>
                        <a:t>115120560</a:t>
                      </a:r>
                      <a:endParaRPr lang="zh-TW" altLang="en-US" sz="950">
                        <a:solidFill>
                          <a:srgbClr val="1E293B"/>
                        </a:solidFill>
                        <a:latin typeface="微軟正黑體" panose="020B0604030504040204" pitchFamily="34" charset="-120"/>
                      </a:endParaRPr>
                    </a:p>
                  </a:txBody>
                  <a:tcPr>
                    <a:solidFill>
                      <a:srgbClr val="FFFFFF"/>
                    </a:solidFill>
                  </a:tcPr>
                </a:tc>
                <a:extLst>
                  <a:ext uri="{0D108BD9-81ED-4DB2-BD59-A6C34878D82A}">
                    <a16:rowId xmlns:a16="http://schemas.microsoft.com/office/drawing/2014/main" val="328338690"/>
                  </a:ext>
                </a:extLst>
              </a:tr>
              <a:tr h="381000">
                <a:tc>
                  <a:txBody>
                    <a:bodyPr/>
                    <a:lstStyle/>
                    <a:p>
                      <a:r>
                        <a:rPr lang="en-US" altLang="zh-TW" sz="950">
                          <a:solidFill>
                            <a:srgbClr val="1E293B"/>
                          </a:solidFill>
                          <a:latin typeface="微軟正黑體" panose="020B0604030504040204" pitchFamily="34" charset="-120"/>
                        </a:rPr>
                        <a:t>PF-003</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34A-1150223</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TW</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新型</a:t>
                      </a:r>
                    </a:p>
                  </a:txBody>
                  <a:tcPr>
                    <a:solidFill>
                      <a:srgbClr val="F8FAFC"/>
                    </a:solidFill>
                  </a:tcPr>
                </a:tc>
                <a:tc>
                  <a:txBody>
                    <a:bodyPr/>
                    <a:lstStyle/>
                    <a:p>
                      <a:r>
                        <a:rPr lang="zh-TW" altLang="en-US" sz="950">
                          <a:solidFill>
                            <a:srgbClr val="1E293B"/>
                          </a:solidFill>
                          <a:latin typeface="微軟正黑體" panose="020B0604030504040204" pitchFamily="34" charset="-120"/>
                        </a:rPr>
                        <a:t>一種適用於疊層電池可量產化太陽能產業產品前處理方式</a:t>
                      </a:r>
                    </a:p>
                  </a:txBody>
                  <a:tcPr>
                    <a:solidFill>
                      <a:srgbClr val="F8FAFC"/>
                    </a:solidFill>
                  </a:tcPr>
                </a:tc>
                <a:tc>
                  <a:txBody>
                    <a:bodyPr/>
                    <a:lstStyle/>
                    <a:p>
                      <a:r>
                        <a:rPr lang="en-US" altLang="zh-TW" sz="950">
                          <a:solidFill>
                            <a:srgbClr val="1E293B"/>
                          </a:solidFill>
                          <a:latin typeface="微軟正黑體" panose="020B0604030504040204" pitchFamily="34" charset="-120"/>
                        </a:rPr>
                        <a:t>115204787</a:t>
                      </a:r>
                      <a:endParaRPr lang="zh-TW" altLang="en-US" sz="950">
                        <a:solidFill>
                          <a:srgbClr val="1E293B"/>
                        </a:solidFill>
                        <a:latin typeface="微軟正黑體" panose="020B0604030504040204" pitchFamily="34" charset="-120"/>
                      </a:endParaRPr>
                    </a:p>
                  </a:txBody>
                  <a:tcPr>
                    <a:solidFill>
                      <a:srgbClr val="F8FAFC"/>
                    </a:solidFill>
                  </a:tcPr>
                </a:tc>
                <a:extLst>
                  <a:ext uri="{0D108BD9-81ED-4DB2-BD59-A6C34878D82A}">
                    <a16:rowId xmlns:a16="http://schemas.microsoft.com/office/drawing/2014/main" val="2629164100"/>
                  </a:ext>
                </a:extLst>
              </a:tr>
              <a:tr h="381000">
                <a:tc>
                  <a:txBody>
                    <a:bodyPr/>
                    <a:lstStyle/>
                    <a:p>
                      <a:r>
                        <a:rPr lang="en-US" altLang="zh-TW" sz="950">
                          <a:solidFill>
                            <a:srgbClr val="1E293B"/>
                          </a:solidFill>
                          <a:latin typeface="微軟正黑體" panose="020B0604030504040204" pitchFamily="34" charset="-120"/>
                        </a:rPr>
                        <a:t>PF-003</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34A-1150223</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CN</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發明</a:t>
                      </a:r>
                    </a:p>
                  </a:txBody>
                  <a:tcPr>
                    <a:solidFill>
                      <a:srgbClr val="FFFFFF"/>
                    </a:solidFill>
                  </a:tcPr>
                </a:tc>
                <a:tc>
                  <a:txBody>
                    <a:bodyPr/>
                    <a:lstStyle/>
                    <a:p>
                      <a:r>
                        <a:rPr lang="zh-TW" altLang="en-US" sz="950">
                          <a:solidFill>
                            <a:srgbClr val="1E293B"/>
                          </a:solidFill>
                          <a:latin typeface="微軟正黑體" panose="020B0604030504040204" pitchFamily="34" charset="-120"/>
                        </a:rPr>
                        <a:t>一種適用於疊層電池可量產化太陽能產業產品前處理方式</a:t>
                      </a:r>
                    </a:p>
                  </a:txBody>
                  <a:tcPr>
                    <a:solidFill>
                      <a:srgbClr val="FFFFFF"/>
                    </a:solidFill>
                  </a:tcPr>
                </a:tc>
                <a:tc>
                  <a:txBody>
                    <a:bodyPr/>
                    <a:lstStyle/>
                    <a:p>
                      <a:r>
                        <a:rPr lang="en-US" altLang="zh-TW" sz="950">
                          <a:solidFill>
                            <a:srgbClr val="1E293B"/>
                          </a:solidFill>
                          <a:latin typeface="微軟正黑體" panose="020B0604030504040204" pitchFamily="34" charset="-120"/>
                        </a:rPr>
                        <a:t>202610952884</a:t>
                      </a:r>
                      <a:endParaRPr lang="zh-TW" altLang="en-US" sz="950">
                        <a:solidFill>
                          <a:srgbClr val="1E293B"/>
                        </a:solidFill>
                        <a:latin typeface="微軟正黑體" panose="020B0604030504040204" pitchFamily="34" charset="-120"/>
                      </a:endParaRPr>
                    </a:p>
                  </a:txBody>
                  <a:tcPr>
                    <a:solidFill>
                      <a:srgbClr val="FFFFFF"/>
                    </a:solidFill>
                  </a:tcPr>
                </a:tc>
                <a:extLst>
                  <a:ext uri="{0D108BD9-81ED-4DB2-BD59-A6C34878D82A}">
                    <a16:rowId xmlns:a16="http://schemas.microsoft.com/office/drawing/2014/main" val="3136310761"/>
                  </a:ext>
                </a:extLst>
              </a:tr>
              <a:tr h="381000">
                <a:tc>
                  <a:txBody>
                    <a:bodyPr/>
                    <a:lstStyle/>
                    <a:p>
                      <a:r>
                        <a:rPr lang="en-US" altLang="zh-TW" sz="950">
                          <a:solidFill>
                            <a:srgbClr val="1E293B"/>
                          </a:solidFill>
                          <a:latin typeface="微軟正黑體" panose="020B0604030504040204" pitchFamily="34" charset="-120"/>
                        </a:rPr>
                        <a:t>PF-004</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34A-1150304</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臨時案</a:t>
                      </a:r>
                    </a:p>
                  </a:txBody>
                  <a:tcPr>
                    <a:solidFill>
                      <a:srgbClr val="F8FAFC"/>
                    </a:solidFill>
                  </a:tcPr>
                </a:tc>
                <a:tc>
                  <a:txBody>
                    <a:bodyPr/>
                    <a:lstStyle/>
                    <a:p>
                      <a:r>
                        <a:rPr lang="zh-TW" altLang="en-US" sz="950">
                          <a:solidFill>
                            <a:srgbClr val="1E293B"/>
                          </a:solidFill>
                          <a:latin typeface="微軟正黑體" panose="020B0604030504040204" pitchFamily="34" charset="-120"/>
                        </a:rPr>
                        <a:t>具分子內非共價交互作用之自組裝電洞選擇材料</a:t>
                      </a:r>
                    </a:p>
                  </a:txBody>
                  <a:tcPr>
                    <a:solidFill>
                      <a:srgbClr val="F8FAFC"/>
                    </a:solidFill>
                  </a:tcPr>
                </a:tc>
                <a:tc>
                  <a:txBody>
                    <a:bodyPr/>
                    <a:lstStyle/>
                    <a:p>
                      <a:r>
                        <a:rPr lang="en-US" altLang="zh-TW" sz="950">
                          <a:solidFill>
                            <a:srgbClr val="1E293B"/>
                          </a:solidFill>
                          <a:latin typeface="微軟正黑體" panose="020B0604030504040204" pitchFamily="34" charset="-120"/>
                        </a:rPr>
                        <a:t>64/070,515</a:t>
                      </a:r>
                      <a:endParaRPr lang="zh-TW" altLang="en-US" sz="950">
                        <a:solidFill>
                          <a:srgbClr val="1E293B"/>
                        </a:solidFill>
                        <a:latin typeface="微軟正黑體" panose="020B0604030504040204" pitchFamily="34" charset="-120"/>
                      </a:endParaRPr>
                    </a:p>
                  </a:txBody>
                  <a:tcPr>
                    <a:solidFill>
                      <a:srgbClr val="F8FAFC"/>
                    </a:solidFill>
                  </a:tcPr>
                </a:tc>
                <a:extLst>
                  <a:ext uri="{0D108BD9-81ED-4DB2-BD59-A6C34878D82A}">
                    <a16:rowId xmlns:a16="http://schemas.microsoft.com/office/drawing/2014/main" val="3821997865"/>
                  </a:ext>
                </a:extLst>
              </a:tr>
              <a:tr h="381000">
                <a:tc>
                  <a:txBody>
                    <a:bodyPr/>
                    <a:lstStyle/>
                    <a:p>
                      <a:r>
                        <a:rPr lang="en-US" altLang="zh-TW" sz="950">
                          <a:solidFill>
                            <a:srgbClr val="1E293B"/>
                          </a:solidFill>
                          <a:latin typeface="微軟正黑體" panose="020B0604030504040204" pitchFamily="34" charset="-120"/>
                        </a:rPr>
                        <a:t>PF-005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34A-1150305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發明</a:t>
                      </a:r>
                    </a:p>
                  </a:txBody>
                  <a:tcPr>
                    <a:solidFill>
                      <a:srgbClr val="FFFFFF"/>
                    </a:solidFill>
                  </a:tcPr>
                </a:tc>
                <a:tc>
                  <a:txBody>
                    <a:bodyPr/>
                    <a:lstStyle/>
                    <a:p>
                      <a:r>
                        <a:rPr lang="zh-TW" altLang="en-US" sz="950">
                          <a:solidFill>
                            <a:srgbClr val="1E293B"/>
                          </a:solidFill>
                          <a:latin typeface="微軟正黑體" panose="020B0604030504040204" pitchFamily="34" charset="-120"/>
                        </a:rPr>
                        <a:t>應用於疊層光伏元件之複合蒸鍍－溶液法鈣鈦礦製程技術</a:t>
                      </a:r>
                    </a:p>
                  </a:txBody>
                  <a:tcPr>
                    <a:solidFill>
                      <a:srgbClr val="FFFFFF"/>
                    </a:solidFill>
                  </a:tcPr>
                </a:tc>
                <a:tc>
                  <a:txBody>
                    <a:bodyPr/>
                    <a:lstStyle/>
                    <a:p>
                      <a:r>
                        <a:rPr lang="en-US" altLang="zh-TW" sz="950">
                          <a:solidFill>
                            <a:srgbClr val="1E293B"/>
                          </a:solidFill>
                          <a:latin typeface="微軟正黑體" panose="020B0604030504040204" pitchFamily="34" charset="-120"/>
                        </a:rPr>
                        <a:t>19/697,366</a:t>
                      </a:r>
                      <a:endParaRPr lang="zh-TW" altLang="en-US" sz="950">
                        <a:solidFill>
                          <a:srgbClr val="1E293B"/>
                        </a:solidFill>
                        <a:latin typeface="微軟正黑體" panose="020B0604030504040204" pitchFamily="34" charset="-120"/>
                      </a:endParaRPr>
                    </a:p>
                  </a:txBody>
                  <a:tcPr>
                    <a:solidFill>
                      <a:srgbClr val="FFFFFF"/>
                    </a:solidFill>
                  </a:tcPr>
                </a:tc>
                <a:extLst>
                  <a:ext uri="{0D108BD9-81ED-4DB2-BD59-A6C34878D82A}">
                    <a16:rowId xmlns:a16="http://schemas.microsoft.com/office/drawing/2014/main" val="368788001"/>
                  </a:ext>
                </a:extLst>
              </a:tr>
              <a:tr h="381000">
                <a:tc>
                  <a:txBody>
                    <a:bodyPr/>
                    <a:lstStyle/>
                    <a:p>
                      <a:r>
                        <a:rPr lang="en-US" altLang="zh-TW" sz="950">
                          <a:solidFill>
                            <a:srgbClr val="1E293B"/>
                          </a:solidFill>
                          <a:latin typeface="微軟正黑體" panose="020B0604030504040204" pitchFamily="34" charset="-120"/>
                        </a:rPr>
                        <a:t>PF-005</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34A-1150305</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TW</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發明</a:t>
                      </a:r>
                    </a:p>
                  </a:txBody>
                  <a:tcPr>
                    <a:solidFill>
                      <a:srgbClr val="F8FAFC"/>
                    </a:solidFill>
                  </a:tcPr>
                </a:tc>
                <a:tc>
                  <a:txBody>
                    <a:bodyPr/>
                    <a:lstStyle/>
                    <a:p>
                      <a:r>
                        <a:rPr lang="zh-TW" altLang="en-US" sz="950">
                          <a:solidFill>
                            <a:srgbClr val="1E293B"/>
                          </a:solidFill>
                          <a:latin typeface="微軟正黑體" panose="020B0604030504040204" pitchFamily="34" charset="-120"/>
                        </a:rPr>
                        <a:t>應用於疊層光伏元件之複合蒸鍍－溶液法鈣鈦礦製程技術</a:t>
                      </a:r>
                    </a:p>
                  </a:txBody>
                  <a:tcPr>
                    <a:solidFill>
                      <a:srgbClr val="F8FAFC"/>
                    </a:solidFill>
                  </a:tcPr>
                </a:tc>
                <a:tc>
                  <a:txBody>
                    <a:bodyPr/>
                    <a:lstStyle/>
                    <a:p>
                      <a:r>
                        <a:rPr lang="en-US" altLang="zh-TW" sz="950">
                          <a:solidFill>
                            <a:srgbClr val="1E293B"/>
                          </a:solidFill>
                          <a:latin typeface="微軟正黑體" panose="020B0604030504040204" pitchFamily="34" charset="-120"/>
                        </a:rPr>
                        <a:t>115121813</a:t>
                      </a:r>
                      <a:endParaRPr lang="zh-TW" altLang="en-US" sz="950">
                        <a:solidFill>
                          <a:srgbClr val="1E293B"/>
                        </a:solidFill>
                        <a:latin typeface="微軟正黑體" panose="020B0604030504040204" pitchFamily="34" charset="-120"/>
                      </a:endParaRPr>
                    </a:p>
                  </a:txBody>
                  <a:tcPr>
                    <a:solidFill>
                      <a:srgbClr val="F8FAFC"/>
                    </a:solidFill>
                  </a:tcPr>
                </a:tc>
                <a:extLst>
                  <a:ext uri="{0D108BD9-81ED-4DB2-BD59-A6C34878D82A}">
                    <a16:rowId xmlns:a16="http://schemas.microsoft.com/office/drawing/2014/main" val="3162417323"/>
                  </a:ext>
                </a:extLst>
              </a:tr>
              <a:tr h="381000">
                <a:tc>
                  <a:txBody>
                    <a:bodyPr/>
                    <a:lstStyle/>
                    <a:p>
                      <a:r>
                        <a:rPr lang="en-US" altLang="zh-TW" sz="950">
                          <a:solidFill>
                            <a:srgbClr val="1E293B"/>
                          </a:solidFill>
                          <a:latin typeface="微軟正黑體" panose="020B0604030504040204" pitchFamily="34" charset="-120"/>
                        </a:rPr>
                        <a:t>PF-005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34A-1150305</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CN</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發明</a:t>
                      </a:r>
                    </a:p>
                  </a:txBody>
                  <a:tcPr>
                    <a:solidFill>
                      <a:srgbClr val="FFFFFF"/>
                    </a:solidFill>
                  </a:tcPr>
                </a:tc>
                <a:tc>
                  <a:txBody>
                    <a:bodyPr/>
                    <a:lstStyle/>
                    <a:p>
                      <a:r>
                        <a:rPr lang="zh-TW" altLang="en-US" sz="950">
                          <a:solidFill>
                            <a:srgbClr val="1E293B"/>
                          </a:solidFill>
                          <a:latin typeface="微軟正黑體" panose="020B0604030504040204" pitchFamily="34" charset="-120"/>
                        </a:rPr>
                        <a:t>應用於疊層光伏元件之複合蒸鍍－溶液法鈣鈦礦製程技術</a:t>
                      </a:r>
                    </a:p>
                  </a:txBody>
                  <a:tcPr>
                    <a:solidFill>
                      <a:srgbClr val="FFFFFF"/>
                    </a:solidFill>
                  </a:tcPr>
                </a:tc>
                <a:tc>
                  <a:txBody>
                    <a:bodyPr/>
                    <a:lstStyle/>
                    <a:p>
                      <a:r>
                        <a:rPr lang="en-US" altLang="zh-TW" sz="950">
                          <a:solidFill>
                            <a:srgbClr val="1E293B"/>
                          </a:solidFill>
                          <a:latin typeface="微軟正黑體" panose="020B0604030504040204" pitchFamily="34" charset="-120"/>
                        </a:rPr>
                        <a:t>202611243346</a:t>
                      </a:r>
                      <a:endParaRPr lang="zh-TW" altLang="en-US" sz="950">
                        <a:solidFill>
                          <a:srgbClr val="1E293B"/>
                        </a:solidFill>
                        <a:latin typeface="微軟正黑體" panose="020B0604030504040204" pitchFamily="34" charset="-120"/>
                      </a:endParaRPr>
                    </a:p>
                  </a:txBody>
                  <a:tcPr>
                    <a:solidFill>
                      <a:srgbClr val="FFFFFF"/>
                    </a:solidFill>
                  </a:tcPr>
                </a:tc>
                <a:extLst>
                  <a:ext uri="{0D108BD9-81ED-4DB2-BD59-A6C34878D82A}">
                    <a16:rowId xmlns:a16="http://schemas.microsoft.com/office/drawing/2014/main" val="447894606"/>
                  </a:ext>
                </a:extLst>
              </a:tr>
              <a:tr h="381000">
                <a:tc>
                  <a:txBody>
                    <a:bodyPr/>
                    <a:lstStyle/>
                    <a:p>
                      <a:r>
                        <a:rPr lang="en-US" altLang="zh-TW" sz="950">
                          <a:solidFill>
                            <a:srgbClr val="1E293B"/>
                          </a:solidFill>
                          <a:latin typeface="微軟正黑體" panose="020B0604030504040204" pitchFamily="34" charset="-120"/>
                        </a:rPr>
                        <a:t>PF-006</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34A-1150325</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en-US" altLang="zh-TW" sz="950">
                          <a:solidFill>
                            <a:srgbClr val="1E293B"/>
                          </a:solidFill>
                          <a:latin typeface="微軟正黑體" panose="020B0604030504040204" pitchFamily="34" charset="-120"/>
                        </a:rPr>
                        <a:t>US</a:t>
                      </a:r>
                      <a:endParaRPr lang="zh-TW" altLang="en-US" sz="950">
                        <a:solidFill>
                          <a:srgbClr val="1E293B"/>
                        </a:solidFill>
                        <a:latin typeface="微軟正黑體" panose="020B0604030504040204" pitchFamily="34" charset="-120"/>
                      </a:endParaRPr>
                    </a:p>
                  </a:txBody>
                  <a:tcPr>
                    <a:solidFill>
                      <a:srgbClr val="F8FAFC"/>
                    </a:solidFill>
                  </a:tcPr>
                </a:tc>
                <a:tc>
                  <a:txBody>
                    <a:bodyPr/>
                    <a:lstStyle/>
                    <a:p>
                      <a:r>
                        <a:rPr lang="zh-TW" altLang="en-US" sz="950">
                          <a:solidFill>
                            <a:srgbClr val="1E293B"/>
                          </a:solidFill>
                          <a:latin typeface="微軟正黑體" panose="020B0604030504040204" pitchFamily="34" charset="-120"/>
                        </a:rPr>
                        <a:t>臨時案</a:t>
                      </a:r>
                    </a:p>
                  </a:txBody>
                  <a:tcPr>
                    <a:solidFill>
                      <a:srgbClr val="F8FAFC"/>
                    </a:solidFill>
                  </a:tcPr>
                </a:tc>
                <a:tc>
                  <a:txBody>
                    <a:bodyPr/>
                    <a:lstStyle/>
                    <a:p>
                      <a:r>
                        <a:rPr lang="zh-TW" altLang="en-US" sz="950">
                          <a:solidFill>
                            <a:srgbClr val="1E293B"/>
                          </a:solidFill>
                          <a:latin typeface="微軟正黑體" panose="020B0604030504040204" pitchFamily="34" charset="-120"/>
                        </a:rPr>
                        <a:t>太陽能疊層電池用氧化錫緩衝層（</a:t>
                      </a:r>
                      <a:r>
                        <a:rPr lang="en-US" altLang="zh-TW" sz="950">
                          <a:solidFill>
                            <a:srgbClr val="1E293B"/>
                          </a:solidFill>
                          <a:latin typeface="微軟正黑體" panose="020B0604030504040204" pitchFamily="34" charset="-120"/>
                        </a:rPr>
                        <a:t>SnO₂ Spray Patent</a:t>
                      </a:r>
                      <a:r>
                        <a:rPr lang="zh-TW" altLang="en-US" sz="950">
                          <a:solidFill>
                            <a:srgbClr val="1E293B"/>
                          </a:solidFill>
                          <a:latin typeface="微軟正黑體" panose="020B0604030504040204" pitchFamily="34" charset="-120"/>
                        </a:rPr>
                        <a:t>）</a:t>
                      </a:r>
                    </a:p>
                  </a:txBody>
                  <a:tcPr>
                    <a:solidFill>
                      <a:srgbClr val="F8FAFC"/>
                    </a:solidFill>
                  </a:tcPr>
                </a:tc>
                <a:tc>
                  <a:txBody>
                    <a:bodyPr/>
                    <a:lstStyle/>
                    <a:p>
                      <a:r>
                        <a:rPr lang="en-US" altLang="zh-TW" sz="950">
                          <a:solidFill>
                            <a:srgbClr val="1E293B"/>
                          </a:solidFill>
                          <a:latin typeface="微軟正黑體" panose="020B0604030504040204" pitchFamily="34" charset="-120"/>
                        </a:rPr>
                        <a:t>64/112,455</a:t>
                      </a:r>
                      <a:endParaRPr lang="zh-TW" altLang="en-US" sz="950">
                        <a:solidFill>
                          <a:srgbClr val="1E293B"/>
                        </a:solidFill>
                        <a:latin typeface="微軟正黑體" panose="020B0604030504040204" pitchFamily="34" charset="-120"/>
                      </a:endParaRPr>
                    </a:p>
                  </a:txBody>
                  <a:tcPr>
                    <a:solidFill>
                      <a:srgbClr val="F8FAFC"/>
                    </a:solidFill>
                  </a:tcPr>
                </a:tc>
                <a:extLst>
                  <a:ext uri="{0D108BD9-81ED-4DB2-BD59-A6C34878D82A}">
                    <a16:rowId xmlns:a16="http://schemas.microsoft.com/office/drawing/2014/main" val="1932589968"/>
                  </a:ext>
                </a:extLst>
              </a:tr>
              <a:tr h="381000">
                <a:tc>
                  <a:txBody>
                    <a:bodyPr/>
                    <a:lstStyle/>
                    <a:p>
                      <a:r>
                        <a:rPr lang="en-US" altLang="zh-TW" sz="950">
                          <a:solidFill>
                            <a:srgbClr val="1E293B"/>
                          </a:solidFill>
                          <a:latin typeface="微軟正黑體" panose="020B0604030504040204" pitchFamily="34" charset="-120"/>
                        </a:rPr>
                        <a:t>PF-007</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02A-1110615-TW</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TW</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zh-TW" altLang="en-US" sz="950">
                          <a:solidFill>
                            <a:srgbClr val="1E293B"/>
                          </a:solidFill>
                          <a:latin typeface="微軟正黑體" panose="020B0604030504040204" pitchFamily="34" charset="-120"/>
                        </a:rPr>
                        <a:t>發明</a:t>
                      </a:r>
                    </a:p>
                  </a:txBody>
                  <a:tcPr>
                    <a:solidFill>
                      <a:srgbClr val="FFFFFF"/>
                    </a:solidFill>
                  </a:tcPr>
                </a:tc>
                <a:tc>
                  <a:txBody>
                    <a:bodyPr/>
                    <a:lstStyle/>
                    <a:p>
                      <a:r>
                        <a:rPr lang="zh-TW" altLang="en-US" sz="950">
                          <a:solidFill>
                            <a:srgbClr val="1E293B"/>
                          </a:solidFill>
                          <a:latin typeface="微軟正黑體" panose="020B0604030504040204" pitchFamily="34" charset="-120"/>
                        </a:rPr>
                        <a:t>電漿裝置與氣體裂解方法 </a:t>
                      </a:r>
                      <a:r>
                        <a:rPr lang="en-US" altLang="zh-TW" sz="950">
                          <a:solidFill>
                            <a:srgbClr val="1E293B"/>
                          </a:solidFill>
                          <a:latin typeface="微軟正黑體" panose="020B0604030504040204" pitchFamily="34" charset="-120"/>
                        </a:rPr>
                        <a:t>(</a:t>
                      </a:r>
                      <a:r>
                        <a:rPr lang="zh-TW" altLang="en-US" sz="950">
                          <a:solidFill>
                            <a:srgbClr val="1E293B"/>
                          </a:solidFill>
                          <a:latin typeface="微軟正黑體" panose="020B0604030504040204" pitchFamily="34" charset="-120"/>
                        </a:rPr>
                        <a:t>專利號 </a:t>
                      </a:r>
                      <a:r>
                        <a:rPr lang="en-US" altLang="zh-TW" sz="950">
                          <a:solidFill>
                            <a:srgbClr val="1E293B"/>
                          </a:solidFill>
                          <a:latin typeface="微軟正黑體" panose="020B0604030504040204" pitchFamily="34" charset="-120"/>
                        </a:rPr>
                        <a:t>I 905526 </a:t>
                      </a:r>
                      <a:r>
                        <a:rPr lang="zh-TW" altLang="en-US" sz="950">
                          <a:solidFill>
                            <a:srgbClr val="1E293B"/>
                          </a:solidFill>
                          <a:latin typeface="微軟正黑體" panose="020B0604030504040204" pitchFamily="34" charset="-120"/>
                        </a:rPr>
                        <a:t>已獲證</a:t>
                      </a:r>
                      <a:r>
                        <a:rPr lang="en-US" altLang="zh-TW" sz="950">
                          <a:solidFill>
                            <a:srgbClr val="1E293B"/>
                          </a:solidFill>
                          <a:latin typeface="微軟正黑體" panose="020B0604030504040204" pitchFamily="34" charset="-120"/>
                        </a:rPr>
                        <a:t>)</a:t>
                      </a:r>
                      <a:endParaRPr lang="zh-TW" altLang="en-US" sz="950">
                        <a:solidFill>
                          <a:srgbClr val="1E293B"/>
                        </a:solidFill>
                        <a:latin typeface="微軟正黑體" panose="020B0604030504040204" pitchFamily="34" charset="-120"/>
                      </a:endParaRPr>
                    </a:p>
                  </a:txBody>
                  <a:tcPr>
                    <a:solidFill>
                      <a:srgbClr val="FFFFFF"/>
                    </a:solidFill>
                  </a:tcPr>
                </a:tc>
                <a:tc>
                  <a:txBody>
                    <a:bodyPr/>
                    <a:lstStyle/>
                    <a:p>
                      <a:r>
                        <a:rPr lang="en-US" altLang="zh-TW" sz="950">
                          <a:solidFill>
                            <a:srgbClr val="1E293B"/>
                          </a:solidFill>
                          <a:latin typeface="微軟正黑體" panose="020B0604030504040204" pitchFamily="34" charset="-120"/>
                        </a:rPr>
                        <a:t>112127426</a:t>
                      </a:r>
                      <a:endParaRPr lang="zh-TW" altLang="en-US" sz="950">
                        <a:solidFill>
                          <a:srgbClr val="1E293B"/>
                        </a:solidFill>
                        <a:latin typeface="微軟正黑體" panose="020B0604030504040204" pitchFamily="34" charset="-120"/>
                      </a:endParaRPr>
                    </a:p>
                  </a:txBody>
                  <a:tcPr>
                    <a:solidFill>
                      <a:srgbClr val="FFFFFF"/>
                    </a:solidFill>
                  </a:tcPr>
                </a:tc>
                <a:extLst>
                  <a:ext uri="{0D108BD9-81ED-4DB2-BD59-A6C34878D82A}">
                    <a16:rowId xmlns:a16="http://schemas.microsoft.com/office/drawing/2014/main" val="4036824123"/>
                  </a:ext>
                </a:extLst>
              </a:tr>
            </a:tbl>
          </a:graphicData>
        </a:graphic>
      </p:graphicFrame>
    </p:spTree>
    <p:extLst>
      <p:ext uri="{BB962C8B-B14F-4D97-AF65-F5344CB8AC3E}">
        <p14:creationId xmlns:p14="http://schemas.microsoft.com/office/powerpoint/2010/main" val="379189109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3294</Words>
  <Application>Microsoft Office PowerPoint</Application>
  <PresentationFormat>自訂</PresentationFormat>
  <Paragraphs>488</Paragraphs>
  <Slides>12</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12</vt:i4>
      </vt:variant>
    </vt:vector>
  </HeadingPairs>
  <TitlesOfParts>
    <vt:vector size="17" baseType="lpstr">
      <vt:lpstr>微軟正黑體</vt:lpstr>
      <vt:lpstr>Aptos</vt:lpstr>
      <vt:lpstr>Aptos Display</vt:lpstr>
      <vt:lpstr>Arial</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Zenbook</dc:creator>
  <cp:lastModifiedBy>Zenbook</cp:lastModifiedBy>
  <cp:revision>1</cp:revision>
  <dcterms:created xsi:type="dcterms:W3CDTF">2026-10-13T01:36:45Z</dcterms:created>
  <dcterms:modified xsi:type="dcterms:W3CDTF">2026-10-13T01:36:45Z</dcterms:modified>
</cp:coreProperties>
</file>